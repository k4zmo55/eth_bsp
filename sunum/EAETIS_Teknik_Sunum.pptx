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D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D6E56"/>
                </a:solidFill>
                <a:latin typeface="Consolas"/>
              </a:rPr>
              <a:t>STAJ SUNUMU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9144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200" b="1" i="0">
                <a:solidFill>
                  <a:srgbClr val="16201C"/>
                </a:solidFill>
                <a:latin typeface="Calibri"/>
              </a:rPr>
              <a:t>E-AETIS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803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0">
                <a:solidFill>
                  <a:srgbClr val="52625A"/>
                </a:solidFill>
                <a:latin typeface="Calibri"/>
              </a:rPr>
              <a:t>Ethernet_BSP — bare-metal STM32 Ethernet BSP'si ve ağ üzerinden test/teşhis arayüzü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566160"/>
            <a:ext cx="2363724" cy="310896"/>
          </a:xfrm>
          <a:prstGeom prst="roundRect">
            <a:avLst>
              <a:gd name="adj" fmla="val 50000"/>
            </a:avLst>
          </a:prstGeom>
          <a:solidFill>
            <a:srgbClr val="DCECE5"/>
          </a:solidFill>
          <a:ln w="9525">
            <a:solidFill>
              <a:srgbClr val="0D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08402F"/>
                </a:solidFill>
                <a:latin typeface="Consolas"/>
              </a:rPr>
              <a:t>STM32 H5 / H7 / F4 / F7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7580" y="3566160"/>
            <a:ext cx="2016252" cy="310896"/>
          </a:xfrm>
          <a:prstGeom prst="roundRect">
            <a:avLst>
              <a:gd name="adj" fmla="val 50000"/>
            </a:avLst>
          </a:prstGeom>
          <a:solidFill>
            <a:srgbClr val="DCECE5"/>
          </a:solidFill>
          <a:ln w="9525">
            <a:solidFill>
              <a:srgbClr val="0D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08402F"/>
                </a:solidFill>
                <a:latin typeface="Consolas"/>
              </a:rPr>
              <a:t>RTOS yok · LwIP yok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41848" y="3566160"/>
            <a:ext cx="1147572" cy="310896"/>
          </a:xfrm>
          <a:prstGeom prst="roundRect">
            <a:avLst>
              <a:gd name="adj" fmla="val 50000"/>
            </a:avLst>
          </a:prstGeom>
          <a:solidFill>
            <a:srgbClr val="DCECE5"/>
          </a:solidFill>
          <a:ln w="9525">
            <a:solidFill>
              <a:srgbClr val="0D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08402F"/>
                </a:solidFill>
                <a:latin typeface="Consolas"/>
              </a:rPr>
              <a:t>10 dakika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5303520"/>
            <a:ext cx="1371600" cy="0"/>
          </a:xfrm>
          <a:prstGeom prst="line">
            <a:avLst/>
          </a:prstGeom>
          <a:ln w="15875">
            <a:solidFill>
              <a:srgbClr val="526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5303520"/>
            <a:ext cx="1371600" cy="0"/>
          </a:xfrm>
          <a:prstGeom prst="line">
            <a:avLst/>
          </a:prstGeom>
          <a:ln w="15875">
            <a:solidFill>
              <a:srgbClr val="526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71600" y="4846320"/>
            <a:ext cx="914400" cy="914400"/>
          </a:xfrm>
          <a:prstGeom prst="ellipse">
            <a:avLst/>
          </a:prstGeom>
          <a:solidFill>
            <a:srgbClr val="DCECE5"/>
          </a:solidFill>
          <a:ln w="19050">
            <a:solidFill>
              <a:srgbClr val="0D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6201C"/>
                </a:solidFill>
                <a:latin typeface="Calibri"/>
              </a:rPr>
              <a:t>MCU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0" y="484632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6201C"/>
                </a:solidFill>
                <a:latin typeface="Calibri"/>
              </a:rPr>
              <a:t>PHY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0" y="4846320"/>
            <a:ext cx="914400" cy="914400"/>
          </a:xfrm>
          <a:prstGeom prst="ellipse">
            <a:avLst/>
          </a:prstGeom>
          <a:solidFill>
            <a:srgbClr val="DCECE5"/>
          </a:solidFill>
          <a:ln w="19050">
            <a:solidFill>
              <a:srgbClr val="0D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6201C"/>
                </a:solidFill>
                <a:latin typeface="Calibri"/>
              </a:rPr>
              <a:t>GUI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2625A"/>
                </a:solidFill>
                <a:latin typeface="Consolas"/>
              </a:rPr>
              <a:t>E-AETIS / Ethernet_BSP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9713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2625A"/>
                </a:solidFill>
                <a:latin typeface="Consolas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D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D6E56"/>
                </a:solidFill>
                <a:latin typeface="Consolas"/>
              </a:rPr>
              <a:t>01 · GENEL BAKIŞ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6201C"/>
                </a:solidFill>
                <a:latin typeface="Calibri"/>
              </a:rPr>
              <a:t>Bir Ethernet BSP + bir test arayüzü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52625A"/>
                </a:solidFill>
                <a:latin typeface="Calibri"/>
              </a:rPr>
              <a:t>RTOS ve hazır ağ yığını olmadan çalışan gömülü bir Ethernet sürücüsü, karşısında UDP üzerinden konuşan bir masaüstü teşhis arayüzü.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2625A"/>
                </a:solidFill>
                <a:latin typeface="Consolas"/>
              </a:rPr>
              <a:t>Genel Bakış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2625A"/>
                </a:solidFill>
                <a:latin typeface="Consolas"/>
              </a:rPr>
              <a:t>02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5387187" cy="3383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86584"/>
            <a:ext cx="491169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D6E56"/>
                </a:solidFill>
                <a:latin typeface="Consolas"/>
              </a:rPr>
              <a:t>GÖMÜLÜ TARAF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679192"/>
            <a:ext cx="49116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6201C"/>
                </a:solidFill>
                <a:latin typeface="Calibri"/>
              </a:rPr>
              <a:t>Ethernet_BSP  (C)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099816"/>
            <a:ext cx="4911699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52625A"/>
                </a:solidFill>
                <a:latin typeface="Calibri"/>
              </a:rPr>
              <a:t>– </a:t>
            </a:r>
            <a:r>
              <a:rPr sz="1300" b="0" i="0">
                <a:solidFill>
                  <a:srgbClr val="52625A"/>
                </a:solidFill>
                <a:latin typeface="Calibri"/>
              </a:rPr>
              <a:t>Register seviyesi </a:t>
            </a:r>
            <a:r>
              <a:rPr sz="1300" b="1" i="0">
                <a:solidFill>
                  <a:srgbClr val="52625A"/>
                </a:solidFill>
                <a:latin typeface="Calibri"/>
              </a:rPr>
              <a:t>MAC / DMA / PHY</a:t>
            </a:r>
            <a:r>
              <a:rPr sz="1300" b="0" i="0">
                <a:solidFill>
                  <a:srgbClr val="52625A"/>
                </a:solidFill>
                <a:latin typeface="Calibri"/>
              </a:rPr>
              <a:t> erişimi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2625A"/>
                </a:solidFill>
                <a:latin typeface="Calibri"/>
              </a:rPr>
              <a:t>– </a:t>
            </a:r>
            <a:r>
              <a:rPr sz="1300" b="1" i="0">
                <a:solidFill>
                  <a:srgbClr val="52625A"/>
                </a:solidFill>
                <a:latin typeface="Calibri"/>
              </a:rPr>
              <a:t>RTOS yok</a:t>
            </a:r>
            <a:r>
              <a:rPr sz="1300" b="0" i="0">
                <a:solidFill>
                  <a:srgbClr val="52625A"/>
                </a:solidFill>
                <a:latin typeface="Calibri"/>
              </a:rPr>
              <a:t> · </a:t>
            </a:r>
            <a:r>
              <a:rPr sz="1300" b="1" i="0">
                <a:solidFill>
                  <a:srgbClr val="52625A"/>
                </a:solidFill>
                <a:latin typeface="Calibri"/>
              </a:rPr>
              <a:t>LwIP yok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2625A"/>
                </a:solidFill>
                <a:latin typeface="Calibri"/>
              </a:rPr>
              <a:t>– </a:t>
            </a:r>
            <a:r>
              <a:rPr sz="1300" b="0" i="0">
                <a:solidFill>
                  <a:srgbClr val="52625A"/>
                </a:solidFill>
                <a:latin typeface="Calibri"/>
              </a:rPr>
              <a:t>ARP / ICMP / UDP </a:t>
            </a:r>
            <a:r>
              <a:rPr sz="1300" b="1" i="0">
                <a:solidFill>
                  <a:srgbClr val="52625A"/>
                </a:solidFill>
                <a:latin typeface="Calibri"/>
              </a:rPr>
              <a:t>elle yazılmış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2625A"/>
                </a:solidFill>
                <a:latin typeface="Calibri"/>
              </a:rPr>
              <a:t>– </a:t>
            </a:r>
            <a:r>
              <a:rPr sz="1300" b="0" i="0">
                <a:solidFill>
                  <a:srgbClr val="52625A"/>
                </a:solidFill>
                <a:latin typeface="Calibri"/>
              </a:rPr>
              <a:t>İsteğe bağlı </a:t>
            </a:r>
            <a:r>
              <a:rPr sz="1300" b="1" i="0">
                <a:solidFill>
                  <a:srgbClr val="52625A"/>
                </a:solidFill>
                <a:latin typeface="Calibri"/>
              </a:rPr>
              <a:t>IAP</a:t>
            </a:r>
            <a:r>
              <a:rPr sz="1300" b="0" i="0">
                <a:solidFill>
                  <a:srgbClr val="52625A"/>
                </a:solidFill>
                <a:latin typeface="Calibri"/>
              </a:rPr>
              <a:t> bootloader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7" y="2148840"/>
            <a:ext cx="5387187" cy="3383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3611" y="2386584"/>
            <a:ext cx="491169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D6E56"/>
                </a:solidFill>
                <a:latin typeface="Consolas"/>
              </a:rPr>
              <a:t>MASAÜSTÜ TARAF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3611" y="2679192"/>
            <a:ext cx="49116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6201C"/>
                </a:solidFill>
                <a:latin typeface="Calibri"/>
              </a:rPr>
              <a:t>E-AETIS GUI  (Python/PyQt5)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3611" y="3099816"/>
            <a:ext cx="4911699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52625A"/>
                </a:solidFill>
                <a:latin typeface="Calibri"/>
              </a:rPr>
              <a:t>– </a:t>
            </a:r>
            <a:r>
              <a:rPr sz="1300" b="1" i="0">
                <a:solidFill>
                  <a:srgbClr val="52625A"/>
                </a:solidFill>
                <a:latin typeface="Calibri"/>
              </a:rPr>
              <a:t>UDP</a:t>
            </a:r>
            <a:r>
              <a:rPr sz="1300" b="0" i="0">
                <a:solidFill>
                  <a:srgbClr val="52625A"/>
                </a:solidFill>
                <a:latin typeface="Calibri"/>
              </a:rPr>
              <a:t> üzerinden kartla konuşur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2625A"/>
                </a:solidFill>
                <a:latin typeface="Calibri"/>
              </a:rPr>
              <a:t>– </a:t>
            </a:r>
            <a:r>
              <a:rPr sz="1300" b="0" i="0">
                <a:solidFill>
                  <a:srgbClr val="52625A"/>
                </a:solidFill>
                <a:latin typeface="Calibri"/>
              </a:rPr>
              <a:t>Telemetri, performans/jitter ölçümü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2625A"/>
                </a:solidFill>
                <a:latin typeface="Calibri"/>
              </a:rPr>
              <a:t>– </a:t>
            </a:r>
            <a:r>
              <a:rPr sz="1300" b="1" i="0">
                <a:solidFill>
                  <a:srgbClr val="52625A"/>
                </a:solidFill>
                <a:latin typeface="Calibri"/>
              </a:rPr>
              <a:t>Hata enjeksiyonu</a:t>
            </a:r>
            <a:r>
              <a:rPr sz="1300" b="0" i="0">
                <a:solidFill>
                  <a:srgbClr val="52625A"/>
                </a:solidFill>
                <a:latin typeface="Calibri"/>
              </a:rPr>
              <a:t> (fuzz testi)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52625A"/>
                </a:solidFill>
                <a:latin typeface="Calibri"/>
              </a:rPr>
              <a:t>– </a:t>
            </a:r>
            <a:r>
              <a:rPr sz="1300" b="0" i="0">
                <a:solidFill>
                  <a:srgbClr val="52625A"/>
                </a:solidFill>
                <a:latin typeface="Calibri"/>
              </a:rPr>
              <a:t>Ağdan </a:t>
            </a:r>
            <a:r>
              <a:rPr sz="1300" b="1" i="0">
                <a:solidFill>
                  <a:srgbClr val="52625A"/>
                </a:solidFill>
                <a:latin typeface="Calibri"/>
              </a:rPr>
              <a:t>firmware güncelleme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D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D6E56"/>
                </a:solidFill>
                <a:latin typeface="Consolas"/>
              </a:rPr>
              <a:t>02 · TASARIM FELSEFESI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6201C"/>
                </a:solidFill>
                <a:latin typeface="Calibri"/>
              </a:rPr>
              <a:t>HAL_ETH, LwIP, FreeRTOS — bilinçli olarak yok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2625A"/>
                </a:solidFill>
                <a:latin typeface="Consolas"/>
              </a:rPr>
              <a:t>Tasarım Felsefesi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2625A"/>
                </a:solidFill>
                <a:latin typeface="Consolas"/>
              </a:rPr>
              <a:t>03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45920"/>
          <a:ext cx="1109441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994"/>
                <a:gridCol w="4548710"/>
                <a:gridCol w="4548710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52625A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EA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52625A"/>
                          </a:solidFill>
                          <a:latin typeface="Consolas"/>
                        </a:rPr>
                        <a:t>BU PROJE</a:t>
                      </a:r>
                    </a:p>
                  </a:txBody>
                  <a:tcPr marL="73152" marR="73152" marT="27432" marB="27432" anchor="ctr">
                    <a:solidFill>
                      <a:srgbClr val="EA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52625A"/>
                          </a:solidFill>
                          <a:latin typeface="Consolas"/>
                        </a:rPr>
                        <a:t>HAZIR YIĞIN (HAL + LWIP + FREERTOS)</a:t>
                      </a:r>
                    </a:p>
                  </a:txBody>
                  <a:tcPr marL="73152" marR="73152" marT="27432" marB="27432" anchor="ctr">
                    <a:solidFill>
                      <a:srgbClr val="EAEF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Şeffaflık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8402F"/>
                          </a:solidFill>
                          <a:latin typeface="Calibri"/>
                        </a:rPr>
                        <a:t>Her register erişimi görünür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A8571A"/>
                          </a:solidFill>
                          <a:latin typeface="Calibri"/>
                        </a:rPr>
                        <a:t>Üç kütüphanenin içine inmeden bilinmez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Bellek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8402F"/>
                          </a:solidFill>
                          <a:latin typeface="Calibri"/>
                        </a:rPr>
                        <a:t>Statik, malloc yok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A8571A"/>
                          </a:solidFill>
                          <a:latin typeface="Calibri"/>
                        </a:rPr>
                        <a:t>Dinamik pbuf havuzu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Zamanlama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8402F"/>
                          </a:solidFill>
                          <a:latin typeface="Calibri"/>
                        </a:rPr>
                        <a:t>Tek bağlam, deterministik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A8571A"/>
                          </a:solidFill>
                          <a:latin typeface="Calibri"/>
                        </a:rPr>
                        <a:t>Context-switch jitter'ı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Taşınabilirlik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8402F"/>
                          </a:solidFill>
                          <a:latin typeface="Calibri"/>
                        </a:rPr>
                        <a:t>Tek config, 4 MCU × 3 PHY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A8571A"/>
                          </a:solidFill>
                          <a:latin typeface="Calibri"/>
                        </a:rPr>
                        <a:t>HAL ailelerde farklı API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Kapsam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A8571A"/>
                          </a:solidFill>
                          <a:latin typeface="Calibri"/>
                        </a:rPr>
                        <a:t>Yalnızca ARP/ICMP/UDP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8402F"/>
                          </a:solidFill>
                          <a:latin typeface="Calibri"/>
                        </a:rPr>
                        <a:t>TCP/DHCP/DNS hazır gelir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8006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2625A"/>
                </a:solidFill>
                <a:latin typeface="Calibri"/>
              </a:rPr>
              <a:t>Üretim ürünü olsaydı LwIP + FreeRTOS muhtemelen daha pragmatik olurdu — burada hedef ürünü hızlıca çıkarmak değil, MAC/PHY/DMA seviyesinde ne olduğunu göstermekti.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D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D6E56"/>
                </a:solidFill>
                <a:latin typeface="Consolas"/>
              </a:rPr>
              <a:t>03 · TAŞINABILIRLIK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6201C"/>
                </a:solidFill>
                <a:latin typeface="Calibri"/>
              </a:rPr>
              <a:t>Tek config dosyası, dört MCU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2625A"/>
                </a:solidFill>
                <a:latin typeface="Consolas"/>
              </a:rPr>
              <a:t>Taşınabilirlik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2625A"/>
                </a:solidFill>
                <a:latin typeface="Consolas"/>
              </a:rPr>
              <a:t>04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45920"/>
          <a:ext cx="110944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8151"/>
                <a:gridCol w="2568151"/>
                <a:gridCol w="2876329"/>
                <a:gridCol w="3081781"/>
              </a:tblGrid>
              <a:tr h="43891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52625A"/>
                          </a:solidFill>
                          <a:latin typeface="Consolas"/>
                        </a:rPr>
                        <a:t>MCU</a:t>
                      </a:r>
                    </a:p>
                  </a:txBody>
                  <a:tcPr marL="73152" marR="73152" marT="27432" marB="27432" anchor="ctr">
                    <a:solidFill>
                      <a:srgbClr val="EA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52625A"/>
                          </a:solidFill>
                          <a:latin typeface="Consolas"/>
                        </a:rPr>
                        <a:t>ÇEKIRDEK</a:t>
                      </a:r>
                    </a:p>
                  </a:txBody>
                  <a:tcPr marL="73152" marR="73152" marT="27432" marB="27432" anchor="ctr">
                    <a:solidFill>
                      <a:srgbClr val="EA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52625A"/>
                          </a:solidFill>
                          <a:latin typeface="Consolas"/>
                        </a:rPr>
                        <a:t>MAC AILESI</a:t>
                      </a:r>
                    </a:p>
                  </a:txBody>
                  <a:tcPr marL="73152" marR="73152" marT="27432" marB="27432" anchor="ctr">
                    <a:solidFill>
                      <a:srgbClr val="EA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52625A"/>
                          </a:solidFill>
                          <a:latin typeface="Consolas"/>
                        </a:rPr>
                        <a:t>PORT DOSYASI</a:t>
                      </a:r>
                    </a:p>
                  </a:txBody>
                  <a:tcPr marL="73152" marR="73152" marT="27432" marB="27432" anchor="ctr">
                    <a:solidFill>
                      <a:srgbClr val="EAEF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STM32H563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Cortex-M33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Synopsys EQOS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eth_port_eqos.c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STM32H743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Cortex-M7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Synopsys EQOS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eth_port_eqos.c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STM32F407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Cortex-M4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Klasik GMAC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eth_port_gmac.c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STM32F767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Cortex-M7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Klasik GMAC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6201C"/>
                          </a:solidFill>
                          <a:latin typeface="Calibri"/>
                        </a:rPr>
                        <a:t>eth_port_gmac.c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023360"/>
            <a:ext cx="1495044" cy="310896"/>
          </a:xfrm>
          <a:prstGeom prst="roundRect">
            <a:avLst>
              <a:gd name="adj" fmla="val 50000"/>
            </a:avLst>
          </a:prstGeom>
          <a:solidFill>
            <a:srgbClr val="DCECE5"/>
          </a:solidFill>
          <a:ln w="9525">
            <a:solidFill>
              <a:srgbClr val="0D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08402F"/>
                </a:solidFill>
                <a:latin typeface="Consolas"/>
              </a:rPr>
              <a:t>PHY: LAN8720A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1700" y="4023360"/>
            <a:ext cx="1495044" cy="310896"/>
          </a:xfrm>
          <a:prstGeom prst="roundRect">
            <a:avLst>
              <a:gd name="adj" fmla="val 50000"/>
            </a:avLst>
          </a:prstGeom>
          <a:solidFill>
            <a:srgbClr val="DCECE5"/>
          </a:solidFill>
          <a:ln w="9525">
            <a:solidFill>
              <a:srgbClr val="0D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08402F"/>
                </a:solidFill>
                <a:latin typeface="Consolas"/>
              </a:rPr>
              <a:t>PHY: LAN8742A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4023360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DCECE5"/>
          </a:solidFill>
          <a:ln w="9525">
            <a:solidFill>
              <a:srgbClr val="0D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08402F"/>
                </a:solidFill>
                <a:latin typeface="Consolas"/>
              </a:rPr>
              <a:t>PHY: KSZ8081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2625A"/>
                </a:solidFill>
                <a:latin typeface="Calibri"/>
              </a:rPr>
              <a:t>Yeni bir MCU eklemek = </a:t>
            </a:r>
            <a:r>
              <a:rPr sz="1200" b="1" i="1">
                <a:solidFill>
                  <a:srgbClr val="52625A"/>
                </a:solidFill>
                <a:latin typeface="Calibri"/>
              </a:rPr>
              <a:t>eth_device.h</a:t>
            </a:r>
            <a:r>
              <a:rPr sz="1200" b="0" i="1">
                <a:solidFill>
                  <a:srgbClr val="52625A"/>
                </a:solidFill>
                <a:latin typeface="Calibri"/>
              </a:rPr>
              <a:t> içine birkaç satır. Port ve PHY dosyalarına </a:t>
            </a:r>
            <a:r>
              <a:rPr sz="1200" b="1" i="1">
                <a:solidFill>
                  <a:srgbClr val="52625A"/>
                </a:solidFill>
                <a:latin typeface="Calibri"/>
              </a:rPr>
              <a:t>hiç dokunulmaz.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D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D6E56"/>
                </a:solidFill>
                <a:latin typeface="Consolas"/>
              </a:rPr>
              <a:t>04 · MIMARI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6201C"/>
                </a:solidFill>
                <a:latin typeface="Calibri"/>
              </a:rPr>
              <a:t>Üç bağımsız eksen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2625A"/>
                </a:solidFill>
                <a:latin typeface="Consolas"/>
              </a:rPr>
              <a:t>Mimari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2625A"/>
                </a:solidFill>
                <a:latin typeface="Consolas"/>
              </a:rPr>
              <a:t>05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09441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109441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1.  </a:t>
            </a:r>
            <a:r>
              <a:rPr sz="1350" b="1" i="0">
                <a:solidFill>
                  <a:srgbClr val="16201C"/>
                </a:solidFill>
                <a:latin typeface="Calibri"/>
              </a:rPr>
              <a:t>eth_config.h — tek giriş noktası</a:t>
            </a:r>
          </a:p>
          <a:p>
            <a:pPr>
              <a:spcAft>
                <a:spcPts val="900"/>
              </a:spcAft>
            </a:pPr>
            <a:r>
              <a:rPr sz="1100" b="0" i="0">
                <a:solidFill>
                  <a:srgbClr val="52625A"/>
                </a:solidFill>
                <a:latin typeface="Calibri"/>
              </a:rPr>
              <a:t>     Hangi MCU/PHY seçili olduğu burada belirlenir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2.  </a:t>
            </a:r>
            <a:r>
              <a:rPr sz="1350" b="1" i="0">
                <a:solidFill>
                  <a:srgbClr val="16201C"/>
                </a:solidFill>
                <a:latin typeface="Calibri"/>
              </a:rPr>
              <a:t>eth_device.h — MCU → yetenek eşlemesi</a:t>
            </a:r>
          </a:p>
          <a:p>
            <a:pPr>
              <a:spcAft>
                <a:spcPts val="900"/>
              </a:spcAft>
            </a:pPr>
            <a:r>
              <a:rPr sz="1100" b="0" i="0">
                <a:solidFill>
                  <a:srgbClr val="52625A"/>
                </a:solidFill>
                <a:latin typeface="Calibri"/>
              </a:rPr>
              <a:t>     MAC seçimi ve PHY seçimini iki ayrı eksene dallandırır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3.  </a:t>
            </a:r>
            <a:r>
              <a:rPr sz="1350" b="1" i="0">
                <a:solidFill>
                  <a:srgbClr val="16201C"/>
                </a:solidFill>
                <a:latin typeface="Calibri"/>
              </a:rPr>
              <a:t>MAC Port Ekseni</a:t>
            </a:r>
          </a:p>
          <a:p>
            <a:pPr>
              <a:spcAft>
                <a:spcPts val="900"/>
              </a:spcAft>
            </a:pPr>
            <a:r>
              <a:rPr sz="1100" b="0" i="0">
                <a:solidFill>
                  <a:srgbClr val="52625A"/>
                </a:solidFill>
                <a:latin typeface="Calibri"/>
              </a:rPr>
              <a:t>     eth_port_eqos.c (H5/H7) veya eth_port_gmac.c (F4/F7) → sabit sözleşme: eth_port.h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4.  </a:t>
            </a:r>
            <a:r>
              <a:rPr sz="1350" b="1" i="0">
                <a:solidFill>
                  <a:srgbClr val="16201C"/>
                </a:solidFill>
                <a:latin typeface="Calibri"/>
              </a:rPr>
              <a:t>PHY Ekseni</a:t>
            </a:r>
          </a:p>
          <a:p>
            <a:pPr>
              <a:spcAft>
                <a:spcPts val="900"/>
              </a:spcAft>
            </a:pPr>
            <a:r>
              <a:rPr sz="1100" b="0" i="0">
                <a:solidFill>
                  <a:srgbClr val="52625A"/>
                </a:solidFill>
                <a:latin typeface="Calibri"/>
              </a:rPr>
              <a:t>     eth_phy_lan87xx.c (LAN8720A/8742A) veya eth_phy_ksz80xx.c (KSZ8081) → sabit sözleşme: eth_phy.h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5.  </a:t>
            </a:r>
            <a:r>
              <a:rPr sz="1350" b="1" i="0">
                <a:solidFill>
                  <a:srgbClr val="16201C"/>
                </a:solidFill>
                <a:latin typeface="Calibri"/>
              </a:rPr>
              <a:t>Çekirdek — donanımdan tamamen bağımsız</a:t>
            </a:r>
          </a:p>
          <a:p>
            <a:pPr>
              <a:spcAft>
                <a:spcPts val="900"/>
              </a:spcAft>
            </a:pPr>
            <a:r>
              <a:rPr sz="1100" b="0" i="0">
                <a:solidFill>
                  <a:srgbClr val="52625A"/>
                </a:solidFill>
                <a:latin typeface="Calibri"/>
              </a:rPr>
              <a:t>     eth_driver.c (ring + sahiplik) → eth_app.c (ARP/ICMP/UDP) → eth_iap.c (opsiyonel)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57799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2625A"/>
                </a:solidFill>
                <a:latin typeface="Calibri"/>
              </a:rPr>
              <a:t>Kesikli ok = derleme zamanı seçimi · düz ok = kullanır (çalışma zamanı) · vurgulu = bu kartın örnek seçimi (H563 + EQOS + LAN8742A)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D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D6E56"/>
                </a:solidFill>
                <a:latin typeface="Consolas"/>
              </a:rPr>
              <a:t>05 · ÇEKIRDEK SÜRÜCÜ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6201C"/>
                </a:solidFill>
                <a:latin typeface="Calibri"/>
              </a:rPr>
              <a:t>Paylaşılan halka, net kurallar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52625A"/>
                </a:solidFill>
                <a:latin typeface="Calibri"/>
              </a:rPr>
              <a:t>8 elemanlı RX descriptor halkası (ring) — her eleman ya DMA'nın ya CPU'nun sahipliğindedir.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2625A"/>
                </a:solidFill>
                <a:latin typeface="Consolas"/>
              </a:rPr>
              <a:t>Çekirdek Sürücü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2625A"/>
                </a:solidFill>
                <a:latin typeface="Consolas"/>
              </a:rPr>
              <a:t>06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3484778" cy="3200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432304"/>
            <a:ext cx="300929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6201C"/>
                </a:solidFill>
                <a:latin typeface="Calibri"/>
              </a:rPr>
              <a:t>01  Zero-copy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52928"/>
            <a:ext cx="3009290" cy="2304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52625A"/>
                </a:solidFill>
                <a:latin typeface="Calibri"/>
              </a:rPr>
              <a:t>DMA'nın tamponuna doğrudan yazılır — aradan </a:t>
            </a:r>
            <a:r>
              <a:rPr sz="1300" b="1" i="0">
                <a:solidFill>
                  <a:srgbClr val="52625A"/>
                </a:solidFill>
                <a:latin typeface="Calibri"/>
              </a:rPr>
              <a:t>memcpy</a:t>
            </a:r>
            <a:r>
              <a:rPr sz="1300" b="0" i="0">
                <a:solidFill>
                  <a:srgbClr val="52625A"/>
                </a:solidFill>
                <a:latin typeface="Calibri"/>
              </a:rPr>
              <a:t> geçmez.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3458" y="2194560"/>
            <a:ext cx="3484778" cy="3200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1202" y="2432304"/>
            <a:ext cx="300929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6201C"/>
                </a:solidFill>
                <a:latin typeface="Calibri"/>
              </a:rPr>
              <a:t>02  OWN biti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1202" y="2852928"/>
            <a:ext cx="3009290" cy="2304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52625A"/>
                </a:solidFill>
                <a:latin typeface="Calibri"/>
              </a:rPr>
              <a:t>CPU ve DMA aynı descriptor dizisini tek bir sahiplik bitiyle paylaşır — kesme olmadan bile veri yarışı oluşmaz.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194560"/>
            <a:ext cx="3484778" cy="3200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6020" y="2432304"/>
            <a:ext cx="300929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6201C"/>
                </a:solidFill>
                <a:latin typeface="Calibri"/>
              </a:rPr>
              <a:t>03  MPU + non-cacheable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6020" y="2852928"/>
            <a:ext cx="3009290" cy="2304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52625A"/>
                </a:solidFill>
                <a:latin typeface="Calibri"/>
              </a:rPr>
              <a:t>DMA'nın yazdığı veriyi CPU cache'ten değil, doğrudan bellekten okur.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D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D6E56"/>
                </a:solidFill>
                <a:latin typeface="Consolas"/>
              </a:rPr>
              <a:t>06 · UYGULAMA KATMANI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6201C"/>
                </a:solidFill>
                <a:latin typeface="Calibri"/>
              </a:rPr>
              <a:t>Paket işleme akışı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2625A"/>
                </a:solidFill>
                <a:latin typeface="Consolas"/>
              </a:rPr>
              <a:t>Paket İşleme Akışı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2625A"/>
                </a:solidFill>
                <a:latin typeface="Consolas"/>
              </a:rPr>
              <a:t>07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0" i="0">
                <a:solidFill>
                  <a:srgbClr val="52625A"/>
                </a:solidFill>
                <a:latin typeface="Consolas"/>
              </a:rPr>
              <a:t/>
            </a:r>
            <a:r>
              <a:rPr sz="1400" b="0" i="0">
                <a:solidFill>
                  <a:srgbClr val="16201C"/>
                </a:solidFill>
                <a:latin typeface="Calibri"/>
              </a:rPr>
              <a:t>Gelen çerçeve (zero-copy, DMA) → </a:t>
            </a:r>
            <a:r>
              <a:rPr sz="1400" b="1" i="0">
                <a:solidFill>
                  <a:srgbClr val="16201C"/>
                </a:solidFill>
                <a:latin typeface="Calibri"/>
              </a:rPr>
              <a:t>EtherType?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52625A"/>
                </a:solidFill>
                <a:latin typeface="Consolas"/>
              </a:rPr>
              <a:t>     └─ </a:t>
            </a:r>
            <a:r>
              <a:rPr sz="1400" b="0" i="0">
                <a:solidFill>
                  <a:srgbClr val="16201C"/>
                </a:solidFill>
                <a:latin typeface="Calibri"/>
              </a:rPr>
              <a:t>ARP  →  arp_handle  (cache güncelle + yanıt)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52625A"/>
                </a:solidFill>
                <a:latin typeface="Consolas"/>
              </a:rPr>
              <a:t>     └─ </a:t>
            </a:r>
            <a:r>
              <a:rPr sz="1400" b="0" i="0">
                <a:solidFill>
                  <a:srgbClr val="16201C"/>
                </a:solidFill>
                <a:latin typeface="Calibri"/>
              </a:rPr>
              <a:t>IPv4  →  </a:t>
            </a:r>
            <a:r>
              <a:rPr sz="1400" b="1" i="0">
                <a:solidFill>
                  <a:srgbClr val="16201C"/>
                </a:solidFill>
                <a:latin typeface="Calibri"/>
              </a:rPr>
              <a:t>IP proto?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52625A"/>
                </a:solidFill>
                <a:latin typeface="Consolas"/>
              </a:rPr>
              <a:t>          └─ </a:t>
            </a:r>
            <a:r>
              <a:rPr sz="1400" b="0" i="0">
                <a:solidFill>
                  <a:srgbClr val="16201C"/>
                </a:solidFill>
                <a:latin typeface="Calibri"/>
              </a:rPr>
              <a:t>parçalanmış (MF=1 / offset≠0)  →  sessizce düşür — reassembly yok, </a:t>
            </a:r>
            <a:r>
              <a:rPr sz="1400" b="1" i="0">
                <a:solidFill>
                  <a:srgbClr val="16201C"/>
                </a:solidFill>
                <a:latin typeface="Calibri"/>
              </a:rPr>
              <a:t>bilinçli kısıt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52625A"/>
                </a:solidFill>
                <a:latin typeface="Consolas"/>
              </a:rPr>
              <a:t>          └─ </a:t>
            </a:r>
            <a:r>
              <a:rPr sz="1400" b="0" i="0">
                <a:solidFill>
                  <a:srgbClr val="16201C"/>
                </a:solidFill>
                <a:latin typeface="Calibri"/>
              </a:rPr>
              <a:t>ICMP echo  →  icmp_handle  (yanıt hesapla)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52625A"/>
                </a:solidFill>
                <a:latin typeface="Consolas"/>
              </a:rPr>
              <a:t>          └─ </a:t>
            </a:r>
            <a:r>
              <a:rPr sz="1400" b="0" i="0">
                <a:solidFill>
                  <a:srgbClr val="16201C"/>
                </a:solidFill>
                <a:latin typeface="Calibri"/>
              </a:rPr>
              <a:t>UDP  →  </a:t>
            </a:r>
            <a:r>
              <a:rPr sz="1400" b="1" i="0">
                <a:solidFill>
                  <a:srgbClr val="16201C"/>
                </a:solidFill>
                <a:latin typeface="Calibri"/>
              </a:rPr>
              <a:t>hedef port?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52625A"/>
                </a:solidFill>
                <a:latin typeface="Consolas"/>
              </a:rPr>
              <a:t>               └─ </a:t>
            </a:r>
            <a:r>
              <a:rPr sz="1400" b="0" i="0">
                <a:solidFill>
                  <a:srgbClr val="16201C"/>
                </a:solidFill>
                <a:latin typeface="Calibri"/>
              </a:rPr>
              <a:t>5000  →  eaetis_handle  (komut dağıtımı)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52625A"/>
                </a:solidFill>
                <a:latin typeface="Consolas"/>
              </a:rPr>
              <a:t>               └─ </a:t>
            </a:r>
            <a:r>
              <a:rPr sz="1400" b="0" i="0">
                <a:solidFill>
                  <a:srgbClr val="16201C"/>
                </a:solidFill>
                <a:latin typeface="Calibri"/>
              </a:rPr>
              <a:t>diğer  →  kullanıcı callback  (RegisterUDPCallback)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D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D6E56"/>
                </a:solidFill>
                <a:latin typeface="Consolas"/>
              </a:rPr>
              <a:t>07 · IAP BOOTLOADER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6201C"/>
                </a:solidFill>
                <a:latin typeface="Calibri"/>
              </a:rPr>
              <a:t>Ağ üzerinden firmware güncelleme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2625A"/>
                </a:solidFill>
                <a:latin typeface="Consolas"/>
              </a:rPr>
              <a:t>IAP Bootloader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2625A"/>
                </a:solidFill>
                <a:latin typeface="Consolas"/>
              </a:rPr>
              <a:t>08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094415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1.  </a:t>
            </a:r>
            <a:r>
              <a:rPr sz="1350" b="0" i="0">
                <a:solidFill>
                  <a:srgbClr val="16201C"/>
                </a:solidFill>
                <a:latin typeface="Calibri"/>
              </a:rPr>
              <a:t>GUI → Kart: START_IAP | SIZE:n | CRC:0x..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2.  </a:t>
            </a:r>
            <a:r>
              <a:rPr sz="1350" b="0" i="0">
                <a:solidFill>
                  <a:srgbClr val="16201C"/>
                </a:solidFill>
                <a:latin typeface="Calibri"/>
              </a:rPr>
              <a:t>Kart → GUI: IAP_READY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3.  </a:t>
            </a:r>
            <a:r>
              <a:rPr sz="1350" b="0" i="0">
                <a:solidFill>
                  <a:srgbClr val="16201C"/>
                </a:solidFill>
                <a:latin typeface="Calibri"/>
              </a:rPr>
              <a:t>Döngü (512B parça, en fazla 3 deneme): FW_DATA | SEQ:i  →  ACK:i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4.  </a:t>
            </a:r>
            <a:r>
              <a:rPr sz="1350" b="0" i="0">
                <a:solidFill>
                  <a:srgbClr val="16201C"/>
                </a:solidFill>
                <a:latin typeface="Calibri"/>
              </a:rPr>
              <a:t>GUI → Kart: END_IAP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5.  </a:t>
            </a:r>
            <a:r>
              <a:rPr sz="1350" b="0" i="0">
                <a:solidFill>
                  <a:srgbClr val="16201C"/>
                </a:solidFill>
                <a:latin typeface="Calibri"/>
              </a:rPr>
              <a:t>Kart: CRC32 doğrula → VTOR taşı → MSP ayarla → yeni uygulamaya atla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6.  </a:t>
            </a:r>
            <a:r>
              <a:rPr sz="1350" b="0" i="0">
                <a:solidFill>
                  <a:srgbClr val="16201C"/>
                </a:solidFill>
                <a:latin typeface="Calibri"/>
              </a:rPr>
              <a:t>Kart → GUI: FLASH_SUCCESS | JUMP_OK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2625A"/>
                </a:solidFill>
                <a:latin typeface="Calibri"/>
              </a:rPr>
              <a:t>Tek banka, kimlik doğrulama yok — yalnızca CRC32 bütünlük kontrolü. Sadece izole/güvenilir ağlarda kullanılmalı.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D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D6E56"/>
                </a:solidFill>
                <a:latin typeface="Consolas"/>
              </a:rPr>
              <a:t>08 · MASAÜSTÜ ARAYÜZ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6201C"/>
                </a:solidFill>
                <a:latin typeface="Calibri"/>
              </a:rPr>
              <a:t>E-AETIS GUI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2625A"/>
                </a:solidFill>
                <a:latin typeface="Consolas"/>
              </a:rPr>
              <a:t>Masaüstü Arayüz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2625A"/>
                </a:solidFill>
                <a:latin typeface="Consolas"/>
              </a:rPr>
              <a:t>09 / 12</a:t>
            </a:r>
          </a:p>
        </p:txBody>
      </p:sp>
      <p:pic>
        <p:nvPicPr>
          <p:cNvPr id="8" name="Picture 7" descr="g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77" y="1600200"/>
            <a:ext cx="5872606" cy="4023360"/>
          </a:xfrm>
          <a:prstGeom prst="rect">
            <a:avLst/>
          </a:prstGeom>
          <a:ln w="12700">
            <a:solidFill>
              <a:srgbClr val="D7DED9"/>
            </a:solidFill>
          </a:ln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49440" y="1600200"/>
          <a:ext cx="469361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126"/>
                <a:gridCol w="2581488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52625A"/>
                          </a:solidFill>
                          <a:latin typeface="Consolas"/>
                        </a:rPr>
                        <a:t>SEKME</a:t>
                      </a:r>
                    </a:p>
                  </a:txBody>
                  <a:tcPr marL="73152" marR="73152" marT="27432" marB="27432" anchor="ctr">
                    <a:solidFill>
                      <a:srgbClr val="EA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52625A"/>
                          </a:solidFill>
                          <a:latin typeface="Consolas"/>
                        </a:rPr>
                        <a:t>İŞLEV</a:t>
                      </a:r>
                    </a:p>
                  </a:txBody>
                  <a:tcPr marL="73152" marR="73152" marT="27432" marB="27432" anchor="ctr">
                    <a:solidFill>
                      <a:srgbClr val="EAEF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6201C"/>
                          </a:solidFill>
                          <a:latin typeface="Calibri"/>
                        </a:rPr>
                        <a:t>Kart G/Ç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6201C"/>
                          </a:solidFill>
                          <a:latin typeface="Calibri"/>
                        </a:rPr>
                        <a:t>Otomatik değişken keşfi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6201C"/>
                          </a:solidFill>
                          <a:latin typeface="Calibri"/>
                        </a:rPr>
                        <a:t>Ping (ICMP)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6201C"/>
                          </a:solidFill>
                          <a:latin typeface="Calibri"/>
                        </a:rPr>
                        <a:t>Gecikme ölçümü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6201C"/>
                          </a:solidFill>
                          <a:latin typeface="Calibri"/>
                        </a:rPr>
                        <a:t>UDP Konsol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6201C"/>
                          </a:solidFill>
                          <a:latin typeface="Calibri"/>
                        </a:rPr>
                        <a:t>Serbest komut / log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6201C"/>
                          </a:solidFill>
                          <a:latin typeface="Calibri"/>
                        </a:rPr>
                        <a:t>PHY / DMA Teşhis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6201C"/>
                          </a:solidFill>
                          <a:latin typeface="Calibri"/>
                        </a:rPr>
                        <a:t>Register + istatistik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6201C"/>
                          </a:solidFill>
                          <a:latin typeface="Calibri"/>
                        </a:rPr>
                        <a:t>Performans &amp; Jitter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6201C"/>
                          </a:solidFill>
                          <a:latin typeface="Calibri"/>
                        </a:rPr>
                        <a:t>min / ort / p95 / max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6201C"/>
                          </a:solidFill>
                          <a:latin typeface="Calibri"/>
                        </a:rPr>
                        <a:t>Hata Enjeksiyonu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6201C"/>
                          </a:solidFill>
                          <a:latin typeface="Calibri"/>
                        </a:rPr>
                        <a:t>Fuzz + parçalanma testi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6201C"/>
                          </a:solidFill>
                          <a:latin typeface="Calibri"/>
                        </a:rPr>
                        <a:t>Bootloader (IAP)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6201C"/>
                          </a:solidFill>
                          <a:latin typeface="Calibri"/>
                        </a:rPr>
                        <a:t>Ağdan firmware güncelleme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D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D6E56"/>
                </a:solidFill>
                <a:latin typeface="Consolas"/>
              </a:rPr>
              <a:t>09 · DOĞRULAMA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6201C"/>
                </a:solidFill>
                <a:latin typeface="Calibri"/>
              </a:rPr>
              <a:t>Bring-up sırası ve fuzz testi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2625A"/>
                </a:solidFill>
                <a:latin typeface="Consolas"/>
              </a:rPr>
              <a:t>Doğrulama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2625A"/>
                </a:solidFill>
                <a:latin typeface="Consolas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394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1.  </a:t>
            </a:r>
            <a:r>
              <a:rPr sz="1350" b="0" i="0">
                <a:solidFill>
                  <a:srgbClr val="16201C"/>
                </a:solidFill>
                <a:latin typeface="Calibri"/>
              </a:rPr>
              <a:t>MDIO alan yerleşimi (MACMDIOAR)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2.  </a:t>
            </a:r>
            <a:r>
              <a:rPr sz="1350" b="0" i="0">
                <a:solidFill>
                  <a:srgbClr val="16201C"/>
                </a:solidFill>
                <a:latin typeface="Calibri"/>
              </a:rPr>
              <a:t>RMII seçim register kodu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3.  </a:t>
            </a:r>
            <a:r>
              <a:rPr sz="1350" b="0" i="0">
                <a:solidFill>
                  <a:srgbClr val="16201C"/>
                </a:solidFill>
                <a:latin typeface="Calibri"/>
              </a:rPr>
              <a:t>DMA tail pointer semantiği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4.  </a:t>
            </a:r>
            <a:r>
              <a:rPr sz="1350" b="0" i="0">
                <a:solidFill>
                  <a:srgbClr val="16201C"/>
                </a:solidFill>
                <a:latin typeface="Calibri"/>
              </a:rPr>
              <a:t>MPU RBAR / RLAR alanları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5.  </a:t>
            </a:r>
            <a:r>
              <a:rPr sz="1350" b="0" i="0">
                <a:solidFill>
                  <a:srgbClr val="16201C"/>
                </a:solidFill>
                <a:latin typeface="Calibri"/>
              </a:rPr>
              <a:t>Flash sektör alanı (IAP kullanılıyorsa)</a:t>
            </a:r>
          </a:p>
          <a:p>
            <a:pPr>
              <a:spcAft>
                <a:spcPts val="900"/>
              </a:spcAft>
            </a:pPr>
            <a:r>
              <a:rPr sz="1350" b="1" i="0">
                <a:solidFill>
                  <a:srgbClr val="0D6E56"/>
                </a:solidFill>
                <a:latin typeface="Consolas"/>
              </a:rPr>
              <a:t>6.  </a:t>
            </a:r>
            <a:r>
              <a:rPr sz="1350" b="0" i="0">
                <a:solidFill>
                  <a:srgbClr val="16201C"/>
                </a:solidFill>
                <a:latin typeface="Calibri"/>
              </a:rPr>
              <a:t>RMII pin haritası (kart şemasından)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2625A"/>
                </a:solidFill>
                <a:latin typeface="Calibri"/>
              </a:rPr>
              <a:t>PHY ID okunabiliyorsa (</a:t>
            </a:r>
            <a:r>
              <a:rPr sz="1200" b="1" i="1">
                <a:solidFill>
                  <a:srgbClr val="52625A"/>
                </a:solidFill>
                <a:latin typeface="Calibri"/>
              </a:rPr>
              <a:t>ETH_PHY_ScanAddress</a:t>
            </a:r>
            <a:r>
              <a:rPr sz="1200" b="0" i="1">
                <a:solidFill>
                  <a:srgbClr val="52625A"/>
                </a:solidFill>
                <a:latin typeface="Calibri"/>
              </a:rPr>
              <a:t>) → RMII saati, GPIO, clock, SMI zamanlaması hepsi doğru demektir.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600200"/>
          <a:ext cx="542513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567"/>
                <a:gridCol w="2712567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52625A"/>
                          </a:solidFill>
                          <a:latin typeface="Consolas"/>
                        </a:rPr>
                        <a:t>SENARYO</a:t>
                      </a:r>
                    </a:p>
                  </a:txBody>
                  <a:tcPr marL="73152" marR="73152" marT="27432" marB="27432" anchor="ctr">
                    <a:solidFill>
                      <a:srgbClr val="EAEF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52625A"/>
                          </a:solidFill>
                          <a:latin typeface="Consolas"/>
                        </a:rPr>
                        <a:t>BEKLENEN DAVRANIŞ</a:t>
                      </a:r>
                    </a:p>
                  </a:txBody>
                  <a:tcPr marL="73152" marR="73152" marT="27432" marB="27432" anchor="ctr">
                    <a:solidFill>
                      <a:srgbClr val="EAEF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6201C"/>
                          </a:solidFill>
                          <a:latin typeface="Calibri"/>
                        </a:rPr>
                        <a:t>2048B parçalanmış paket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6201C"/>
                          </a:solidFill>
                          <a:latin typeface="Calibri"/>
                        </a:rPr>
                        <a:t>Sessizce düşür, timeout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6201C"/>
                          </a:solidFill>
                          <a:latin typeface="Calibri"/>
                        </a:rPr>
                        <a:t>Kesik / tutarsız IAP başlığı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6201C"/>
                          </a:solidFill>
                          <a:latin typeface="Calibri"/>
                        </a:rPr>
                        <a:t>Parser sınır kontrolü reddeder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6201C"/>
                          </a:solidFill>
                          <a:latin typeface="Calibri"/>
                        </a:rPr>
                        <a:t>Rastgele fuzz baytları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6201C"/>
                          </a:solidFill>
                          <a:latin typeface="Calibri"/>
                        </a:rPr>
                        <a:t>Kart hayatta kalır (canlılık)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D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D6E56"/>
                </a:solidFill>
                <a:latin typeface="Consolas"/>
              </a:rPr>
              <a:t>10 · DÜRÜST DEĞERLENDIRME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6201C"/>
                </a:solidFill>
                <a:latin typeface="Calibri"/>
              </a:rPr>
              <a:t>Bilinen sınırlar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2625A"/>
                </a:solidFill>
                <a:latin typeface="Consolas"/>
              </a:rPr>
              <a:t>Bilinen Sınırlar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2625A"/>
                </a:solidFill>
                <a:latin typeface="Consolas"/>
              </a:rP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109441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50" b="1" i="0">
                <a:solidFill>
                  <a:srgbClr val="A8571A"/>
                </a:solidFill>
                <a:latin typeface="Consolas"/>
              </a:rPr>
              <a:t>—  </a:t>
            </a:r>
            <a:r>
              <a:rPr sz="1450" b="1" i="0">
                <a:solidFill>
                  <a:srgbClr val="16201C"/>
                </a:solidFill>
                <a:latin typeface="Calibri"/>
              </a:rPr>
              <a:t>IP fragment reassembly yok</a:t>
            </a:r>
            <a:r>
              <a:rPr sz="1450" b="0" i="0">
                <a:solidFill>
                  <a:srgbClr val="16201C"/>
                </a:solidFill>
                <a:latin typeface="Calibri"/>
              </a:rPr>
              <a:t> — tasarım kararı, büyük paketler sessizce düşürülür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A8571A"/>
                </a:solidFill>
                <a:latin typeface="Consolas"/>
              </a:rPr>
              <a:t>—  </a:t>
            </a:r>
            <a:r>
              <a:rPr sz="1450" b="1" i="0">
                <a:solidFill>
                  <a:srgbClr val="16201C"/>
                </a:solidFill>
                <a:latin typeface="Calibri"/>
              </a:rPr>
              <a:t>TCP yok</a:t>
            </a:r>
            <a:r>
              <a:rPr sz="1450" b="0" i="0">
                <a:solidFill>
                  <a:srgbClr val="16201C"/>
                </a:solidFill>
                <a:latin typeface="Calibri"/>
              </a:rPr>
              <a:t> — yalnızca UDP / ICMP / ARP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A8571A"/>
                </a:solidFill>
                <a:latin typeface="Consolas"/>
              </a:rPr>
              <a:t>—  </a:t>
            </a:r>
            <a:r>
              <a:rPr sz="1450" b="1" i="0">
                <a:solidFill>
                  <a:srgbClr val="16201C"/>
                </a:solidFill>
                <a:latin typeface="Calibri"/>
              </a:rPr>
              <a:t>Tek DMA kanalı, tek kuyruk</a:t>
            </a:r>
            <a:r>
              <a:rPr sz="1450" b="0" i="0">
                <a:solidFill>
                  <a:srgbClr val="16201C"/>
                </a:solidFill>
                <a:latin typeface="Calibri"/>
              </a:rPr>
              <a:t> — QoS / VLAN önceliklendirme yok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A8571A"/>
                </a:solidFill>
                <a:latin typeface="Consolas"/>
              </a:rPr>
              <a:t>—  </a:t>
            </a:r>
            <a:r>
              <a:rPr sz="1450" b="1" i="0">
                <a:solidFill>
                  <a:srgbClr val="16201C"/>
                </a:solidFill>
                <a:latin typeface="Calibri"/>
              </a:rPr>
              <a:t>IAP'de kimlik doğrulama yok</a:t>
            </a:r>
            <a:r>
              <a:rPr sz="1450" b="0" i="0">
                <a:solidFill>
                  <a:srgbClr val="16201C"/>
                </a:solidFill>
                <a:latin typeface="Calibri"/>
              </a:rPr>
              <a:t> — yalnızca CRC32 bütünlük kontrolü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A8571A"/>
                </a:solidFill>
                <a:latin typeface="Consolas"/>
              </a:rPr>
              <a:t>—  </a:t>
            </a:r>
            <a:r>
              <a:rPr sz="1450" b="1" i="0">
                <a:solidFill>
                  <a:srgbClr val="16201C"/>
                </a:solidFill>
                <a:latin typeface="Calibri"/>
              </a:rPr>
              <a:t>Polling tabanlı</a:t>
            </a:r>
            <a:r>
              <a:rPr sz="1450" b="0" i="0">
                <a:solidFill>
                  <a:srgbClr val="16201C"/>
                </a:solidFill>
                <a:latin typeface="Calibri"/>
              </a:rPr>
              <a:t> — kesme desteği yok, gecikme çağrı sıklığına bağımlı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2625A"/>
                </a:solidFill>
                <a:latin typeface="Calibri"/>
              </a:rPr>
              <a:t>Kapsamı bilinçli çizdik — jüri sormadan biz söylüyoruz.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D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0D6E56"/>
                </a:solidFill>
                <a:latin typeface="Consolas"/>
              </a:rPr>
              <a:t>11 · KAPANIŞ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6201C"/>
                </a:solidFill>
                <a:latin typeface="Calibri"/>
              </a:rPr>
              <a:t>Rakamlarla proje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52625A"/>
                </a:solidFill>
                <a:latin typeface="Consolas"/>
              </a:rPr>
              <a:t>E-AETIS / Ethernet_BSP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713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2625A"/>
                </a:solidFill>
                <a:latin typeface="Consolas"/>
              </a:rPr>
              <a:t>12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650159" cy="1152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0D6E56"/>
                </a:solidFill>
                <a:latin typeface="Consolas"/>
              </a:rPr>
              <a:t>4</a:t>
            </a:r>
          </a:p>
          <a:p>
            <a:pPr algn="ctr"/>
            <a:r>
              <a:rPr sz="1050" b="0" i="0">
                <a:solidFill>
                  <a:srgbClr val="52625A"/>
                </a:solidFill>
                <a:latin typeface="Calibri"/>
              </a:rPr>
              <a:t>desteklenen MCU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3391" y="1600200"/>
            <a:ext cx="2650159" cy="1152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0D6E56"/>
                </a:solidFill>
                <a:latin typeface="Consolas"/>
              </a:rPr>
              <a:t>2</a:t>
            </a:r>
          </a:p>
          <a:p>
            <a:pPr algn="ctr"/>
            <a:r>
              <a:rPr sz="1050" b="0" i="0">
                <a:solidFill>
                  <a:srgbClr val="52625A"/>
                </a:solidFill>
                <a:latin typeface="Calibri"/>
              </a:rPr>
              <a:t>MAC ailesi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600200"/>
            <a:ext cx="2650159" cy="1152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0D6E56"/>
                </a:solidFill>
                <a:latin typeface="Consolas"/>
              </a:rPr>
              <a:t>3</a:t>
            </a:r>
          </a:p>
          <a:p>
            <a:pPr algn="ctr"/>
            <a:r>
              <a:rPr sz="1050" b="0" i="0">
                <a:solidFill>
                  <a:srgbClr val="52625A"/>
                </a:solidFill>
                <a:latin typeface="Calibri"/>
              </a:rPr>
              <a:t>PHY çipi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2895" y="1600200"/>
            <a:ext cx="2650159" cy="1152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0D6E56"/>
                </a:solidFill>
                <a:latin typeface="Consolas"/>
              </a:rPr>
              <a:t>0</a:t>
            </a:r>
          </a:p>
          <a:p>
            <a:pPr algn="ctr"/>
            <a:r>
              <a:rPr sz="1050" b="0" i="0">
                <a:solidFill>
                  <a:srgbClr val="52625A"/>
                </a:solidFill>
                <a:latin typeface="Calibri"/>
              </a:rPr>
              <a:t>malloc çağrısı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16936"/>
            <a:ext cx="2650159" cy="1152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0D6E56"/>
                </a:solidFill>
                <a:latin typeface="Consolas"/>
              </a:rPr>
              <a:t>3</a:t>
            </a:r>
          </a:p>
          <a:p>
            <a:pPr algn="ctr"/>
            <a:r>
              <a:rPr sz="1050" b="0" i="0">
                <a:solidFill>
                  <a:srgbClr val="52625A"/>
                </a:solidFill>
                <a:latin typeface="Calibri"/>
              </a:rPr>
              <a:t>protokol (ARP/ICMP/UDP)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3391" y="2916936"/>
            <a:ext cx="2650159" cy="1152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0D6E56"/>
                </a:solidFill>
                <a:latin typeface="Consolas"/>
              </a:rPr>
              <a:t>21</a:t>
            </a:r>
          </a:p>
          <a:p>
            <a:pPr algn="ctr"/>
            <a:r>
              <a:rPr sz="1050" b="0" i="0">
                <a:solidFill>
                  <a:srgbClr val="52625A"/>
                </a:solidFill>
                <a:latin typeface="Calibri"/>
              </a:rPr>
              <a:t>port sözleşmesi fonksiyonu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8143" y="2916936"/>
            <a:ext cx="2650159" cy="1152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0D6E56"/>
                </a:solidFill>
                <a:latin typeface="Consolas"/>
              </a:rPr>
              <a:t>7</a:t>
            </a:r>
          </a:p>
          <a:p>
            <a:pPr algn="ctr"/>
            <a:r>
              <a:rPr sz="1050" b="0" i="0">
                <a:solidFill>
                  <a:srgbClr val="52625A"/>
                </a:solidFill>
                <a:latin typeface="Calibri"/>
              </a:rPr>
              <a:t>GUI test sekmesi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2895" y="2916936"/>
            <a:ext cx="2650159" cy="1152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D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0D6E56"/>
                </a:solidFill>
                <a:latin typeface="Consolas"/>
              </a:rPr>
              <a:t>1</a:t>
            </a:r>
          </a:p>
          <a:p>
            <a:pPr algn="ctr"/>
            <a:r>
              <a:rPr sz="1050" b="0" i="0">
                <a:solidFill>
                  <a:srgbClr val="52625A"/>
                </a:solidFill>
                <a:latin typeface="Calibri"/>
              </a:rPr>
              <a:t>dokunulan config dosyası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16201C"/>
                </a:solidFill>
                <a:latin typeface="Calibri"/>
              </a:rPr>
              <a:t>Teşekkürler</a:t>
            </a:r>
          </a:p>
          <a:p>
            <a:pPr algn="ctr"/>
            <a:r>
              <a:rPr sz="1500" b="0" i="0">
                <a:solidFill>
                  <a:srgbClr val="52625A"/>
                </a:solidFill>
                <a:latin typeface="Calibri"/>
              </a:rPr>
              <a:t>Sorular?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