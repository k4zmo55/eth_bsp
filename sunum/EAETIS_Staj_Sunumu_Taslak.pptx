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unum_kap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9509522" y="5897880"/>
            <a:ext cx="2682173" cy="960120"/>
          </a:xfrm>
          <a:custGeom>
            <a:avLst/>
            <a:gdLst/>
            <a:ahLst/>
            <a:cxnLst/>
            <a:rect l="l" t="t" r="r" b="b"/>
            <a:pathLst>
              <a:path w="2682173" h="960120">
                <a:moveTo>
                  <a:pt x="2682173" y="0"/>
                </a:moveTo>
                <a:lnTo>
                  <a:pt x="853418" y="274320"/>
                </a:lnTo>
                <a:lnTo>
                  <a:pt x="1463003" y="651510"/>
                </a:lnTo>
                <a:lnTo>
                  <a:pt x="0" y="788670"/>
                </a:lnTo>
                <a:lnTo>
                  <a:pt x="0" y="960120"/>
                </a:lnTo>
                <a:lnTo>
                  <a:pt x="2682173" y="960120"/>
                </a:lnTo>
                <a:close/>
              </a:path>
            </a:pathLst>
          </a:custGeom>
          <a:solidFill>
            <a:srgbClr val="0046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5242428" y="0"/>
            <a:ext cx="853419" cy="377190"/>
          </a:xfrm>
          <a:prstGeom prst="line">
            <a:avLst/>
          </a:prstGeom>
          <a:ln w="9525">
            <a:solidFill>
              <a:srgbClr val="9A9A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242428" y="377190"/>
            <a:ext cx="1828755" cy="651510"/>
          </a:xfrm>
          <a:prstGeom prst="line">
            <a:avLst/>
          </a:prstGeom>
          <a:ln w="9525">
            <a:solidFill>
              <a:srgbClr val="9A9A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7071183" y="1028700"/>
            <a:ext cx="1950671" cy="1028700"/>
          </a:xfrm>
          <a:prstGeom prst="line">
            <a:avLst/>
          </a:prstGeom>
          <a:ln w="9525">
            <a:solidFill>
              <a:srgbClr val="9A9A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ehsim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41887" y="219456"/>
            <a:ext cx="365760" cy="23918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213287" y="61264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004694"/>
                </a:solidFill>
                <a:latin typeface="Calibri"/>
              </a:rPr>
              <a:t>EHSİM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47472"/>
            <a:ext cx="8778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 i="0">
                <a:solidFill>
                  <a:srgbClr val="0E93B4"/>
                </a:solidFill>
                <a:latin typeface="Consolas"/>
              </a:rPr>
              <a:t>01 · 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8368"/>
            <a:ext cx="98755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01826"/>
                </a:solidFill>
                <a:latin typeface="Calibri"/>
              </a:rPr>
              <a:t>Her elektronik cihazın bir "ağ dili" konuşması gerekir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417320"/>
            <a:ext cx="10241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i="0">
                <a:solidFill>
                  <a:srgbClr val="5B6B80"/>
                </a:solidFill>
                <a:latin typeface="Calibri"/>
              </a:rPr>
              <a:t>Bir kart ağa bağlanacaksa, veriyi doğru biçimde gönderip almasını sağlayan bir yazılım katmanına ihtiyacı vardır — buna **Ethernet sürücüsü** denir.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0">
                <a:solidFill>
                  <a:srgbClr val="5B6B80"/>
                </a:solidFill>
                <a:latin typeface="Calibri"/>
              </a:rPr>
              <a:t>E-AETIS · Staj Sunumu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42855" y="6446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B6B80"/>
                </a:solidFill>
                <a:latin typeface="Calibri"/>
              </a:rPr>
              <a:t>02 / 18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423160"/>
            <a:ext cx="3515258" cy="1554480"/>
          </a:xfrm>
          <a:prstGeom prst="roundRect">
            <a:avLst>
              <a:gd name="adj" fmla="val 8000"/>
            </a:avLst>
          </a:prstGeom>
          <a:solidFill>
            <a:srgbClr val="10233F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Mikrodenetleyici</a:t>
            </a:r>
          </a:p>
          <a:p>
            <a:pPr algn="ctr"/>
            <a:r>
              <a:rPr sz="950" b="0" i="0">
                <a:solidFill>
                  <a:srgbClr val="B9C6DE"/>
                </a:solidFill>
                <a:latin typeface="Calibri"/>
              </a:rPr>
              <a:t>sensör · motor · kamera…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045610" y="3118104"/>
            <a:ext cx="265176" cy="164592"/>
          </a:xfrm>
          <a:prstGeom prst="rightArrow">
            <a:avLst/>
          </a:prstGeom>
          <a:solidFill>
            <a:srgbClr val="5B6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38218" y="2423160"/>
            <a:ext cx="3515258" cy="1554480"/>
          </a:xfrm>
          <a:prstGeom prst="roundRect">
            <a:avLst>
              <a:gd name="adj" fmla="val 8000"/>
            </a:avLst>
          </a:prstGeom>
          <a:solidFill>
            <a:srgbClr val="DFF1F5"/>
          </a:solidFill>
          <a:ln w="19050">
            <a:solidFill>
              <a:srgbClr val="0E9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50" b="1" i="0">
                <a:solidFill>
                  <a:srgbClr val="101826"/>
                </a:solidFill>
                <a:latin typeface="Calibri"/>
              </a:rPr>
              <a:t>Ethernet Sürücüsü</a:t>
            </a:r>
          </a:p>
          <a:p>
            <a:pPr algn="ctr"/>
            <a:r>
              <a:rPr sz="950" b="0" i="0">
                <a:solidFill>
                  <a:srgbClr val="5B6B80"/>
                </a:solidFill>
                <a:latin typeface="Calibri"/>
              </a:rPr>
              <a:t>"veriyi ağın anlayacağı pakete çeviren katman"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880908" y="3118104"/>
            <a:ext cx="265176" cy="164592"/>
          </a:xfrm>
          <a:prstGeom prst="rightArrow">
            <a:avLst/>
          </a:prstGeom>
          <a:solidFill>
            <a:srgbClr val="5B6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173516" y="2423160"/>
            <a:ext cx="3515258" cy="15544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50" b="1" i="0">
                <a:solidFill>
                  <a:srgbClr val="101826"/>
                </a:solidFill>
                <a:latin typeface="Calibri"/>
              </a:rPr>
              <a:t>Ağ / İnternet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251960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B6B80"/>
                </a:solidFill>
                <a:latin typeface="Calibri"/>
              </a:rPr>
              <a:t>Hazır çözümler (işletim sistemi + ağ kütüphanesi) genelde ağırdır ve her karta doğrudan taşınmaz. Görevim: hafif, taşınabilir bir sürücüyü </a:t>
            </a:r>
            <a:r>
              <a:rPr sz="1150" b="1" i="1">
                <a:solidFill>
                  <a:srgbClr val="5B6B80"/>
                </a:solidFill>
                <a:latin typeface="Calibri"/>
              </a:rPr>
              <a:t>sıfırdan</a:t>
            </a:r>
            <a:r>
              <a:rPr sz="1150" b="0" i="1">
                <a:solidFill>
                  <a:srgbClr val="5B6B80"/>
                </a:solidFill>
                <a:latin typeface="Calibri"/>
              </a:rPr>
              <a:t> yazmak.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9509522" y="5897880"/>
            <a:ext cx="2682173" cy="960120"/>
          </a:xfrm>
          <a:custGeom>
            <a:avLst/>
            <a:gdLst/>
            <a:ahLst/>
            <a:cxnLst/>
            <a:rect l="l" t="t" r="r" b="b"/>
            <a:pathLst>
              <a:path w="2682173" h="960120">
                <a:moveTo>
                  <a:pt x="2682173" y="0"/>
                </a:moveTo>
                <a:lnTo>
                  <a:pt x="853418" y="274320"/>
                </a:lnTo>
                <a:lnTo>
                  <a:pt x="1463003" y="651510"/>
                </a:lnTo>
                <a:lnTo>
                  <a:pt x="0" y="788670"/>
                </a:lnTo>
                <a:lnTo>
                  <a:pt x="0" y="960120"/>
                </a:lnTo>
                <a:lnTo>
                  <a:pt x="2682173" y="960120"/>
                </a:lnTo>
                <a:close/>
              </a:path>
            </a:pathLst>
          </a:custGeom>
          <a:solidFill>
            <a:srgbClr val="0046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5242428" y="0"/>
            <a:ext cx="853419" cy="377190"/>
          </a:xfrm>
          <a:prstGeom prst="line">
            <a:avLst/>
          </a:prstGeom>
          <a:ln w="9525">
            <a:solidFill>
              <a:srgbClr val="9A9A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242428" y="377190"/>
            <a:ext cx="1828755" cy="651510"/>
          </a:xfrm>
          <a:prstGeom prst="line">
            <a:avLst/>
          </a:prstGeom>
          <a:ln w="9525">
            <a:solidFill>
              <a:srgbClr val="9A9A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7071183" y="1028700"/>
            <a:ext cx="1950671" cy="1028700"/>
          </a:xfrm>
          <a:prstGeom prst="line">
            <a:avLst/>
          </a:prstGeom>
          <a:ln w="9525">
            <a:solidFill>
              <a:srgbClr val="9A9A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ehsim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41887" y="219456"/>
            <a:ext cx="365760" cy="23918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213287" y="61264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004694"/>
                </a:solidFill>
                <a:latin typeface="Calibri"/>
              </a:rPr>
              <a:t>EHSİM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47472"/>
            <a:ext cx="8778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 i="0">
                <a:solidFill>
                  <a:srgbClr val="0E93B4"/>
                </a:solidFill>
                <a:latin typeface="Consolas"/>
              </a:rPr>
              <a:t>02 · NE YAPTIM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8368"/>
            <a:ext cx="98755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01826"/>
                </a:solidFill>
                <a:latin typeface="Calibri"/>
              </a:rPr>
              <a:t>İki parçadan oluşan bir sistem geliştirdim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417320"/>
            <a:ext cx="10241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i="0">
                <a:solidFill>
                  <a:srgbClr val="5B6B80"/>
                </a:solidFill>
                <a:latin typeface="Calibri"/>
              </a:rPr>
              <a:t>Kartın içine gömülen bir kütüphane ve bilgisayardan o kartı test eden bir arayüz — ikisi aynı "dil" (E-AETIS protokolü) ile konuşuyor.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0">
                <a:solidFill>
                  <a:srgbClr val="5B6B80"/>
                </a:solidFill>
                <a:latin typeface="Calibri"/>
              </a:rPr>
              <a:t>E-AETIS · Staj Sunumu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42855" y="6446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B6B80"/>
                </a:solidFill>
                <a:latin typeface="Calibri"/>
              </a:rPr>
              <a:t>03 / 18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103120"/>
            <a:ext cx="5455767" cy="3291840"/>
          </a:xfrm>
          <a:prstGeom prst="roundRect">
            <a:avLst>
              <a:gd name="adj" fmla="val 45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" y="2304288"/>
            <a:ext cx="5053431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1" i="0">
                <a:solidFill>
                  <a:srgbClr val="0E93B4"/>
                </a:solidFill>
                <a:latin typeface="Consolas"/>
              </a:rPr>
              <a:t>GÖMÜLÜ TARAF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2578608"/>
            <a:ext cx="5053431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101826"/>
                </a:solidFill>
                <a:latin typeface="Calibri"/>
              </a:rPr>
              <a:t>Ethernet_BSP  (C)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" y="2962656"/>
            <a:ext cx="5053431" cy="22311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250" b="0" i="0">
                <a:solidFill>
                  <a:srgbClr val="5B6B80"/>
                </a:solidFill>
                <a:latin typeface="Calibri"/>
              </a:rPr>
              <a:t>– </a:t>
            </a:r>
            <a:r>
              <a:rPr sz="1250" b="0" i="0">
                <a:solidFill>
                  <a:srgbClr val="5B6B80"/>
                </a:solidFill>
                <a:latin typeface="Calibri"/>
              </a:rPr>
              <a:t>Register seviyesi </a:t>
            </a:r>
            <a:r>
              <a:rPr sz="1250" b="1" i="0">
                <a:solidFill>
                  <a:srgbClr val="5B6B80"/>
                </a:solidFill>
                <a:latin typeface="Calibri"/>
              </a:rPr>
              <a:t>MAC / DMA / PHY</a:t>
            </a:r>
            <a:r>
              <a:rPr sz="1250" b="0" i="0">
                <a:solidFill>
                  <a:srgbClr val="5B6B80"/>
                </a:solidFill>
                <a:latin typeface="Calibri"/>
              </a:rPr>
              <a:t> erişimi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5B6B80"/>
                </a:solidFill>
                <a:latin typeface="Calibri"/>
              </a:rPr>
              <a:t>– </a:t>
            </a:r>
            <a:r>
              <a:rPr sz="1250" b="1" i="0">
                <a:solidFill>
                  <a:srgbClr val="5B6B80"/>
                </a:solidFill>
                <a:latin typeface="Calibri"/>
              </a:rPr>
              <a:t>RTOS yok</a:t>
            </a:r>
            <a:r>
              <a:rPr sz="1250" b="0" i="0">
                <a:solidFill>
                  <a:srgbClr val="5B6B80"/>
                </a:solidFill>
                <a:latin typeface="Calibri"/>
              </a:rPr>
              <a:t> · </a:t>
            </a:r>
            <a:r>
              <a:rPr sz="1250" b="1" i="0">
                <a:solidFill>
                  <a:srgbClr val="5B6B80"/>
                </a:solidFill>
                <a:latin typeface="Calibri"/>
              </a:rPr>
              <a:t>LwIP yok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5B6B80"/>
                </a:solidFill>
                <a:latin typeface="Calibri"/>
              </a:rPr>
              <a:t>– </a:t>
            </a:r>
            <a:r>
              <a:rPr sz="1250" b="0" i="0">
                <a:solidFill>
                  <a:srgbClr val="5B6B80"/>
                </a:solidFill>
                <a:latin typeface="Calibri"/>
              </a:rPr>
              <a:t>ARP / ICMP / UDP </a:t>
            </a:r>
            <a:r>
              <a:rPr sz="1250" b="1" i="0">
                <a:solidFill>
                  <a:srgbClr val="5B6B80"/>
                </a:solidFill>
                <a:latin typeface="Calibri"/>
              </a:rPr>
              <a:t>elle yazılmış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5B6B80"/>
                </a:solidFill>
                <a:latin typeface="Calibri"/>
              </a:rPr>
              <a:t>– </a:t>
            </a:r>
            <a:r>
              <a:rPr sz="1250" b="0" i="0">
                <a:solidFill>
                  <a:srgbClr val="5B6B80"/>
                </a:solidFill>
                <a:latin typeface="Calibri"/>
              </a:rPr>
              <a:t>İsteğe bağlı </a:t>
            </a:r>
            <a:r>
              <a:rPr sz="1250" b="1" i="0">
                <a:solidFill>
                  <a:srgbClr val="5B6B80"/>
                </a:solidFill>
                <a:latin typeface="Calibri"/>
              </a:rPr>
              <a:t>IAP</a:t>
            </a:r>
            <a:r>
              <a:rPr sz="1250" b="0" i="0">
                <a:solidFill>
                  <a:srgbClr val="5B6B80"/>
                </a:solidFill>
                <a:latin typeface="Calibri"/>
              </a:rPr>
              <a:t> bootloader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103120"/>
            <a:ext cx="5455767" cy="3291840"/>
          </a:xfrm>
          <a:prstGeom prst="roundRect">
            <a:avLst>
              <a:gd name="adj" fmla="val 45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34175" y="2304288"/>
            <a:ext cx="5053431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1" i="0">
                <a:solidFill>
                  <a:srgbClr val="0E93B4"/>
                </a:solidFill>
                <a:latin typeface="Consolas"/>
              </a:rPr>
              <a:t>MASAÜSTÜ TARAF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4175" y="2578608"/>
            <a:ext cx="5053431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101826"/>
                </a:solidFill>
                <a:latin typeface="Calibri"/>
              </a:rPr>
              <a:t>E-AETIS GUI  (Python / PyQt5)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4175" y="2962656"/>
            <a:ext cx="5053431" cy="22311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250" b="0" i="0">
                <a:solidFill>
                  <a:srgbClr val="5B6B80"/>
                </a:solidFill>
                <a:latin typeface="Calibri"/>
              </a:rPr>
              <a:t>– </a:t>
            </a:r>
            <a:r>
              <a:rPr sz="1250" b="1" i="0">
                <a:solidFill>
                  <a:srgbClr val="5B6B80"/>
                </a:solidFill>
                <a:latin typeface="Calibri"/>
              </a:rPr>
              <a:t>UDP</a:t>
            </a:r>
            <a:r>
              <a:rPr sz="1250" b="0" i="0">
                <a:solidFill>
                  <a:srgbClr val="5B6B80"/>
                </a:solidFill>
                <a:latin typeface="Calibri"/>
              </a:rPr>
              <a:t> üzerinden kartla konuşur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5B6B80"/>
                </a:solidFill>
                <a:latin typeface="Calibri"/>
              </a:rPr>
              <a:t>– </a:t>
            </a:r>
            <a:r>
              <a:rPr sz="1250" b="0" i="0">
                <a:solidFill>
                  <a:srgbClr val="5B6B80"/>
                </a:solidFill>
                <a:latin typeface="Calibri"/>
              </a:rPr>
              <a:t>Telemetri, performans/jitter ölçümü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5B6B80"/>
                </a:solidFill>
                <a:latin typeface="Calibri"/>
              </a:rPr>
              <a:t>– </a:t>
            </a:r>
            <a:r>
              <a:rPr sz="1250" b="1" i="0">
                <a:solidFill>
                  <a:srgbClr val="5B6B80"/>
                </a:solidFill>
                <a:latin typeface="Calibri"/>
              </a:rPr>
              <a:t>Hata enjeksiyonu</a:t>
            </a:r>
            <a:r>
              <a:rPr sz="1250" b="0" i="0">
                <a:solidFill>
                  <a:srgbClr val="5B6B80"/>
                </a:solidFill>
                <a:latin typeface="Calibri"/>
              </a:rPr>
              <a:t> (fuzz testi)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5B6B80"/>
                </a:solidFill>
                <a:latin typeface="Calibri"/>
              </a:rPr>
              <a:t>– </a:t>
            </a:r>
            <a:r>
              <a:rPr sz="1250" b="0" i="0">
                <a:solidFill>
                  <a:srgbClr val="5B6B80"/>
                </a:solidFill>
                <a:latin typeface="Calibri"/>
              </a:rPr>
              <a:t>Ağdan </a:t>
            </a:r>
            <a:r>
              <a:rPr sz="1250" b="1" i="0">
                <a:solidFill>
                  <a:srgbClr val="5B6B80"/>
                </a:solidFill>
                <a:latin typeface="Calibri"/>
              </a:rPr>
              <a:t>firmware güncelleme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9509522" y="5897880"/>
            <a:ext cx="2682173" cy="960120"/>
          </a:xfrm>
          <a:custGeom>
            <a:avLst/>
            <a:gdLst/>
            <a:ahLst/>
            <a:cxnLst/>
            <a:rect l="l" t="t" r="r" b="b"/>
            <a:pathLst>
              <a:path w="2682173" h="960120">
                <a:moveTo>
                  <a:pt x="2682173" y="0"/>
                </a:moveTo>
                <a:lnTo>
                  <a:pt x="853418" y="274320"/>
                </a:lnTo>
                <a:lnTo>
                  <a:pt x="1463003" y="651510"/>
                </a:lnTo>
                <a:lnTo>
                  <a:pt x="0" y="788670"/>
                </a:lnTo>
                <a:lnTo>
                  <a:pt x="0" y="960120"/>
                </a:lnTo>
                <a:lnTo>
                  <a:pt x="2682173" y="960120"/>
                </a:lnTo>
                <a:close/>
              </a:path>
            </a:pathLst>
          </a:custGeom>
          <a:solidFill>
            <a:srgbClr val="0046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5242428" y="0"/>
            <a:ext cx="853419" cy="377190"/>
          </a:xfrm>
          <a:prstGeom prst="line">
            <a:avLst/>
          </a:prstGeom>
          <a:ln w="9525">
            <a:solidFill>
              <a:srgbClr val="9A9A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242428" y="377190"/>
            <a:ext cx="1828755" cy="651510"/>
          </a:xfrm>
          <a:prstGeom prst="line">
            <a:avLst/>
          </a:prstGeom>
          <a:ln w="9525">
            <a:solidFill>
              <a:srgbClr val="9A9A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7071183" y="1028700"/>
            <a:ext cx="1950671" cy="1028700"/>
          </a:xfrm>
          <a:prstGeom prst="line">
            <a:avLst/>
          </a:prstGeom>
          <a:ln w="9525">
            <a:solidFill>
              <a:srgbClr val="9A9A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ehsim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41887" y="219456"/>
            <a:ext cx="365760" cy="23918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213287" y="61264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004694"/>
                </a:solidFill>
                <a:latin typeface="Calibri"/>
              </a:rPr>
              <a:t>EHSİM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47472"/>
            <a:ext cx="8778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 i="0">
                <a:solidFill>
                  <a:srgbClr val="0E93B4"/>
                </a:solidFill>
                <a:latin typeface="Consolas"/>
              </a:rPr>
              <a:t>03 · TASARIM FELSEFESI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8368"/>
            <a:ext cx="98755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01826"/>
                </a:solidFill>
                <a:latin typeface="Calibri"/>
              </a:rPr>
              <a:t>HAL_ETH, LwIP, FreeRTOS — bilinçli olarak yok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417320"/>
            <a:ext cx="10241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i="0">
                <a:solidFill>
                  <a:srgbClr val="5B6B80"/>
                </a:solidFill>
                <a:latin typeface="Calibri"/>
              </a:rPr>
              <a:t>Amaç ürünü hızlıca çıkarmak değildi; MAC / PHY / DMA seviyesinde ne olup bittiğini görebileceğim, öngörülebilir bir sistem kurmaktı.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0">
                <a:solidFill>
                  <a:srgbClr val="5B6B80"/>
                </a:solidFill>
                <a:latin typeface="Calibri"/>
              </a:rPr>
              <a:t>E-AETIS · Staj Sunumu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42855" y="6446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B6B80"/>
                </a:solidFill>
                <a:latin typeface="Calibri"/>
              </a:rPr>
              <a:t>04 / 18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02920" y="2057400"/>
          <a:ext cx="11185853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3453"/>
                <a:gridCol w="4586200"/>
                <a:gridCol w="4586200"/>
              </a:tblGrid>
              <a:tr h="518160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5B6B80"/>
                          </a:solidFill>
                          <a:latin typeface="Consolas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5B6B80"/>
                          </a:solidFill>
                          <a:latin typeface="Consolas"/>
                        </a:rPr>
                        <a:t>BU PROJE</a:t>
                      </a:r>
                    </a:p>
                  </a:txBody>
                  <a:tcPr marL="73152" marR="73152" marT="27432" marB="27432" anchor="ctr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5B6B80"/>
                          </a:solidFill>
                          <a:latin typeface="Consolas"/>
                        </a:rPr>
                        <a:t>HAZIR YIĞIN (HAL + LWIP + FREERTOS)</a:t>
                      </a:r>
                    </a:p>
                  </a:txBody>
                  <a:tcPr marL="73152" marR="73152" marT="27432" marB="27432" anchor="ctr">
                    <a:solidFill>
                      <a:srgbClr val="E7ECF5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01826"/>
                          </a:solidFill>
                          <a:latin typeface="Calibri"/>
                        </a:rPr>
                        <a:t>Şeffaflık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7936B"/>
                          </a:solidFill>
                          <a:latin typeface="Calibri"/>
                        </a:rPr>
                        <a:t>Her register erişimi görünür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B6720F"/>
                          </a:solidFill>
                          <a:latin typeface="Calibri"/>
                        </a:rPr>
                        <a:t>Üç kütüphanenin içine inmeden bilinmez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01826"/>
                          </a:solidFill>
                          <a:latin typeface="Calibri"/>
                        </a:rPr>
                        <a:t>Bellek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7936B"/>
                          </a:solidFill>
                          <a:latin typeface="Calibri"/>
                        </a:rPr>
                        <a:t>Statik, malloc yok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B6720F"/>
                          </a:solidFill>
                          <a:latin typeface="Calibri"/>
                        </a:rPr>
                        <a:t>Dinamik pbuf havuzu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01826"/>
                          </a:solidFill>
                          <a:latin typeface="Calibri"/>
                        </a:rPr>
                        <a:t>Zamanlama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7936B"/>
                          </a:solidFill>
                          <a:latin typeface="Calibri"/>
                        </a:rPr>
                        <a:t>Tek bağlam, deterministik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B6720F"/>
                          </a:solidFill>
                          <a:latin typeface="Calibri"/>
                        </a:rPr>
                        <a:t>Context-switch jitter'ı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01826"/>
                          </a:solidFill>
                          <a:latin typeface="Calibri"/>
                        </a:rPr>
                        <a:t>Taşınabilirlik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7936B"/>
                          </a:solidFill>
                          <a:latin typeface="Calibri"/>
                        </a:rPr>
                        <a:t>Tek config, 4 MCU × 3 PHY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B6720F"/>
                          </a:solidFill>
                          <a:latin typeface="Calibri"/>
                        </a:rPr>
                        <a:t>HAL ailelerde farklı API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01826"/>
                          </a:solidFill>
                          <a:latin typeface="Calibri"/>
                        </a:rPr>
                        <a:t>Kapsam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B6720F"/>
                          </a:solidFill>
                          <a:latin typeface="Calibri"/>
                        </a:rPr>
                        <a:t>Yalnızca ARP/ICMP/UDP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7936B"/>
                          </a:solidFill>
                          <a:latin typeface="Calibri"/>
                        </a:rPr>
                        <a:t>TCP/DHCP/DNS hazır gelir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9509522" y="5897880"/>
            <a:ext cx="2682173" cy="960120"/>
          </a:xfrm>
          <a:custGeom>
            <a:avLst/>
            <a:gdLst/>
            <a:ahLst/>
            <a:cxnLst/>
            <a:rect l="l" t="t" r="r" b="b"/>
            <a:pathLst>
              <a:path w="2682173" h="960120">
                <a:moveTo>
                  <a:pt x="2682173" y="0"/>
                </a:moveTo>
                <a:lnTo>
                  <a:pt x="853418" y="274320"/>
                </a:lnTo>
                <a:lnTo>
                  <a:pt x="1463003" y="651510"/>
                </a:lnTo>
                <a:lnTo>
                  <a:pt x="0" y="788670"/>
                </a:lnTo>
                <a:lnTo>
                  <a:pt x="0" y="960120"/>
                </a:lnTo>
                <a:lnTo>
                  <a:pt x="2682173" y="960120"/>
                </a:lnTo>
                <a:close/>
              </a:path>
            </a:pathLst>
          </a:custGeom>
          <a:solidFill>
            <a:srgbClr val="0046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5242428" y="0"/>
            <a:ext cx="853419" cy="377190"/>
          </a:xfrm>
          <a:prstGeom prst="line">
            <a:avLst/>
          </a:prstGeom>
          <a:ln w="9525">
            <a:solidFill>
              <a:srgbClr val="9A9A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242428" y="377190"/>
            <a:ext cx="1828755" cy="651510"/>
          </a:xfrm>
          <a:prstGeom prst="line">
            <a:avLst/>
          </a:prstGeom>
          <a:ln w="9525">
            <a:solidFill>
              <a:srgbClr val="9A9A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7071183" y="1028700"/>
            <a:ext cx="1950671" cy="1028700"/>
          </a:xfrm>
          <a:prstGeom prst="line">
            <a:avLst/>
          </a:prstGeom>
          <a:ln w="9525">
            <a:solidFill>
              <a:srgbClr val="9A9A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ehsim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41887" y="219456"/>
            <a:ext cx="365760" cy="23918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213287" y="61264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004694"/>
                </a:solidFill>
                <a:latin typeface="Calibri"/>
              </a:rPr>
              <a:t>EHSİM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47472"/>
            <a:ext cx="8778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 i="0">
                <a:solidFill>
                  <a:srgbClr val="0E93B4"/>
                </a:solidFill>
                <a:latin typeface="Consolas"/>
              </a:rPr>
              <a:t>04 · MIMARI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8368"/>
            <a:ext cx="98755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01826"/>
                </a:solidFill>
                <a:latin typeface="Calibri"/>
              </a:rPr>
              <a:t>Üç bağımsız eksen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417320"/>
            <a:ext cx="10241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i="0">
                <a:solidFill>
                  <a:srgbClr val="5B6B80"/>
                </a:solidFill>
                <a:latin typeface="Calibri"/>
              </a:rPr>
              <a:t>Bir eksende yapılan değişiklik diğerlerini etkilemez — bu, yeni bir karta geçişi tek dosyalık bir işe indirir.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0">
                <a:solidFill>
                  <a:srgbClr val="5B6B80"/>
                </a:solidFill>
                <a:latin typeface="Calibri"/>
              </a:rPr>
              <a:t>E-AETIS · Staj Sunumu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42855" y="6446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B6B80"/>
                </a:solidFill>
                <a:latin typeface="Calibri"/>
              </a:rPr>
              <a:t>05 / 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011680"/>
            <a:ext cx="11185855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300" b="1" i="0">
                <a:solidFill>
                  <a:srgbClr val="004694"/>
                </a:solidFill>
                <a:latin typeface="Consolas"/>
              </a:rPr>
              <a:t>1.  </a:t>
            </a:r>
            <a:r>
              <a:rPr sz="1300" b="1" i="0">
                <a:solidFill>
                  <a:srgbClr val="101826"/>
                </a:solidFill>
                <a:latin typeface="Calibri"/>
              </a:rPr>
              <a:t>eth_config.h — tek giriş noktası</a:t>
            </a:r>
          </a:p>
          <a:p>
            <a:pPr>
              <a:spcAft>
                <a:spcPts val="900"/>
              </a:spcAft>
            </a:pPr>
            <a:r>
              <a:rPr sz="1100" b="0" i="0">
                <a:solidFill>
                  <a:srgbClr val="5B6B80"/>
                </a:solidFill>
                <a:latin typeface="Calibri"/>
              </a:rPr>
              <a:t>     Hangi MCU/PHY seçili olduğu burada belirlenir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04694"/>
                </a:solidFill>
                <a:latin typeface="Consolas"/>
              </a:rPr>
              <a:t>2.  </a:t>
            </a:r>
            <a:r>
              <a:rPr sz="1300" b="1" i="0">
                <a:solidFill>
                  <a:srgbClr val="101826"/>
                </a:solidFill>
                <a:latin typeface="Calibri"/>
              </a:rPr>
              <a:t>eth_device.h — MCU → yetenek eşlemesi</a:t>
            </a:r>
          </a:p>
          <a:p>
            <a:pPr>
              <a:spcAft>
                <a:spcPts val="900"/>
              </a:spcAft>
            </a:pPr>
            <a:r>
              <a:rPr sz="1100" b="0" i="0">
                <a:solidFill>
                  <a:srgbClr val="5B6B80"/>
                </a:solidFill>
                <a:latin typeface="Calibri"/>
              </a:rPr>
              <a:t>     MAC seçimi ve PHY seçimini iki ayrı eksene dallandırır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04694"/>
                </a:solidFill>
                <a:latin typeface="Consolas"/>
              </a:rPr>
              <a:t>3.  </a:t>
            </a:r>
            <a:r>
              <a:rPr sz="1300" b="1" i="0">
                <a:solidFill>
                  <a:srgbClr val="101826"/>
                </a:solidFill>
                <a:latin typeface="Calibri"/>
              </a:rPr>
              <a:t>MAC Port Ekseni</a:t>
            </a:r>
          </a:p>
          <a:p>
            <a:pPr>
              <a:spcAft>
                <a:spcPts val="900"/>
              </a:spcAft>
            </a:pPr>
            <a:r>
              <a:rPr sz="1100" b="0" i="0">
                <a:solidFill>
                  <a:srgbClr val="5B6B80"/>
                </a:solidFill>
                <a:latin typeface="Calibri"/>
              </a:rPr>
              <a:t>     eth_port_eqos.c (H5/H7) veya eth_port_gmac.c (F4/F7) → sabit sözleşme: eth_port.h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04694"/>
                </a:solidFill>
                <a:latin typeface="Consolas"/>
              </a:rPr>
              <a:t>4.  </a:t>
            </a:r>
            <a:r>
              <a:rPr sz="1300" b="1" i="0">
                <a:solidFill>
                  <a:srgbClr val="101826"/>
                </a:solidFill>
                <a:latin typeface="Calibri"/>
              </a:rPr>
              <a:t>PHY Ekseni</a:t>
            </a:r>
          </a:p>
          <a:p>
            <a:pPr>
              <a:spcAft>
                <a:spcPts val="900"/>
              </a:spcAft>
            </a:pPr>
            <a:r>
              <a:rPr sz="1100" b="0" i="0">
                <a:solidFill>
                  <a:srgbClr val="5B6B80"/>
                </a:solidFill>
                <a:latin typeface="Calibri"/>
              </a:rPr>
              <a:t>     eth_phy_lan87xx.c (LAN8720A/8742A) veya eth_phy_ksz80xx.c (KSZ8081) → sabit sözleşme: eth_phy.h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04694"/>
                </a:solidFill>
                <a:latin typeface="Consolas"/>
              </a:rPr>
              <a:t>5.  </a:t>
            </a:r>
            <a:r>
              <a:rPr sz="1300" b="1" i="0">
                <a:solidFill>
                  <a:srgbClr val="101826"/>
                </a:solidFill>
                <a:latin typeface="Calibri"/>
              </a:rPr>
              <a:t>Çekirdek — donanımdan tamamen bağımsız</a:t>
            </a:r>
          </a:p>
          <a:p>
            <a:pPr>
              <a:spcAft>
                <a:spcPts val="900"/>
              </a:spcAft>
            </a:pPr>
            <a:r>
              <a:rPr sz="1100" b="0" i="0">
                <a:solidFill>
                  <a:srgbClr val="5B6B80"/>
                </a:solidFill>
                <a:latin typeface="Calibri"/>
              </a:rPr>
              <a:t>     eth_driver.c (ring + sahiplik) → eth_app.c (ARP/ICMP/UDP) → eth_iap.c (opsiyonel)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9509522" y="5897880"/>
            <a:ext cx="2682173" cy="960120"/>
          </a:xfrm>
          <a:custGeom>
            <a:avLst/>
            <a:gdLst/>
            <a:ahLst/>
            <a:cxnLst/>
            <a:rect l="l" t="t" r="r" b="b"/>
            <a:pathLst>
              <a:path w="2682173" h="960120">
                <a:moveTo>
                  <a:pt x="2682173" y="0"/>
                </a:moveTo>
                <a:lnTo>
                  <a:pt x="853418" y="274320"/>
                </a:lnTo>
                <a:lnTo>
                  <a:pt x="1463003" y="651510"/>
                </a:lnTo>
                <a:lnTo>
                  <a:pt x="0" y="788670"/>
                </a:lnTo>
                <a:lnTo>
                  <a:pt x="0" y="960120"/>
                </a:lnTo>
                <a:lnTo>
                  <a:pt x="2682173" y="960120"/>
                </a:lnTo>
                <a:close/>
              </a:path>
            </a:pathLst>
          </a:custGeom>
          <a:solidFill>
            <a:srgbClr val="0046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5242428" y="0"/>
            <a:ext cx="853419" cy="377190"/>
          </a:xfrm>
          <a:prstGeom prst="line">
            <a:avLst/>
          </a:prstGeom>
          <a:ln w="9525">
            <a:solidFill>
              <a:srgbClr val="9A9A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242428" y="377190"/>
            <a:ext cx="1828755" cy="651510"/>
          </a:xfrm>
          <a:prstGeom prst="line">
            <a:avLst/>
          </a:prstGeom>
          <a:ln w="9525">
            <a:solidFill>
              <a:srgbClr val="9A9A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7071183" y="1028700"/>
            <a:ext cx="1950671" cy="1028700"/>
          </a:xfrm>
          <a:prstGeom prst="line">
            <a:avLst/>
          </a:prstGeom>
          <a:ln w="9525">
            <a:solidFill>
              <a:srgbClr val="9A9A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ehsim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41887" y="219456"/>
            <a:ext cx="365760" cy="23918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213287" y="61264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004694"/>
                </a:solidFill>
                <a:latin typeface="Calibri"/>
              </a:rPr>
              <a:t>EHSİM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47472"/>
            <a:ext cx="8778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 i="0">
                <a:solidFill>
                  <a:srgbClr val="0E93B4"/>
                </a:solidFill>
                <a:latin typeface="Consolas"/>
              </a:rPr>
              <a:t>05 · TAŞINABILIRLIK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8368"/>
            <a:ext cx="98755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01826"/>
                </a:solidFill>
                <a:latin typeface="Calibri"/>
              </a:rPr>
              <a:t>Tek config dosyası, dört farklı işlemci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0">
                <a:solidFill>
                  <a:srgbClr val="5B6B80"/>
                </a:solidFill>
                <a:latin typeface="Calibri"/>
              </a:rPr>
              <a:t>E-AETIS · Staj Sunumu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42855" y="6446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B6B80"/>
                </a:solidFill>
                <a:latin typeface="Calibri"/>
              </a:rPr>
              <a:t>06 / 18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" y="1508760"/>
          <a:ext cx="11185853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89318"/>
                <a:gridCol w="2589318"/>
                <a:gridCol w="2900036"/>
                <a:gridCol w="3107181"/>
              </a:tblGrid>
              <a:tr h="438912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5B6B80"/>
                          </a:solidFill>
                          <a:latin typeface="Consolas"/>
                        </a:rPr>
                        <a:t>MCU</a:t>
                      </a:r>
                    </a:p>
                  </a:txBody>
                  <a:tcPr marL="73152" marR="73152" marT="27432" marB="27432" anchor="ctr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5B6B80"/>
                          </a:solidFill>
                          <a:latin typeface="Consolas"/>
                        </a:rPr>
                        <a:t>ÇEKIRDEK</a:t>
                      </a:r>
                    </a:p>
                  </a:txBody>
                  <a:tcPr marL="73152" marR="73152" marT="27432" marB="27432" anchor="ctr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5B6B80"/>
                          </a:solidFill>
                          <a:latin typeface="Consolas"/>
                        </a:rPr>
                        <a:t>MAC AILESI</a:t>
                      </a:r>
                    </a:p>
                  </a:txBody>
                  <a:tcPr marL="73152" marR="73152" marT="27432" marB="27432" anchor="ctr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5B6B80"/>
                          </a:solidFill>
                          <a:latin typeface="Consolas"/>
                        </a:rPr>
                        <a:t>PORT DOSYASI</a:t>
                      </a:r>
                    </a:p>
                  </a:txBody>
                  <a:tcPr marL="73152" marR="73152" marT="27432" marB="27432" anchor="ctr">
                    <a:solidFill>
                      <a:srgbClr val="E7ECF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01826"/>
                          </a:solidFill>
                          <a:latin typeface="Calibri"/>
                        </a:rPr>
                        <a:t>STM32H563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01826"/>
                          </a:solidFill>
                          <a:latin typeface="Calibri"/>
                        </a:rPr>
                        <a:t>Cortex-M33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01826"/>
                          </a:solidFill>
                          <a:latin typeface="Calibri"/>
                        </a:rPr>
                        <a:t>Synopsys EQOS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01826"/>
                          </a:solidFill>
                          <a:latin typeface="Calibri"/>
                        </a:rPr>
                        <a:t>eth_port_eqos.c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01826"/>
                          </a:solidFill>
                          <a:latin typeface="Calibri"/>
                        </a:rPr>
                        <a:t>STM32H743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01826"/>
                          </a:solidFill>
                          <a:latin typeface="Calibri"/>
                        </a:rPr>
                        <a:t>Cortex-M7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01826"/>
                          </a:solidFill>
                          <a:latin typeface="Calibri"/>
                        </a:rPr>
                        <a:t>Synopsys EQOS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01826"/>
                          </a:solidFill>
                          <a:latin typeface="Calibri"/>
                        </a:rPr>
                        <a:t>eth_port_eqos.c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01826"/>
                          </a:solidFill>
                          <a:latin typeface="Calibri"/>
                        </a:rPr>
                        <a:t>STM32F407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01826"/>
                          </a:solidFill>
                          <a:latin typeface="Calibri"/>
                        </a:rPr>
                        <a:t>Cortex-M4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01826"/>
                          </a:solidFill>
                          <a:latin typeface="Calibri"/>
                        </a:rPr>
                        <a:t>Klasik GMAC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01826"/>
                          </a:solidFill>
                          <a:latin typeface="Calibri"/>
                        </a:rPr>
                        <a:t>eth_port_gmac.c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01826"/>
                          </a:solidFill>
                          <a:latin typeface="Calibri"/>
                        </a:rPr>
                        <a:t>STM32F767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01826"/>
                          </a:solidFill>
                          <a:latin typeface="Calibri"/>
                        </a:rPr>
                        <a:t>Cortex-M7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01826"/>
                          </a:solidFill>
                          <a:latin typeface="Calibri"/>
                        </a:rPr>
                        <a:t>Klasik GMAC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01826"/>
                          </a:solidFill>
                          <a:latin typeface="Calibri"/>
                        </a:rPr>
                        <a:t>eth_port_gmac.c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502920" y="3931920"/>
            <a:ext cx="1435607" cy="310896"/>
          </a:xfrm>
          <a:prstGeom prst="roundRect">
            <a:avLst>
              <a:gd name="adj" fmla="val 50000"/>
            </a:avLst>
          </a:prstGeom>
          <a:solidFill>
            <a:srgbClr val="DFF2EA"/>
          </a:solidFill>
          <a:ln w="9525">
            <a:solidFill>
              <a:srgbClr val="1793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 i="0">
                <a:solidFill>
                  <a:srgbClr val="17936B"/>
                </a:solidFill>
                <a:latin typeface="Consolas"/>
              </a:rPr>
              <a:t>PHY: LAN8720A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66543" y="3931920"/>
            <a:ext cx="1435607" cy="310896"/>
          </a:xfrm>
          <a:prstGeom prst="roundRect">
            <a:avLst>
              <a:gd name="adj" fmla="val 50000"/>
            </a:avLst>
          </a:prstGeom>
          <a:solidFill>
            <a:srgbClr val="DFF2EA"/>
          </a:solidFill>
          <a:ln w="9525">
            <a:solidFill>
              <a:srgbClr val="1793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 i="0">
                <a:solidFill>
                  <a:srgbClr val="17936B"/>
                </a:solidFill>
                <a:latin typeface="Consolas"/>
              </a:rPr>
              <a:t>PHY: LAN8742A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30166" y="3931920"/>
            <a:ext cx="1353312" cy="310896"/>
          </a:xfrm>
          <a:prstGeom prst="roundRect">
            <a:avLst>
              <a:gd name="adj" fmla="val 50000"/>
            </a:avLst>
          </a:prstGeom>
          <a:solidFill>
            <a:srgbClr val="DFF2EA"/>
          </a:solidFill>
          <a:ln w="9525">
            <a:solidFill>
              <a:srgbClr val="1793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 i="0">
                <a:solidFill>
                  <a:srgbClr val="17936B"/>
                </a:solidFill>
                <a:latin typeface="Consolas"/>
              </a:rPr>
              <a:t>PHY: KSZ8081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480560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B6B80"/>
                </a:solidFill>
                <a:latin typeface="Calibri"/>
              </a:rPr>
              <a:t>Yeni bir MCU eklemek = </a:t>
            </a:r>
            <a:r>
              <a:rPr sz="1150" b="1" i="1">
                <a:solidFill>
                  <a:srgbClr val="5B6B80"/>
                </a:solidFill>
                <a:latin typeface="Calibri"/>
              </a:rPr>
              <a:t>eth_device.h</a:t>
            </a:r>
            <a:r>
              <a:rPr sz="1150" b="0" i="1">
                <a:solidFill>
                  <a:srgbClr val="5B6B80"/>
                </a:solidFill>
                <a:latin typeface="Calibri"/>
              </a:rPr>
              <a:t> içine birkaç satır. Port ve PHY dosyalarına </a:t>
            </a:r>
            <a:r>
              <a:rPr sz="1150" b="1" i="1">
                <a:solidFill>
                  <a:srgbClr val="5B6B80"/>
                </a:solidFill>
                <a:latin typeface="Calibri"/>
              </a:rPr>
              <a:t>hiç dokunulmaz.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9509522" y="5897880"/>
            <a:ext cx="2682173" cy="960120"/>
          </a:xfrm>
          <a:custGeom>
            <a:avLst/>
            <a:gdLst/>
            <a:ahLst/>
            <a:cxnLst/>
            <a:rect l="l" t="t" r="r" b="b"/>
            <a:pathLst>
              <a:path w="2682173" h="960120">
                <a:moveTo>
                  <a:pt x="2682173" y="0"/>
                </a:moveTo>
                <a:lnTo>
                  <a:pt x="853418" y="274320"/>
                </a:lnTo>
                <a:lnTo>
                  <a:pt x="1463003" y="651510"/>
                </a:lnTo>
                <a:lnTo>
                  <a:pt x="0" y="788670"/>
                </a:lnTo>
                <a:lnTo>
                  <a:pt x="0" y="960120"/>
                </a:lnTo>
                <a:lnTo>
                  <a:pt x="2682173" y="960120"/>
                </a:lnTo>
                <a:close/>
              </a:path>
            </a:pathLst>
          </a:custGeom>
          <a:solidFill>
            <a:srgbClr val="0046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5242428" y="0"/>
            <a:ext cx="853419" cy="377190"/>
          </a:xfrm>
          <a:prstGeom prst="line">
            <a:avLst/>
          </a:prstGeom>
          <a:ln w="9525">
            <a:solidFill>
              <a:srgbClr val="9A9A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242428" y="377190"/>
            <a:ext cx="1828755" cy="651510"/>
          </a:xfrm>
          <a:prstGeom prst="line">
            <a:avLst/>
          </a:prstGeom>
          <a:ln w="9525">
            <a:solidFill>
              <a:srgbClr val="9A9A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7071183" y="1028700"/>
            <a:ext cx="1950671" cy="1028700"/>
          </a:xfrm>
          <a:prstGeom prst="line">
            <a:avLst/>
          </a:prstGeom>
          <a:ln w="9525">
            <a:solidFill>
              <a:srgbClr val="9A9A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ehsim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41887" y="219456"/>
            <a:ext cx="365760" cy="23918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213287" y="61264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004694"/>
                </a:solidFill>
                <a:latin typeface="Calibri"/>
              </a:rPr>
              <a:t>EHSİM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47472"/>
            <a:ext cx="8778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 i="0">
                <a:solidFill>
                  <a:srgbClr val="0E93B4"/>
                </a:solidFill>
                <a:latin typeface="Consolas"/>
              </a:rPr>
              <a:t>06 · ÇEKIRDEK SÜRÜCÜ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8368"/>
            <a:ext cx="98755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01826"/>
                </a:solidFill>
                <a:latin typeface="Calibri"/>
              </a:rPr>
              <a:t>Paylaşılan halka, net kurallar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417320"/>
            <a:ext cx="10241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i="0">
                <a:solidFill>
                  <a:srgbClr val="5B6B80"/>
                </a:solidFill>
                <a:latin typeface="Calibri"/>
              </a:rPr>
              <a:t>8 elemanlı RX descriptor halkası (ring) — her eleman ya DMA'nın ya CPU'nun sahipliğindedir, ikisi asla aynı anda değil.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0">
                <a:solidFill>
                  <a:srgbClr val="5B6B80"/>
                </a:solidFill>
                <a:latin typeface="Calibri"/>
              </a:rPr>
              <a:t>E-AETIS · Staj Sunumu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42855" y="6446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B6B80"/>
                </a:solidFill>
                <a:latin typeface="Calibri"/>
              </a:rPr>
              <a:t>07 / 18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148840"/>
            <a:ext cx="3545738" cy="3200400"/>
          </a:xfrm>
          <a:prstGeom prst="roundRect">
            <a:avLst>
              <a:gd name="adj" fmla="val 45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" y="2350008"/>
            <a:ext cx="314340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101826"/>
                </a:solidFill>
                <a:latin typeface="Calibri"/>
              </a:rPr>
              <a:t>01  Zero-copy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2734056"/>
            <a:ext cx="3143402" cy="2414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 i="0">
                <a:solidFill>
                  <a:srgbClr val="5B6B80"/>
                </a:solidFill>
                <a:latin typeface="Calibri"/>
              </a:rPr>
              <a:t>DMA'nın tamponuna doğrudan yazılır — aradan </a:t>
            </a:r>
            <a:r>
              <a:rPr sz="1250" b="1" i="0">
                <a:solidFill>
                  <a:srgbClr val="5B6B80"/>
                </a:solidFill>
                <a:latin typeface="Calibri"/>
              </a:rPr>
              <a:t>memcpy</a:t>
            </a:r>
            <a:r>
              <a:rPr sz="1250" b="0" i="0">
                <a:solidFill>
                  <a:srgbClr val="5B6B80"/>
                </a:solidFill>
                <a:latin typeface="Calibri"/>
              </a:rPr>
              <a:t> geçmez.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22978" y="2148840"/>
            <a:ext cx="3545738" cy="3200400"/>
          </a:xfrm>
          <a:prstGeom prst="roundRect">
            <a:avLst>
              <a:gd name="adj" fmla="val 45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4146" y="2350008"/>
            <a:ext cx="314340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101826"/>
                </a:solidFill>
                <a:latin typeface="Calibri"/>
              </a:rPr>
              <a:t>02  OWN biti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4146" y="2734056"/>
            <a:ext cx="3143402" cy="2414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 i="0">
                <a:solidFill>
                  <a:srgbClr val="5B6B80"/>
                </a:solidFill>
                <a:latin typeface="Calibri"/>
              </a:rPr>
              <a:t>CPU ve DMA aynı descriptor dizisini tek bir sahiplik bitiyle paylaşır — kesme olmadan bile veri yarışı oluşmaz.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43036" y="2148840"/>
            <a:ext cx="3545738" cy="3200400"/>
          </a:xfrm>
          <a:prstGeom prst="roundRect">
            <a:avLst>
              <a:gd name="adj" fmla="val 45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44204" y="2350008"/>
            <a:ext cx="314340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101826"/>
                </a:solidFill>
                <a:latin typeface="Calibri"/>
              </a:rPr>
              <a:t>03  MPU + non-cacheable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44204" y="2734056"/>
            <a:ext cx="3143402" cy="2414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 i="0">
                <a:solidFill>
                  <a:srgbClr val="5B6B80"/>
                </a:solidFill>
                <a:latin typeface="Calibri"/>
              </a:rPr>
              <a:t>DMA'nın yazdığı veri CPU cache'ten değil, doğrudan bellekten okunur.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9509522" y="5897880"/>
            <a:ext cx="2682173" cy="960120"/>
          </a:xfrm>
          <a:custGeom>
            <a:avLst/>
            <a:gdLst/>
            <a:ahLst/>
            <a:cxnLst/>
            <a:rect l="l" t="t" r="r" b="b"/>
            <a:pathLst>
              <a:path w="2682173" h="960120">
                <a:moveTo>
                  <a:pt x="2682173" y="0"/>
                </a:moveTo>
                <a:lnTo>
                  <a:pt x="853418" y="274320"/>
                </a:lnTo>
                <a:lnTo>
                  <a:pt x="1463003" y="651510"/>
                </a:lnTo>
                <a:lnTo>
                  <a:pt x="0" y="788670"/>
                </a:lnTo>
                <a:lnTo>
                  <a:pt x="0" y="960120"/>
                </a:lnTo>
                <a:lnTo>
                  <a:pt x="2682173" y="960120"/>
                </a:lnTo>
                <a:close/>
              </a:path>
            </a:pathLst>
          </a:custGeom>
          <a:solidFill>
            <a:srgbClr val="0046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5242428" y="0"/>
            <a:ext cx="853419" cy="377190"/>
          </a:xfrm>
          <a:prstGeom prst="line">
            <a:avLst/>
          </a:prstGeom>
          <a:ln w="9525">
            <a:solidFill>
              <a:srgbClr val="9A9A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242428" y="377190"/>
            <a:ext cx="1828755" cy="651510"/>
          </a:xfrm>
          <a:prstGeom prst="line">
            <a:avLst/>
          </a:prstGeom>
          <a:ln w="9525">
            <a:solidFill>
              <a:srgbClr val="9A9A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7071183" y="1028700"/>
            <a:ext cx="1950671" cy="1028700"/>
          </a:xfrm>
          <a:prstGeom prst="line">
            <a:avLst/>
          </a:prstGeom>
          <a:ln w="9525">
            <a:solidFill>
              <a:srgbClr val="9A9A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ehsim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41887" y="219456"/>
            <a:ext cx="365760" cy="23918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213287" y="61264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004694"/>
                </a:solidFill>
                <a:latin typeface="Calibri"/>
              </a:rPr>
              <a:t>EHSİM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47472"/>
            <a:ext cx="8778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 i="0">
                <a:solidFill>
                  <a:srgbClr val="0E93B4"/>
                </a:solidFill>
                <a:latin typeface="Consolas"/>
              </a:rPr>
              <a:t>07 · UYGULAMA KATMANI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8368"/>
            <a:ext cx="98755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01826"/>
                </a:solidFill>
                <a:latin typeface="Calibri"/>
              </a:rPr>
              <a:t>Paket işleme akışı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0">
                <a:solidFill>
                  <a:srgbClr val="5B6B80"/>
                </a:solidFill>
                <a:latin typeface="Calibri"/>
              </a:rPr>
              <a:t>E-AETIS · Staj Sunumu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42855" y="6446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B6B80"/>
                </a:solidFill>
                <a:latin typeface="Calibri"/>
              </a:rPr>
              <a:t>08 / 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1554480"/>
            <a:ext cx="11185855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5B6B80"/>
                </a:solidFill>
                <a:latin typeface="Consolas"/>
              </a:rPr>
              <a:t/>
            </a:r>
            <a:r>
              <a:rPr sz="1300" b="0" i="0">
                <a:solidFill>
                  <a:srgbClr val="101826"/>
                </a:solidFill>
                <a:latin typeface="Calibri"/>
              </a:rPr>
              <a:t>Gelen çerçeve (zero-copy, DMA) → </a:t>
            </a:r>
            <a:r>
              <a:rPr sz="1300" b="1" i="0">
                <a:solidFill>
                  <a:srgbClr val="101826"/>
                </a:solidFill>
                <a:latin typeface="Calibri"/>
              </a:rPr>
              <a:t>EtherType?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5B6B80"/>
                </a:solidFill>
                <a:latin typeface="Consolas"/>
              </a:rPr>
              <a:t>     └─ </a:t>
            </a:r>
            <a:r>
              <a:rPr sz="1300" b="0" i="0">
                <a:solidFill>
                  <a:srgbClr val="101826"/>
                </a:solidFill>
                <a:latin typeface="Calibri"/>
              </a:rPr>
              <a:t>ARP  →  arp_handle  (cache güncelle + yanıt)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5B6B80"/>
                </a:solidFill>
                <a:latin typeface="Consolas"/>
              </a:rPr>
              <a:t>     └─ </a:t>
            </a:r>
            <a:r>
              <a:rPr sz="1300" b="0" i="0">
                <a:solidFill>
                  <a:srgbClr val="101826"/>
                </a:solidFill>
                <a:latin typeface="Calibri"/>
              </a:rPr>
              <a:t>IPv4  →  </a:t>
            </a:r>
            <a:r>
              <a:rPr sz="1300" b="1" i="0">
                <a:solidFill>
                  <a:srgbClr val="101826"/>
                </a:solidFill>
                <a:latin typeface="Calibri"/>
              </a:rPr>
              <a:t>IP proto?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5B6B80"/>
                </a:solidFill>
                <a:latin typeface="Consolas"/>
              </a:rPr>
              <a:t>          └─ </a:t>
            </a:r>
            <a:r>
              <a:rPr sz="1300" b="0" i="0">
                <a:solidFill>
                  <a:srgbClr val="101826"/>
                </a:solidFill>
                <a:latin typeface="Calibri"/>
              </a:rPr>
              <a:t>parçalanmış (MF=1 / offset≠0)  →  sessizce düşür — reassembly yok, </a:t>
            </a:r>
            <a:r>
              <a:rPr sz="1300" b="1" i="0">
                <a:solidFill>
                  <a:srgbClr val="101826"/>
                </a:solidFill>
                <a:latin typeface="Calibri"/>
              </a:rPr>
              <a:t>bilinçli kısıt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5B6B80"/>
                </a:solidFill>
                <a:latin typeface="Consolas"/>
              </a:rPr>
              <a:t>          └─ </a:t>
            </a:r>
            <a:r>
              <a:rPr sz="1300" b="0" i="0">
                <a:solidFill>
                  <a:srgbClr val="101826"/>
                </a:solidFill>
                <a:latin typeface="Calibri"/>
              </a:rPr>
              <a:t>ICMP echo  →  icmp_handle  (yanıt hesapla)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5B6B80"/>
                </a:solidFill>
                <a:latin typeface="Consolas"/>
              </a:rPr>
              <a:t>          └─ </a:t>
            </a:r>
            <a:r>
              <a:rPr sz="1300" b="0" i="0">
                <a:solidFill>
                  <a:srgbClr val="101826"/>
                </a:solidFill>
                <a:latin typeface="Calibri"/>
              </a:rPr>
              <a:t>UDP  →  </a:t>
            </a:r>
            <a:r>
              <a:rPr sz="1300" b="1" i="0">
                <a:solidFill>
                  <a:srgbClr val="101826"/>
                </a:solidFill>
                <a:latin typeface="Calibri"/>
              </a:rPr>
              <a:t>hedef port?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5B6B80"/>
                </a:solidFill>
                <a:latin typeface="Consolas"/>
              </a:rPr>
              <a:t>               └─ </a:t>
            </a:r>
            <a:r>
              <a:rPr sz="1300" b="0" i="0">
                <a:solidFill>
                  <a:srgbClr val="101826"/>
                </a:solidFill>
                <a:latin typeface="Calibri"/>
              </a:rPr>
              <a:t>5000  →  eaetis_handle  (komut dağıtımı)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5B6B80"/>
                </a:solidFill>
                <a:latin typeface="Consolas"/>
              </a:rPr>
              <a:t>               └─ </a:t>
            </a:r>
            <a:r>
              <a:rPr sz="1300" b="0" i="0">
                <a:solidFill>
                  <a:srgbClr val="101826"/>
                </a:solidFill>
                <a:latin typeface="Calibri"/>
              </a:rPr>
              <a:t>diğer  →  kullanıcı callback  (RegisterUDPCallback)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9509522" y="5897880"/>
            <a:ext cx="2682173" cy="960120"/>
          </a:xfrm>
          <a:custGeom>
            <a:avLst/>
            <a:gdLst/>
            <a:ahLst/>
            <a:cxnLst/>
            <a:rect l="l" t="t" r="r" b="b"/>
            <a:pathLst>
              <a:path w="2682173" h="960120">
                <a:moveTo>
                  <a:pt x="2682173" y="0"/>
                </a:moveTo>
                <a:lnTo>
                  <a:pt x="853418" y="274320"/>
                </a:lnTo>
                <a:lnTo>
                  <a:pt x="1463003" y="651510"/>
                </a:lnTo>
                <a:lnTo>
                  <a:pt x="0" y="788670"/>
                </a:lnTo>
                <a:lnTo>
                  <a:pt x="0" y="960120"/>
                </a:lnTo>
                <a:lnTo>
                  <a:pt x="2682173" y="960120"/>
                </a:lnTo>
                <a:close/>
              </a:path>
            </a:pathLst>
          </a:custGeom>
          <a:solidFill>
            <a:srgbClr val="0046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5242428" y="0"/>
            <a:ext cx="853419" cy="377190"/>
          </a:xfrm>
          <a:prstGeom prst="line">
            <a:avLst/>
          </a:prstGeom>
          <a:ln w="9525">
            <a:solidFill>
              <a:srgbClr val="9A9A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242428" y="377190"/>
            <a:ext cx="1828755" cy="651510"/>
          </a:xfrm>
          <a:prstGeom prst="line">
            <a:avLst/>
          </a:prstGeom>
          <a:ln w="9525">
            <a:solidFill>
              <a:srgbClr val="9A9A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7071183" y="1028700"/>
            <a:ext cx="1950671" cy="1028700"/>
          </a:xfrm>
          <a:prstGeom prst="line">
            <a:avLst/>
          </a:prstGeom>
          <a:ln w="9525">
            <a:solidFill>
              <a:srgbClr val="9A9A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ehsim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41887" y="219456"/>
            <a:ext cx="365760" cy="23918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213287" y="61264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004694"/>
                </a:solidFill>
                <a:latin typeface="Calibri"/>
              </a:rPr>
              <a:t>EHSİM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47472"/>
            <a:ext cx="8778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 i="0">
                <a:solidFill>
                  <a:srgbClr val="0E93B4"/>
                </a:solidFill>
                <a:latin typeface="Consolas"/>
              </a:rPr>
              <a:t>08 · IAP BOOTLOADER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8368"/>
            <a:ext cx="98755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01826"/>
                </a:solidFill>
                <a:latin typeface="Calibri"/>
              </a:rPr>
              <a:t>Ağ üzerinden firmware güncelleme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0">
                <a:solidFill>
                  <a:srgbClr val="5B6B80"/>
                </a:solidFill>
                <a:latin typeface="Calibri"/>
              </a:rPr>
              <a:t>E-AETIS · Staj Sunumu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42855" y="6446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B6B80"/>
                </a:solidFill>
                <a:latin typeface="Calibri"/>
              </a:rPr>
              <a:t>09 / 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1508760"/>
            <a:ext cx="11185855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300" b="1" i="0">
                <a:solidFill>
                  <a:srgbClr val="004694"/>
                </a:solidFill>
                <a:latin typeface="Consolas"/>
              </a:rPr>
              <a:t>1.  </a:t>
            </a:r>
            <a:r>
              <a:rPr sz="1300" b="1" i="0">
                <a:solidFill>
                  <a:srgbClr val="101826"/>
                </a:solidFill>
                <a:latin typeface="Calibri"/>
              </a:rPr>
              <a:t>GUI → Kart: START_IAP | SIZE:n | CRC:0x..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04694"/>
                </a:solidFill>
                <a:latin typeface="Consolas"/>
              </a:rPr>
              <a:t>2.  </a:t>
            </a:r>
            <a:r>
              <a:rPr sz="1300" b="1" i="0">
                <a:solidFill>
                  <a:srgbClr val="101826"/>
                </a:solidFill>
                <a:latin typeface="Calibri"/>
              </a:rPr>
              <a:t>Kart → GUI: IAP_READY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04694"/>
                </a:solidFill>
                <a:latin typeface="Consolas"/>
              </a:rPr>
              <a:t>3.  </a:t>
            </a:r>
            <a:r>
              <a:rPr sz="1300" b="1" i="0">
                <a:solidFill>
                  <a:srgbClr val="101826"/>
                </a:solidFill>
                <a:latin typeface="Calibri"/>
              </a:rPr>
              <a:t>Döngü (512B parça, en fazla 3 deneme): FW_DATA | SEQ:i  →  ACK:i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04694"/>
                </a:solidFill>
                <a:latin typeface="Consolas"/>
              </a:rPr>
              <a:t>4.  </a:t>
            </a:r>
            <a:r>
              <a:rPr sz="1300" b="1" i="0">
                <a:solidFill>
                  <a:srgbClr val="101826"/>
                </a:solidFill>
                <a:latin typeface="Calibri"/>
              </a:rPr>
              <a:t>GUI → Kart: END_IAP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04694"/>
                </a:solidFill>
                <a:latin typeface="Consolas"/>
              </a:rPr>
              <a:t>5.  </a:t>
            </a:r>
            <a:r>
              <a:rPr sz="1300" b="1" i="0">
                <a:solidFill>
                  <a:srgbClr val="101826"/>
                </a:solidFill>
                <a:latin typeface="Calibri"/>
              </a:rPr>
              <a:t>Kart: CRC32 doğrula → VTOR taşı → MSP ayarla → yeni uygulamaya atla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04694"/>
                </a:solidFill>
                <a:latin typeface="Consolas"/>
              </a:rPr>
              <a:t>6.  </a:t>
            </a:r>
            <a:r>
              <a:rPr sz="1300" b="1" i="0">
                <a:solidFill>
                  <a:srgbClr val="101826"/>
                </a:solidFill>
                <a:latin typeface="Calibri"/>
              </a:rPr>
              <a:t>Kart → GUI: FLASH_SUCCESS | JUMP_OK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074920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B6B80"/>
                </a:solidFill>
                <a:latin typeface="Calibri"/>
              </a:rPr>
              <a:t>Tek banka, kimlik doğrulama yok — yalnızca CRC32 bütünlük kontrolü. Sadece izole/güvenilir ağlarda kullanılmalı.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9509522" y="5897880"/>
            <a:ext cx="2682173" cy="960120"/>
          </a:xfrm>
          <a:custGeom>
            <a:avLst/>
            <a:gdLst/>
            <a:ahLst/>
            <a:cxnLst/>
            <a:rect l="l" t="t" r="r" b="b"/>
            <a:pathLst>
              <a:path w="2682173" h="960120">
                <a:moveTo>
                  <a:pt x="2682173" y="0"/>
                </a:moveTo>
                <a:lnTo>
                  <a:pt x="853418" y="274320"/>
                </a:lnTo>
                <a:lnTo>
                  <a:pt x="1463003" y="651510"/>
                </a:lnTo>
                <a:lnTo>
                  <a:pt x="0" y="788670"/>
                </a:lnTo>
                <a:lnTo>
                  <a:pt x="0" y="960120"/>
                </a:lnTo>
                <a:lnTo>
                  <a:pt x="2682173" y="960120"/>
                </a:lnTo>
                <a:close/>
              </a:path>
            </a:pathLst>
          </a:custGeom>
          <a:solidFill>
            <a:srgbClr val="0046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5242428" y="0"/>
            <a:ext cx="853419" cy="377190"/>
          </a:xfrm>
          <a:prstGeom prst="line">
            <a:avLst/>
          </a:prstGeom>
          <a:ln w="9525">
            <a:solidFill>
              <a:srgbClr val="9A9A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242428" y="377190"/>
            <a:ext cx="1828755" cy="651510"/>
          </a:xfrm>
          <a:prstGeom prst="line">
            <a:avLst/>
          </a:prstGeom>
          <a:ln w="9525">
            <a:solidFill>
              <a:srgbClr val="9A9A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7071183" y="1028700"/>
            <a:ext cx="1950671" cy="1028700"/>
          </a:xfrm>
          <a:prstGeom prst="line">
            <a:avLst/>
          </a:prstGeom>
          <a:ln w="9525">
            <a:solidFill>
              <a:srgbClr val="9A9A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ehsim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41887" y="219456"/>
            <a:ext cx="365760" cy="23918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213287" y="61264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004694"/>
                </a:solidFill>
                <a:latin typeface="Calibri"/>
              </a:rPr>
              <a:t>EHSİM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47472"/>
            <a:ext cx="8778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 i="0">
                <a:solidFill>
                  <a:srgbClr val="0E93B4"/>
                </a:solidFill>
                <a:latin typeface="Consolas"/>
              </a:rPr>
              <a:t>09 · TEST ARAYÜZÜ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8368"/>
            <a:ext cx="98755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01826"/>
                </a:solidFill>
                <a:latin typeface="Calibri"/>
              </a:rPr>
              <a:t>Geliştirdiğim arayüzle kart canlı olarak izlenip test edilir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417320"/>
            <a:ext cx="10241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i="0">
                <a:solidFill>
                  <a:srgbClr val="5B6B80"/>
                </a:solidFill>
                <a:latin typeface="Calibri"/>
              </a:rPr>
              <a:t>Yedi ayrı sekme: kart verilerini izleme, bağlantı testi, performans ölçümü, arıza testi ve yazılım güncelleme.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0">
                <a:solidFill>
                  <a:srgbClr val="5B6B80"/>
                </a:solidFill>
                <a:latin typeface="Calibri"/>
              </a:rPr>
              <a:t>E-AETIS · Staj Sunumu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42855" y="6446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B6B80"/>
                </a:solidFill>
                <a:latin typeface="Calibri"/>
              </a:rPr>
              <a:t>10 / 18</a:t>
            </a:r>
          </a:p>
        </p:txBody>
      </p:sp>
      <p:pic>
        <p:nvPicPr>
          <p:cNvPr id="14" name="Picture 13" descr="gu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8010" y="2057400"/>
            <a:ext cx="4804860" cy="3291840"/>
          </a:xfrm>
          <a:prstGeom prst="rect">
            <a:avLst/>
          </a:prstGeom>
          <a:ln w="12700">
            <a:solidFill>
              <a:srgbClr val="DBE1EA"/>
            </a:solidFill>
          </a:ln>
        </p:spPr>
      </p:pic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812280" y="2057400"/>
          <a:ext cx="4876494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422"/>
                <a:gridCol w="2682072"/>
              </a:tblGrid>
              <a:tr h="411480">
                <a:tc>
                  <a:txBody>
                    <a:bodyPr/>
                    <a:lstStyle/>
                    <a:p>
                      <a:r>
                        <a:rPr sz="900" b="1" i="0">
                          <a:solidFill>
                            <a:srgbClr val="5B6B80"/>
                          </a:solidFill>
                          <a:latin typeface="Consolas"/>
                        </a:rPr>
                        <a:t>SEKME</a:t>
                      </a:r>
                    </a:p>
                  </a:txBody>
                  <a:tcPr marL="73152" marR="73152" marT="27432" marB="27432" anchor="ctr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 i="0">
                          <a:solidFill>
                            <a:srgbClr val="5B6B80"/>
                          </a:solidFill>
                          <a:latin typeface="Consolas"/>
                        </a:rPr>
                        <a:t>İŞLEV</a:t>
                      </a:r>
                    </a:p>
                  </a:txBody>
                  <a:tcPr marL="73152" marR="73152" marT="27432" marB="27432" anchor="ctr">
                    <a:solidFill>
                      <a:srgbClr val="E7EC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01826"/>
                          </a:solidFill>
                          <a:latin typeface="Calibri"/>
                        </a:rPr>
                        <a:t>Kart G/Ç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01826"/>
                          </a:solidFill>
                          <a:latin typeface="Calibri"/>
                        </a:rPr>
                        <a:t>Otomatik değişken keşfi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01826"/>
                          </a:solidFill>
                          <a:latin typeface="Calibri"/>
                        </a:rPr>
                        <a:t>Ping (ICMP)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01826"/>
                          </a:solidFill>
                          <a:latin typeface="Calibri"/>
                        </a:rPr>
                        <a:t>Gecikme ölçümü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01826"/>
                          </a:solidFill>
                          <a:latin typeface="Calibri"/>
                        </a:rPr>
                        <a:t>UDP Konsol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01826"/>
                          </a:solidFill>
                          <a:latin typeface="Calibri"/>
                        </a:rPr>
                        <a:t>Serbest komut / log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01826"/>
                          </a:solidFill>
                          <a:latin typeface="Calibri"/>
                        </a:rPr>
                        <a:t>PHY / DMA Teşhis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01826"/>
                          </a:solidFill>
                          <a:latin typeface="Calibri"/>
                        </a:rPr>
                        <a:t>Register + istatistik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01826"/>
                          </a:solidFill>
                          <a:latin typeface="Calibri"/>
                        </a:rPr>
                        <a:t>Performans &amp; Jitter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01826"/>
                          </a:solidFill>
                          <a:latin typeface="Calibri"/>
                        </a:rPr>
                        <a:t>min / ort / p95 / max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01826"/>
                          </a:solidFill>
                          <a:latin typeface="Calibri"/>
                        </a:rPr>
                        <a:t>Hata Enjeksiyonu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01826"/>
                          </a:solidFill>
                          <a:latin typeface="Calibri"/>
                        </a:rPr>
                        <a:t>Fuzz + parçalanma testi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01826"/>
                          </a:solidFill>
                          <a:latin typeface="Calibri"/>
                        </a:rPr>
                        <a:t>Bootloader (IAP)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01826"/>
                          </a:solidFill>
                          <a:latin typeface="Calibri"/>
                        </a:rPr>
                        <a:t>Ağdan firmware güncelleme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9509522" y="5897880"/>
            <a:ext cx="2682173" cy="960120"/>
          </a:xfrm>
          <a:custGeom>
            <a:avLst/>
            <a:gdLst/>
            <a:ahLst/>
            <a:cxnLst/>
            <a:rect l="l" t="t" r="r" b="b"/>
            <a:pathLst>
              <a:path w="2682173" h="960120">
                <a:moveTo>
                  <a:pt x="2682173" y="0"/>
                </a:moveTo>
                <a:lnTo>
                  <a:pt x="853418" y="274320"/>
                </a:lnTo>
                <a:lnTo>
                  <a:pt x="1463003" y="651510"/>
                </a:lnTo>
                <a:lnTo>
                  <a:pt x="0" y="788670"/>
                </a:lnTo>
                <a:lnTo>
                  <a:pt x="0" y="960120"/>
                </a:lnTo>
                <a:lnTo>
                  <a:pt x="2682173" y="960120"/>
                </a:lnTo>
                <a:close/>
              </a:path>
            </a:pathLst>
          </a:custGeom>
          <a:solidFill>
            <a:srgbClr val="0046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5242428" y="0"/>
            <a:ext cx="853419" cy="377190"/>
          </a:xfrm>
          <a:prstGeom prst="line">
            <a:avLst/>
          </a:prstGeom>
          <a:ln w="9525">
            <a:solidFill>
              <a:srgbClr val="9A9A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242428" y="377190"/>
            <a:ext cx="1828755" cy="651510"/>
          </a:xfrm>
          <a:prstGeom prst="line">
            <a:avLst/>
          </a:prstGeom>
          <a:ln w="9525">
            <a:solidFill>
              <a:srgbClr val="9A9A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7071183" y="1028700"/>
            <a:ext cx="1950671" cy="1028700"/>
          </a:xfrm>
          <a:prstGeom prst="line">
            <a:avLst/>
          </a:prstGeom>
          <a:ln w="9525">
            <a:solidFill>
              <a:srgbClr val="9A9A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ehsim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41887" y="219456"/>
            <a:ext cx="365760" cy="23918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213287" y="61264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004694"/>
                </a:solidFill>
                <a:latin typeface="Calibri"/>
              </a:rPr>
              <a:t>EHSİM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47472"/>
            <a:ext cx="8778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 i="0">
                <a:solidFill>
                  <a:srgbClr val="0E93B4"/>
                </a:solidFill>
                <a:latin typeface="Consolas"/>
              </a:rPr>
              <a:t>10 · SÜREÇ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8368"/>
            <a:ext cx="98755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01826"/>
                </a:solidFill>
                <a:latin typeface="Calibri"/>
              </a:rPr>
              <a:t>Boş bir pencereden, ölçüm yapan bir araca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417320"/>
            <a:ext cx="10241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i="0">
                <a:solidFill>
                  <a:srgbClr val="5B6B80"/>
                </a:solidFill>
                <a:latin typeface="Calibri"/>
              </a:rPr>
              <a:t>Arayüz de sürücü gibi gün gün, sekme sekme büyüdü — her yeni test yeteneği kartta çalışır hale geldikçe eklendi.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0">
                <a:solidFill>
                  <a:srgbClr val="5B6B80"/>
                </a:solidFill>
                <a:latin typeface="Calibri"/>
              </a:rPr>
              <a:t>E-AETIS · Staj Sunumu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42855" y="6446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B6B80"/>
                </a:solidFill>
                <a:latin typeface="Calibri"/>
              </a:rPr>
              <a:t>11 / 18</a:t>
            </a:r>
          </a:p>
        </p:txBody>
      </p:sp>
      <p:pic>
        <p:nvPicPr>
          <p:cNvPr id="14" name="Picture 13" descr="24_agust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649" y="2057400"/>
            <a:ext cx="4288302" cy="2834640"/>
          </a:xfrm>
          <a:prstGeom prst="rect">
            <a:avLst/>
          </a:prstGeom>
          <a:ln w="12700">
            <a:solidFill>
              <a:srgbClr val="DBE1EA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502920" y="4946904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5B6B80"/>
                </a:solidFill>
                <a:latin typeface="Calibri"/>
              </a:rPr>
              <a:t>24 Ağustos · ilk iskelet</a:t>
            </a:r>
          </a:p>
        </p:txBody>
      </p:sp>
      <p:pic>
        <p:nvPicPr>
          <p:cNvPr id="16" name="Picture 15" descr="28_agustos_performa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5744" y="2057400"/>
            <a:ext cx="4288302" cy="2834640"/>
          </a:xfrm>
          <a:prstGeom prst="rect">
            <a:avLst/>
          </a:prstGeom>
          <a:ln w="12700">
            <a:solidFill>
              <a:srgbClr val="DBE1EA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6751015" y="4946904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5B6B80"/>
                </a:solidFill>
                <a:latin typeface="Calibri"/>
              </a:rPr>
              <a:t>28 Ağustos · canlı performans testi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9509522" y="5897880"/>
            <a:ext cx="2682173" cy="960120"/>
          </a:xfrm>
          <a:custGeom>
            <a:avLst/>
            <a:gdLst/>
            <a:ahLst/>
            <a:cxnLst/>
            <a:rect l="l" t="t" r="r" b="b"/>
            <a:pathLst>
              <a:path w="2682173" h="960120">
                <a:moveTo>
                  <a:pt x="2682173" y="0"/>
                </a:moveTo>
                <a:lnTo>
                  <a:pt x="853418" y="274320"/>
                </a:lnTo>
                <a:lnTo>
                  <a:pt x="1463003" y="651510"/>
                </a:lnTo>
                <a:lnTo>
                  <a:pt x="0" y="788670"/>
                </a:lnTo>
                <a:lnTo>
                  <a:pt x="0" y="960120"/>
                </a:lnTo>
                <a:lnTo>
                  <a:pt x="2682173" y="960120"/>
                </a:lnTo>
                <a:close/>
              </a:path>
            </a:pathLst>
          </a:custGeom>
          <a:solidFill>
            <a:srgbClr val="0046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5242428" y="0"/>
            <a:ext cx="853419" cy="377190"/>
          </a:xfrm>
          <a:prstGeom prst="line">
            <a:avLst/>
          </a:prstGeom>
          <a:ln w="9525">
            <a:solidFill>
              <a:srgbClr val="9A9A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242428" y="377190"/>
            <a:ext cx="1828755" cy="651510"/>
          </a:xfrm>
          <a:prstGeom prst="line">
            <a:avLst/>
          </a:prstGeom>
          <a:ln w="9525">
            <a:solidFill>
              <a:srgbClr val="9A9A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7071183" y="1028700"/>
            <a:ext cx="1950671" cy="1028700"/>
          </a:xfrm>
          <a:prstGeom prst="line">
            <a:avLst/>
          </a:prstGeom>
          <a:ln w="9525">
            <a:solidFill>
              <a:srgbClr val="9A9A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ehsim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41887" y="219456"/>
            <a:ext cx="365760" cy="23918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213287" y="61264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004694"/>
                </a:solidFill>
                <a:latin typeface="Calibri"/>
              </a:rPr>
              <a:t>EHSİM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47472"/>
            <a:ext cx="8778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 i="0">
                <a:solidFill>
                  <a:srgbClr val="0E93B4"/>
                </a:solidFill>
                <a:latin typeface="Consolas"/>
              </a:rPr>
              <a:t>11 · DOĞRULAMA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8368"/>
            <a:ext cx="98755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01826"/>
                </a:solidFill>
                <a:latin typeface="Calibri"/>
              </a:rPr>
              <a:t>Kartın üzerinde çalıştırıp gerçek verilerle ölçtüm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417320"/>
            <a:ext cx="10241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i="0">
                <a:solidFill>
                  <a:srgbClr val="5B6B80"/>
                </a:solidFill>
                <a:latin typeface="Calibri"/>
              </a:rPr>
              <a:t>"Çalışıyor gibi görünüyor" yeterli değildi — her iddiayı donanımda ölçüp kaydettim.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0">
                <a:solidFill>
                  <a:srgbClr val="5B6B80"/>
                </a:solidFill>
                <a:latin typeface="Calibri"/>
              </a:rPr>
              <a:t>E-AETIS · Staj Sunumu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42855" y="6446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B6B80"/>
                </a:solidFill>
                <a:latin typeface="Calibri"/>
              </a:rPr>
              <a:t>12 / 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057400"/>
            <a:ext cx="512064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300" b="1" i="0">
                <a:solidFill>
                  <a:srgbClr val="004694"/>
                </a:solidFill>
                <a:latin typeface="Consolas"/>
              </a:rPr>
              <a:t>1.  </a:t>
            </a:r>
            <a:r>
              <a:rPr sz="1300" b="1" i="0">
                <a:solidFill>
                  <a:srgbClr val="101826"/>
                </a:solidFill>
                <a:latin typeface="Calibri"/>
              </a:rPr>
              <a:t>MDIO alan yerleşimi</a:t>
            </a:r>
          </a:p>
          <a:p>
            <a:pPr>
              <a:spcAft>
                <a:spcPts val="900"/>
              </a:spcAft>
            </a:pPr>
            <a:r>
              <a:rPr sz="1100" b="0" i="0">
                <a:solidFill>
                  <a:srgbClr val="5B6B80"/>
                </a:solidFill>
                <a:latin typeface="Calibri"/>
              </a:rPr>
              <a:t>     MACMDIOAR register'ı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04694"/>
                </a:solidFill>
                <a:latin typeface="Consolas"/>
              </a:rPr>
              <a:t>2.  </a:t>
            </a:r>
            <a:r>
              <a:rPr sz="1300" b="1" i="0">
                <a:solidFill>
                  <a:srgbClr val="101826"/>
                </a:solidFill>
                <a:latin typeface="Calibri"/>
              </a:rPr>
              <a:t>RMII seçim kodu</a:t>
            </a:r>
          </a:p>
          <a:p>
            <a:pPr>
              <a:spcAft>
                <a:spcPts val="900"/>
              </a:spcAft>
            </a:pPr>
            <a:r>
              <a:rPr sz="1100" b="0" i="0">
                <a:solidFill>
                  <a:srgbClr val="5B6B80"/>
                </a:solidFill>
                <a:latin typeface="Calibri"/>
              </a:rPr>
              <a:t>     SBS→PMCR ETH_SEL_PHY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04694"/>
                </a:solidFill>
                <a:latin typeface="Consolas"/>
              </a:rPr>
              <a:t>3.  </a:t>
            </a:r>
            <a:r>
              <a:rPr sz="1300" b="1" i="0">
                <a:solidFill>
                  <a:srgbClr val="101826"/>
                </a:solidFill>
                <a:latin typeface="Calibri"/>
              </a:rPr>
              <a:t>DMA tail pointer semantiği</a:t>
            </a:r>
          </a:p>
          <a:p>
            <a:pPr>
              <a:spcAft>
                <a:spcPts val="900"/>
              </a:spcAft>
            </a:pPr>
            <a:r>
              <a:rPr sz="1100" b="0" i="0">
                <a:solidFill>
                  <a:srgbClr val="5B6B80"/>
                </a:solidFill>
                <a:latin typeface="Calibri"/>
              </a:rPr>
              <a:t>     DMACRXDTPR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04694"/>
                </a:solidFill>
                <a:latin typeface="Consolas"/>
              </a:rPr>
              <a:t>4.  </a:t>
            </a:r>
            <a:r>
              <a:rPr sz="1300" b="1" i="0">
                <a:solidFill>
                  <a:srgbClr val="101826"/>
                </a:solidFill>
                <a:latin typeface="Calibri"/>
              </a:rPr>
              <a:t>MPU alan yerleşimi</a:t>
            </a:r>
          </a:p>
          <a:p>
            <a:pPr>
              <a:spcAft>
                <a:spcPts val="900"/>
              </a:spcAft>
            </a:pPr>
            <a:r>
              <a:rPr sz="1100" b="0" i="0">
                <a:solidFill>
                  <a:srgbClr val="5B6B80"/>
                </a:solidFill>
                <a:latin typeface="Calibri"/>
              </a:rPr>
              <a:t>     RBAR / RLAR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04694"/>
                </a:solidFill>
                <a:latin typeface="Consolas"/>
              </a:rPr>
              <a:t>5.  </a:t>
            </a:r>
            <a:r>
              <a:rPr sz="1300" b="1" i="0">
                <a:solidFill>
                  <a:srgbClr val="101826"/>
                </a:solidFill>
                <a:latin typeface="Calibri"/>
              </a:rPr>
              <a:t>Flash sektör alanı</a:t>
            </a:r>
          </a:p>
          <a:p>
            <a:pPr>
              <a:spcAft>
                <a:spcPts val="900"/>
              </a:spcAft>
            </a:pPr>
            <a:r>
              <a:rPr sz="1100" b="0" i="0">
                <a:solidFill>
                  <a:srgbClr val="5B6B80"/>
                </a:solidFill>
                <a:latin typeface="Calibri"/>
              </a:rPr>
              <a:t>     yalnızca IAP kullanılıyorsa</a:t>
            </a:r>
          </a:p>
        </p:txBody>
      </p:sp>
      <p:pic>
        <p:nvPicPr>
          <p:cNvPr id="15" name="Picture 14" descr="28_agustos_hata_enjeksiyon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2506" y="2057400"/>
            <a:ext cx="3181643" cy="2103120"/>
          </a:xfrm>
          <a:prstGeom prst="rect">
            <a:avLst/>
          </a:prstGeom>
          <a:ln w="12700">
            <a:solidFill>
              <a:srgbClr val="DBE1EA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5897880" y="4297680"/>
            <a:ext cx="579089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B6B80"/>
                </a:solidFill>
                <a:latin typeface="Calibri"/>
              </a:rPr>
              <a:t>Kart bilerek bozuk/aşırı büyük veriyle yorulmaya çalışıldı — </a:t>
            </a:r>
            <a:r>
              <a:rPr sz="1150" b="1" i="1">
                <a:solidFill>
                  <a:srgbClr val="5B6B80"/>
                </a:solidFill>
                <a:latin typeface="Calibri"/>
              </a:rPr>
              <a:t>hiç çökmedi.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97880" y="4754880"/>
            <a:ext cx="4892040" cy="310896"/>
          </a:xfrm>
          <a:prstGeom prst="roundRect">
            <a:avLst>
              <a:gd name="adj" fmla="val 50000"/>
            </a:avLst>
          </a:prstGeom>
          <a:solidFill>
            <a:srgbClr val="DFF2EA"/>
          </a:solidFill>
          <a:ln w="9525">
            <a:solidFill>
              <a:srgbClr val="1793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 i="0">
                <a:solidFill>
                  <a:srgbClr val="17936B"/>
                </a:solidFill>
                <a:latin typeface="Consolas"/>
              </a:rPr>
              <a:t>gecikme ort. 0.44 ms · kayıp %0 · FLASH_SUCCESS|JUMP_OK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9509522" y="5897880"/>
            <a:ext cx="2682173" cy="960120"/>
          </a:xfrm>
          <a:custGeom>
            <a:avLst/>
            <a:gdLst/>
            <a:ahLst/>
            <a:cxnLst/>
            <a:rect l="l" t="t" r="r" b="b"/>
            <a:pathLst>
              <a:path w="2682173" h="960120">
                <a:moveTo>
                  <a:pt x="2682173" y="0"/>
                </a:moveTo>
                <a:lnTo>
                  <a:pt x="853418" y="274320"/>
                </a:lnTo>
                <a:lnTo>
                  <a:pt x="1463003" y="651510"/>
                </a:lnTo>
                <a:lnTo>
                  <a:pt x="0" y="788670"/>
                </a:lnTo>
                <a:lnTo>
                  <a:pt x="0" y="960120"/>
                </a:lnTo>
                <a:lnTo>
                  <a:pt x="2682173" y="960120"/>
                </a:lnTo>
                <a:close/>
              </a:path>
            </a:pathLst>
          </a:custGeom>
          <a:solidFill>
            <a:srgbClr val="0046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5242428" y="0"/>
            <a:ext cx="853419" cy="377190"/>
          </a:xfrm>
          <a:prstGeom prst="line">
            <a:avLst/>
          </a:prstGeom>
          <a:ln w="9525">
            <a:solidFill>
              <a:srgbClr val="9A9A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242428" y="377190"/>
            <a:ext cx="1828755" cy="651510"/>
          </a:xfrm>
          <a:prstGeom prst="line">
            <a:avLst/>
          </a:prstGeom>
          <a:ln w="9525">
            <a:solidFill>
              <a:srgbClr val="9A9A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7071183" y="1028700"/>
            <a:ext cx="1950671" cy="1028700"/>
          </a:xfrm>
          <a:prstGeom prst="line">
            <a:avLst/>
          </a:prstGeom>
          <a:ln w="9525">
            <a:solidFill>
              <a:srgbClr val="9A9A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ehsim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41887" y="219456"/>
            <a:ext cx="365760" cy="23918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213287" y="61264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004694"/>
                </a:solidFill>
                <a:latin typeface="Calibri"/>
              </a:rPr>
              <a:t>EHSİM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47472"/>
            <a:ext cx="8778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 i="0">
                <a:solidFill>
                  <a:srgbClr val="0E93B4"/>
                </a:solidFill>
                <a:latin typeface="Consolas"/>
              </a:rPr>
              <a:t>12 · KARŞILAŞILAN ZORLUK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8368"/>
            <a:ext cx="98755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01826"/>
                </a:solidFill>
                <a:latin typeface="Calibri"/>
              </a:rPr>
              <a:t>En zorlayıcı an: yeni yazılıma "atlarken" kart kilitlendi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0">
                <a:solidFill>
                  <a:srgbClr val="5B6B80"/>
                </a:solidFill>
                <a:latin typeface="Calibri"/>
              </a:rPr>
              <a:t>E-AETIS · Staj Sunumu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42855" y="6446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B6B80"/>
                </a:solidFill>
                <a:latin typeface="Calibri"/>
              </a:rPr>
              <a:t>13 / 18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1554480"/>
            <a:ext cx="11185855" cy="2286000"/>
          </a:xfrm>
          <a:prstGeom prst="roundRect">
            <a:avLst>
              <a:gd name="adj" fmla="val 6000"/>
            </a:avLst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1874520"/>
            <a:ext cx="10545775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Yeni yüklenen yazılıma geçiş anında kart her seferinde donuyordu. Debugger ile ilerleyerek nedenini buldum: eski yazılımdan kalan bir kesme (arka planda çalışan ağ donanımı), işlemci henüz yeni yazılıma tam geçmemişken devreye giriyor ve artık var olmayan bir adrese yönleniyordu.</a:t>
            </a:r>
          </a:p>
          <a:p>
            <a:pPr>
              <a:spcBef>
                <a:spcPts val="1400"/>
              </a:spcBef>
            </a:pPr>
            <a:r>
              <a:rPr sz="1100" b="1" i="0">
                <a:solidFill>
                  <a:srgbClr val="B9C6DE"/>
                </a:solidFill>
                <a:latin typeface="Consolas"/>
              </a:rPr>
              <a:t>ÇÖZÜM → geçiş anından hemen önce donanımı durdurup tüm kesmeleri kapattım. Sorun tamamen ortadan kalktı.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069080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B6B80"/>
                </a:solidFill>
                <a:latin typeface="Calibri"/>
              </a:rPr>
              <a:t>Bu, staj boyunca karşılaştığım en somut hata ayıklama (debugging) deneyimiydi: belirti donanımda görülüyor, kök neden kodda gizliydi.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9509522" y="5897880"/>
            <a:ext cx="2682173" cy="960120"/>
          </a:xfrm>
          <a:custGeom>
            <a:avLst/>
            <a:gdLst/>
            <a:ahLst/>
            <a:cxnLst/>
            <a:rect l="l" t="t" r="r" b="b"/>
            <a:pathLst>
              <a:path w="2682173" h="960120">
                <a:moveTo>
                  <a:pt x="2682173" y="0"/>
                </a:moveTo>
                <a:lnTo>
                  <a:pt x="853418" y="274320"/>
                </a:lnTo>
                <a:lnTo>
                  <a:pt x="1463003" y="651510"/>
                </a:lnTo>
                <a:lnTo>
                  <a:pt x="0" y="788670"/>
                </a:lnTo>
                <a:lnTo>
                  <a:pt x="0" y="960120"/>
                </a:lnTo>
                <a:lnTo>
                  <a:pt x="2682173" y="960120"/>
                </a:lnTo>
                <a:close/>
              </a:path>
            </a:pathLst>
          </a:custGeom>
          <a:solidFill>
            <a:srgbClr val="0046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5242428" y="0"/>
            <a:ext cx="853419" cy="377190"/>
          </a:xfrm>
          <a:prstGeom prst="line">
            <a:avLst/>
          </a:prstGeom>
          <a:ln w="9525">
            <a:solidFill>
              <a:srgbClr val="9A9A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242428" y="377190"/>
            <a:ext cx="1828755" cy="651510"/>
          </a:xfrm>
          <a:prstGeom prst="line">
            <a:avLst/>
          </a:prstGeom>
          <a:ln w="9525">
            <a:solidFill>
              <a:srgbClr val="9A9A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7071183" y="1028700"/>
            <a:ext cx="1950671" cy="1028700"/>
          </a:xfrm>
          <a:prstGeom prst="line">
            <a:avLst/>
          </a:prstGeom>
          <a:ln w="9525">
            <a:solidFill>
              <a:srgbClr val="9A9A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ehsim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41887" y="219456"/>
            <a:ext cx="365760" cy="23918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213287" y="61264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004694"/>
                </a:solidFill>
                <a:latin typeface="Calibri"/>
              </a:rPr>
              <a:t>EHSİM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47472"/>
            <a:ext cx="8778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 i="0">
                <a:solidFill>
                  <a:srgbClr val="0E93B4"/>
                </a:solidFill>
                <a:latin typeface="Consolas"/>
              </a:rPr>
              <a:t>13 · DÜRÜST DEĞERLENDIRME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8368"/>
            <a:ext cx="98755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01826"/>
                </a:solidFill>
                <a:latin typeface="Calibri"/>
              </a:rPr>
              <a:t>Bilinen sınırlar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417320"/>
            <a:ext cx="10241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i="0">
                <a:solidFill>
                  <a:srgbClr val="5B6B80"/>
                </a:solidFill>
                <a:latin typeface="Calibri"/>
              </a:rPr>
              <a:t>Kapsamı bilinçli çizdim — sorulmadan kendim söylüyorum.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0">
                <a:solidFill>
                  <a:srgbClr val="5B6B80"/>
                </a:solidFill>
                <a:latin typeface="Calibri"/>
              </a:rPr>
              <a:t>E-AETIS · Staj Sunumu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42855" y="6446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B6B80"/>
                </a:solidFill>
                <a:latin typeface="Calibri"/>
              </a:rPr>
              <a:t>14 / 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057400"/>
            <a:ext cx="11185855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350" b="1" i="0">
                <a:solidFill>
                  <a:srgbClr val="B6720F"/>
                </a:solidFill>
                <a:latin typeface="Consolas"/>
              </a:rPr>
              <a:t>—  </a:t>
            </a:r>
            <a:r>
              <a:rPr sz="1350" b="1" i="0">
                <a:solidFill>
                  <a:srgbClr val="101826"/>
                </a:solidFill>
                <a:latin typeface="Calibri"/>
              </a:rPr>
              <a:t>IP fragment reassembly yok</a:t>
            </a:r>
            <a:r>
              <a:rPr sz="1350" b="0" i="0">
                <a:solidFill>
                  <a:srgbClr val="101826"/>
                </a:solidFill>
                <a:latin typeface="Calibri"/>
              </a:rPr>
              <a:t> — tasarım kararı, büyük paketler sessizce düşürülür</a:t>
            </a:r>
          </a:p>
          <a:p>
            <a:pPr>
              <a:spcAft>
                <a:spcPts val="1000"/>
              </a:spcAft>
            </a:pPr>
            <a:r>
              <a:rPr sz="1350" b="1" i="0">
                <a:solidFill>
                  <a:srgbClr val="B6720F"/>
                </a:solidFill>
                <a:latin typeface="Consolas"/>
              </a:rPr>
              <a:t>—  </a:t>
            </a:r>
            <a:r>
              <a:rPr sz="1350" b="1" i="0">
                <a:solidFill>
                  <a:srgbClr val="101826"/>
                </a:solidFill>
                <a:latin typeface="Calibri"/>
              </a:rPr>
              <a:t>TCP yok</a:t>
            </a:r>
            <a:r>
              <a:rPr sz="1350" b="0" i="0">
                <a:solidFill>
                  <a:srgbClr val="101826"/>
                </a:solidFill>
                <a:latin typeface="Calibri"/>
              </a:rPr>
              <a:t> — yalnızca UDP / ICMP / ARP</a:t>
            </a:r>
          </a:p>
          <a:p>
            <a:pPr>
              <a:spcAft>
                <a:spcPts val="1000"/>
              </a:spcAft>
            </a:pPr>
            <a:r>
              <a:rPr sz="1350" b="1" i="0">
                <a:solidFill>
                  <a:srgbClr val="B6720F"/>
                </a:solidFill>
                <a:latin typeface="Consolas"/>
              </a:rPr>
              <a:t>—  </a:t>
            </a:r>
            <a:r>
              <a:rPr sz="1350" b="1" i="0">
                <a:solidFill>
                  <a:srgbClr val="101826"/>
                </a:solidFill>
                <a:latin typeface="Calibri"/>
              </a:rPr>
              <a:t>Tek DMA kanalı, tek kuyruk</a:t>
            </a:r>
            <a:r>
              <a:rPr sz="1350" b="0" i="0">
                <a:solidFill>
                  <a:srgbClr val="101826"/>
                </a:solidFill>
                <a:latin typeface="Calibri"/>
              </a:rPr>
              <a:t> — QoS / VLAN önceliklendirme yok</a:t>
            </a:r>
          </a:p>
          <a:p>
            <a:pPr>
              <a:spcAft>
                <a:spcPts val="1000"/>
              </a:spcAft>
            </a:pPr>
            <a:r>
              <a:rPr sz="1350" b="1" i="0">
                <a:solidFill>
                  <a:srgbClr val="B6720F"/>
                </a:solidFill>
                <a:latin typeface="Consolas"/>
              </a:rPr>
              <a:t>—  </a:t>
            </a:r>
            <a:r>
              <a:rPr sz="1350" b="1" i="0">
                <a:solidFill>
                  <a:srgbClr val="101826"/>
                </a:solidFill>
                <a:latin typeface="Calibri"/>
              </a:rPr>
              <a:t>IAP'de kimlik doğrulama yok</a:t>
            </a:r>
            <a:r>
              <a:rPr sz="1350" b="0" i="0">
                <a:solidFill>
                  <a:srgbClr val="101826"/>
                </a:solidFill>
                <a:latin typeface="Calibri"/>
              </a:rPr>
              <a:t> — yalnızca CRC32 bütünlük kontrolü</a:t>
            </a:r>
          </a:p>
          <a:p>
            <a:pPr>
              <a:spcAft>
                <a:spcPts val="1000"/>
              </a:spcAft>
            </a:pPr>
            <a:r>
              <a:rPr sz="1350" b="1" i="0">
                <a:solidFill>
                  <a:srgbClr val="B6720F"/>
                </a:solidFill>
                <a:latin typeface="Consolas"/>
              </a:rPr>
              <a:t>—  </a:t>
            </a:r>
            <a:r>
              <a:rPr sz="1350" b="1" i="0">
                <a:solidFill>
                  <a:srgbClr val="101826"/>
                </a:solidFill>
                <a:latin typeface="Calibri"/>
              </a:rPr>
              <a:t>Polling tabanlı</a:t>
            </a:r>
            <a:r>
              <a:rPr sz="1350" b="0" i="0">
                <a:solidFill>
                  <a:srgbClr val="101826"/>
                </a:solidFill>
                <a:latin typeface="Calibri"/>
              </a:rPr>
              <a:t> — kesme desteği yok, gecikme çağrı sıklığına bağımlı</a:t>
            </a:r>
          </a:p>
          <a:p>
            <a:pPr>
              <a:spcAft>
                <a:spcPts val="1000"/>
              </a:spcAft>
            </a:pPr>
            <a:r>
              <a:rPr sz="1350" b="1" i="0">
                <a:solidFill>
                  <a:srgbClr val="B6720F"/>
                </a:solidFill>
                <a:latin typeface="Consolas"/>
              </a:rPr>
              <a:t>—  </a:t>
            </a:r>
            <a:r>
              <a:rPr sz="1350" b="1" i="0">
                <a:solidFill>
                  <a:srgbClr val="101826"/>
                </a:solidFill>
                <a:latin typeface="Calibri"/>
              </a:rPr>
              <a:t>GMAC ailesi ve KSZ8081</a:t>
            </a:r>
            <a:r>
              <a:rPr sz="1350" b="0" i="0">
                <a:solidFill>
                  <a:srgbClr val="101826"/>
                </a:solidFill>
                <a:latin typeface="Calibri"/>
              </a:rPr>
              <a:t> — henüz ikinci bir kartta donanımda doğrulanmadı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9509522" y="5897880"/>
            <a:ext cx="2682173" cy="960120"/>
          </a:xfrm>
          <a:custGeom>
            <a:avLst/>
            <a:gdLst/>
            <a:ahLst/>
            <a:cxnLst/>
            <a:rect l="l" t="t" r="r" b="b"/>
            <a:pathLst>
              <a:path w="2682173" h="960120">
                <a:moveTo>
                  <a:pt x="2682173" y="0"/>
                </a:moveTo>
                <a:lnTo>
                  <a:pt x="853418" y="274320"/>
                </a:lnTo>
                <a:lnTo>
                  <a:pt x="1463003" y="651510"/>
                </a:lnTo>
                <a:lnTo>
                  <a:pt x="0" y="788670"/>
                </a:lnTo>
                <a:lnTo>
                  <a:pt x="0" y="960120"/>
                </a:lnTo>
                <a:lnTo>
                  <a:pt x="2682173" y="960120"/>
                </a:lnTo>
                <a:close/>
              </a:path>
            </a:pathLst>
          </a:custGeom>
          <a:solidFill>
            <a:srgbClr val="0046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5242428" y="0"/>
            <a:ext cx="853419" cy="377190"/>
          </a:xfrm>
          <a:prstGeom prst="line">
            <a:avLst/>
          </a:prstGeom>
          <a:ln w="9525">
            <a:solidFill>
              <a:srgbClr val="9A9A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242428" y="377190"/>
            <a:ext cx="1828755" cy="651510"/>
          </a:xfrm>
          <a:prstGeom prst="line">
            <a:avLst/>
          </a:prstGeom>
          <a:ln w="9525">
            <a:solidFill>
              <a:srgbClr val="9A9A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7071183" y="1028700"/>
            <a:ext cx="1950671" cy="1028700"/>
          </a:xfrm>
          <a:prstGeom prst="line">
            <a:avLst/>
          </a:prstGeom>
          <a:ln w="9525">
            <a:solidFill>
              <a:srgbClr val="9A9A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ehsim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41887" y="219456"/>
            <a:ext cx="365760" cy="23918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213287" y="61264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004694"/>
                </a:solidFill>
                <a:latin typeface="Calibri"/>
              </a:rPr>
              <a:t>EHSİM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47472"/>
            <a:ext cx="8778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 i="0">
                <a:solidFill>
                  <a:srgbClr val="0E93B4"/>
                </a:solidFill>
                <a:latin typeface="Consolas"/>
              </a:rPr>
              <a:t>14 · ARAÇLAR &amp; TEKNOLOJILER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8368"/>
            <a:ext cx="98755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01826"/>
                </a:solidFill>
                <a:latin typeface="Calibri"/>
              </a:rPr>
              <a:t>Tek projede birçok farklı teknolojiyi bir araya getirdim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417320"/>
            <a:ext cx="10241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i="0">
                <a:solidFill>
                  <a:srgbClr val="5B6B80"/>
                </a:solidFill>
                <a:latin typeface="Calibri"/>
              </a:rPr>
              <a:t>Sadece C kodu yazmadım; geliştirme ortamından donanım protokollerine kadar birçok konuda uygulamalı pratik yaptım.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0">
                <a:solidFill>
                  <a:srgbClr val="5B6B80"/>
                </a:solidFill>
                <a:latin typeface="Calibri"/>
              </a:rPr>
              <a:t>E-AETIS · Staj Sunumu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42855" y="6446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B6B80"/>
                </a:solidFill>
                <a:latin typeface="Calibri"/>
              </a:rPr>
              <a:t>15 / 18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103120"/>
            <a:ext cx="5455767" cy="2834640"/>
          </a:xfrm>
          <a:prstGeom prst="roundRect">
            <a:avLst>
              <a:gd name="adj" fmla="val 45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" y="2304288"/>
            <a:ext cx="5053431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1" i="0">
                <a:solidFill>
                  <a:srgbClr val="0E93B4"/>
                </a:solidFill>
                <a:latin typeface="Consolas"/>
              </a:rPr>
              <a:t>GELIŞTIRME ORTAMI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2578608"/>
            <a:ext cx="5053431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101826"/>
                </a:solidFill>
                <a:latin typeface="Calibri"/>
              </a:rPr>
              <a:t>Araçlar &amp; İş Akışı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4088" y="2962656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E7ECF5"/>
          </a:solidFill>
          <a:ln w="9525">
            <a:solidFill>
              <a:srgbClr val="0046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004694"/>
                </a:solidFill>
                <a:latin typeface="Consolas"/>
              </a:rPr>
              <a:t>CMake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728216" y="2962656"/>
            <a:ext cx="676656" cy="274320"/>
          </a:xfrm>
          <a:prstGeom prst="roundRect">
            <a:avLst>
              <a:gd name="adj" fmla="val 50000"/>
            </a:avLst>
          </a:prstGeom>
          <a:solidFill>
            <a:srgbClr val="E7ECF5"/>
          </a:solidFill>
          <a:ln w="9525">
            <a:solidFill>
              <a:srgbClr val="0046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004694"/>
                </a:solidFill>
                <a:latin typeface="Consolas"/>
              </a:rPr>
              <a:t>Git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514600" y="2962656"/>
            <a:ext cx="1627632" cy="274320"/>
          </a:xfrm>
          <a:prstGeom prst="roundRect">
            <a:avLst>
              <a:gd name="adj" fmla="val 50000"/>
            </a:avLst>
          </a:prstGeom>
          <a:solidFill>
            <a:srgbClr val="E7ECF5"/>
          </a:solidFill>
          <a:ln w="9525">
            <a:solidFill>
              <a:srgbClr val="0046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004694"/>
                </a:solidFill>
                <a:latin typeface="Consolas"/>
              </a:rPr>
              <a:t>GCC &amp; Ninja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4088" y="3291840"/>
            <a:ext cx="1627632" cy="274320"/>
          </a:xfrm>
          <a:prstGeom prst="roundRect">
            <a:avLst>
              <a:gd name="adj" fmla="val 50000"/>
            </a:avLst>
          </a:prstGeom>
          <a:solidFill>
            <a:srgbClr val="E7ECF5"/>
          </a:solidFill>
          <a:ln w="9525">
            <a:solidFill>
              <a:srgbClr val="0046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004694"/>
                </a:solidFill>
                <a:latin typeface="Consolas"/>
              </a:rPr>
              <a:t>STM32CubeMX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441448" y="3291840"/>
            <a:ext cx="1152144" cy="274320"/>
          </a:xfrm>
          <a:prstGeom prst="roundRect">
            <a:avLst>
              <a:gd name="adj" fmla="val 50000"/>
            </a:avLst>
          </a:prstGeom>
          <a:solidFill>
            <a:srgbClr val="E7ECF5"/>
          </a:solidFill>
          <a:ln w="9525">
            <a:solidFill>
              <a:srgbClr val="0046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004694"/>
                </a:solidFill>
                <a:latin typeface="Consolas"/>
              </a:rPr>
              <a:t>VS Code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3007" y="2103120"/>
            <a:ext cx="5455767" cy="2834640"/>
          </a:xfrm>
          <a:prstGeom prst="roundRect">
            <a:avLst>
              <a:gd name="adj" fmla="val 45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34175" y="2304288"/>
            <a:ext cx="5053431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1" i="0">
                <a:solidFill>
                  <a:srgbClr val="0E93B4"/>
                </a:solidFill>
                <a:latin typeface="Consolas"/>
              </a:rPr>
              <a:t>DONANIM &amp; PROTOKOLLER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34175" y="2578608"/>
            <a:ext cx="5053431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101826"/>
                </a:solidFill>
                <a:latin typeface="Calibri"/>
              </a:rPr>
              <a:t>Nasıl Çalıştığını Öğrendiğim Katmanlar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34175" y="2962656"/>
            <a:ext cx="676656" cy="274320"/>
          </a:xfrm>
          <a:prstGeom prst="roundRect">
            <a:avLst>
              <a:gd name="adj" fmla="val 50000"/>
            </a:avLst>
          </a:prstGeom>
          <a:solidFill>
            <a:srgbClr val="E7ECF5"/>
          </a:solidFill>
          <a:ln w="9525">
            <a:solidFill>
              <a:srgbClr val="0046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004694"/>
                </a:solidFill>
                <a:latin typeface="Consolas"/>
              </a:rPr>
              <a:t>DMA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20559" y="2962656"/>
            <a:ext cx="3054096" cy="274320"/>
          </a:xfrm>
          <a:prstGeom prst="roundRect">
            <a:avLst>
              <a:gd name="adj" fmla="val 50000"/>
            </a:avLst>
          </a:prstGeom>
          <a:solidFill>
            <a:srgbClr val="E7ECF5"/>
          </a:solidFill>
          <a:ln w="9525">
            <a:solidFill>
              <a:srgbClr val="0046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004694"/>
                </a:solidFill>
                <a:latin typeface="Consolas"/>
              </a:rPr>
              <a:t>Ethernet (MAC/PHY/RMII)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384383" y="2962656"/>
            <a:ext cx="676656" cy="274320"/>
          </a:xfrm>
          <a:prstGeom prst="roundRect">
            <a:avLst>
              <a:gd name="adj" fmla="val 50000"/>
            </a:avLst>
          </a:prstGeom>
          <a:solidFill>
            <a:srgbClr val="E7ECF5"/>
          </a:solidFill>
          <a:ln w="9525">
            <a:solidFill>
              <a:srgbClr val="0046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004694"/>
                </a:solidFill>
                <a:latin typeface="Consolas"/>
              </a:rPr>
              <a:t>I2C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34175" y="3291840"/>
            <a:ext cx="676656" cy="274320"/>
          </a:xfrm>
          <a:prstGeom prst="roundRect">
            <a:avLst>
              <a:gd name="adj" fmla="val 50000"/>
            </a:avLst>
          </a:prstGeom>
          <a:solidFill>
            <a:srgbClr val="E7ECF5"/>
          </a:solidFill>
          <a:ln w="9525">
            <a:solidFill>
              <a:srgbClr val="0046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004694"/>
                </a:solidFill>
                <a:latin typeface="Consolas"/>
              </a:rPr>
              <a:t>SPI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220559" y="3291840"/>
            <a:ext cx="795528" cy="274320"/>
          </a:xfrm>
          <a:prstGeom prst="roundRect">
            <a:avLst>
              <a:gd name="adj" fmla="val 50000"/>
            </a:avLst>
          </a:prstGeom>
          <a:solidFill>
            <a:srgbClr val="E7ECF5"/>
          </a:solidFill>
          <a:ln w="9525">
            <a:solidFill>
              <a:srgbClr val="0046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004694"/>
                </a:solidFill>
                <a:latin typeface="Consolas"/>
              </a:rPr>
              <a:t>UART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25815" y="3291840"/>
            <a:ext cx="2221992" cy="274320"/>
          </a:xfrm>
          <a:prstGeom prst="roundRect">
            <a:avLst>
              <a:gd name="adj" fmla="val 50000"/>
            </a:avLst>
          </a:prstGeom>
          <a:solidFill>
            <a:srgbClr val="E7ECF5"/>
          </a:solidFill>
          <a:ln w="9525">
            <a:solidFill>
              <a:srgbClr val="0046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004694"/>
                </a:solidFill>
                <a:latin typeface="Consolas"/>
              </a:rPr>
              <a:t>Interrupt (NVIC)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34175" y="3621024"/>
            <a:ext cx="2459736" cy="274320"/>
          </a:xfrm>
          <a:prstGeom prst="roundRect">
            <a:avLst>
              <a:gd name="adj" fmla="val 50000"/>
            </a:avLst>
          </a:prstGeom>
          <a:solidFill>
            <a:srgbClr val="E7ECF5"/>
          </a:solidFill>
          <a:ln w="9525">
            <a:solidFill>
              <a:srgbClr val="0046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004694"/>
                </a:solidFill>
                <a:latin typeface="Consolas"/>
              </a:rPr>
              <a:t>FreeRTOS temelleri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5120640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B6B80"/>
                </a:solidFill>
                <a:latin typeface="Calibri"/>
              </a:rPr>
              <a:t>Bare-metal kod yazma pratiği + farklı işlemci çekirdeklerini (Cortex-M4/M7/M33) ve farklı entegreleri tek bir projede bir araya getirme deneyimi.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9509522" y="5897880"/>
            <a:ext cx="2682173" cy="960120"/>
          </a:xfrm>
          <a:custGeom>
            <a:avLst/>
            <a:gdLst/>
            <a:ahLst/>
            <a:cxnLst/>
            <a:rect l="l" t="t" r="r" b="b"/>
            <a:pathLst>
              <a:path w="2682173" h="960120">
                <a:moveTo>
                  <a:pt x="2682173" y="0"/>
                </a:moveTo>
                <a:lnTo>
                  <a:pt x="853418" y="274320"/>
                </a:lnTo>
                <a:lnTo>
                  <a:pt x="1463003" y="651510"/>
                </a:lnTo>
                <a:lnTo>
                  <a:pt x="0" y="788670"/>
                </a:lnTo>
                <a:lnTo>
                  <a:pt x="0" y="960120"/>
                </a:lnTo>
                <a:lnTo>
                  <a:pt x="2682173" y="960120"/>
                </a:lnTo>
                <a:close/>
              </a:path>
            </a:pathLst>
          </a:custGeom>
          <a:solidFill>
            <a:srgbClr val="0046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5242428" y="0"/>
            <a:ext cx="853419" cy="377190"/>
          </a:xfrm>
          <a:prstGeom prst="line">
            <a:avLst/>
          </a:prstGeom>
          <a:ln w="9525">
            <a:solidFill>
              <a:srgbClr val="9A9A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242428" y="377190"/>
            <a:ext cx="1828755" cy="651510"/>
          </a:xfrm>
          <a:prstGeom prst="line">
            <a:avLst/>
          </a:prstGeom>
          <a:ln w="9525">
            <a:solidFill>
              <a:srgbClr val="9A9A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7071183" y="1028700"/>
            <a:ext cx="1950671" cy="1028700"/>
          </a:xfrm>
          <a:prstGeom prst="line">
            <a:avLst/>
          </a:prstGeom>
          <a:ln w="9525">
            <a:solidFill>
              <a:srgbClr val="9A9A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ehsim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41887" y="219456"/>
            <a:ext cx="365760" cy="23918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213287" y="61264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004694"/>
                </a:solidFill>
                <a:latin typeface="Calibri"/>
              </a:rPr>
              <a:t>EHSİM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47472"/>
            <a:ext cx="8778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 i="0">
                <a:solidFill>
                  <a:srgbClr val="0E93B4"/>
                </a:solidFill>
                <a:latin typeface="Consolas"/>
              </a:rPr>
              <a:t>15 · ÖĞRENDIKLERIM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8368"/>
            <a:ext cx="98755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01826"/>
                </a:solidFill>
                <a:latin typeface="Calibri"/>
              </a:rPr>
              <a:t>Üç boyutta öğrenme: teknik, mühendislik disiplini, kişisel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0">
                <a:solidFill>
                  <a:srgbClr val="5B6B80"/>
                </a:solidFill>
                <a:latin typeface="Calibri"/>
              </a:rPr>
              <a:t>E-AETIS · Staj Sunumu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42855" y="6446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B6B80"/>
                </a:solidFill>
                <a:latin typeface="Calibri"/>
              </a:rPr>
              <a:t>16 / 18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1554480"/>
            <a:ext cx="3545738" cy="3291840"/>
          </a:xfrm>
          <a:prstGeom prst="roundRect">
            <a:avLst>
              <a:gd name="adj" fmla="val 45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" y="1755648"/>
            <a:ext cx="314340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101826"/>
                </a:solidFill>
                <a:latin typeface="Calibri"/>
              </a:rPr>
              <a:t>Teknik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2139696"/>
            <a:ext cx="3143402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 i="0">
                <a:solidFill>
                  <a:srgbClr val="5B6B80"/>
                </a:solidFill>
                <a:latin typeface="Calibri"/>
              </a:rPr>
              <a:t>Gömülü sistemlerde donanım-yazılım ilişkisi, ağ protokollerinin temelleri, C ile düşük seviyeli programlama, hata ayıklama disiplini.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2978" y="1554480"/>
            <a:ext cx="3545738" cy="3291840"/>
          </a:xfrm>
          <a:prstGeom prst="roundRect">
            <a:avLst>
              <a:gd name="adj" fmla="val 45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4146" y="1755648"/>
            <a:ext cx="314340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101826"/>
                </a:solidFill>
                <a:latin typeface="Calibri"/>
              </a:rPr>
              <a:t>Mühendislik Pratiği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4146" y="2139696"/>
            <a:ext cx="3143402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 i="0">
                <a:solidFill>
                  <a:srgbClr val="5B6B80"/>
                </a:solidFill>
                <a:latin typeface="Calibri"/>
              </a:rPr>
              <a:t>Gereksinim yazma, mimariyi baştan tasarlama, "her girdi düşmanca olabilir" ilkesiyle savunmacı kod yazma, sistemli test ve dokümantasyon.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43036" y="1554480"/>
            <a:ext cx="3545738" cy="3291840"/>
          </a:xfrm>
          <a:prstGeom prst="roundRect">
            <a:avLst>
              <a:gd name="adj" fmla="val 45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44204" y="1755648"/>
            <a:ext cx="314340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101826"/>
                </a:solidFill>
                <a:latin typeface="Calibri"/>
              </a:rPr>
              <a:t>Kişisel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44204" y="2139696"/>
            <a:ext cx="3143402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 i="0">
                <a:solidFill>
                  <a:srgbClr val="5B6B80"/>
                </a:solidFill>
                <a:latin typeface="Calibri"/>
              </a:rPr>
              <a:t>Bağımsız çalışıp mentörle doğru zamanda geri bildirim alma, zaman/kapsam yönetimi, teknik bir konuyu sade anlatabilme.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9509522" y="5897880"/>
            <a:ext cx="2682173" cy="960120"/>
          </a:xfrm>
          <a:custGeom>
            <a:avLst/>
            <a:gdLst/>
            <a:ahLst/>
            <a:cxnLst/>
            <a:rect l="l" t="t" r="r" b="b"/>
            <a:pathLst>
              <a:path w="2682173" h="960120">
                <a:moveTo>
                  <a:pt x="2682173" y="0"/>
                </a:moveTo>
                <a:lnTo>
                  <a:pt x="853418" y="274320"/>
                </a:lnTo>
                <a:lnTo>
                  <a:pt x="1463003" y="651510"/>
                </a:lnTo>
                <a:lnTo>
                  <a:pt x="0" y="788670"/>
                </a:lnTo>
                <a:lnTo>
                  <a:pt x="0" y="960120"/>
                </a:lnTo>
                <a:lnTo>
                  <a:pt x="2682173" y="960120"/>
                </a:lnTo>
                <a:close/>
              </a:path>
            </a:pathLst>
          </a:custGeom>
          <a:solidFill>
            <a:srgbClr val="0046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5242428" y="0"/>
            <a:ext cx="853419" cy="377190"/>
          </a:xfrm>
          <a:prstGeom prst="line">
            <a:avLst/>
          </a:prstGeom>
          <a:ln w="9525">
            <a:solidFill>
              <a:srgbClr val="9A9A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242428" y="377190"/>
            <a:ext cx="1828755" cy="651510"/>
          </a:xfrm>
          <a:prstGeom prst="line">
            <a:avLst/>
          </a:prstGeom>
          <a:ln w="9525">
            <a:solidFill>
              <a:srgbClr val="9A9A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7071183" y="1028700"/>
            <a:ext cx="1950671" cy="1028700"/>
          </a:xfrm>
          <a:prstGeom prst="line">
            <a:avLst/>
          </a:prstGeom>
          <a:ln w="9525">
            <a:solidFill>
              <a:srgbClr val="9A9A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ehsim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41887" y="219456"/>
            <a:ext cx="365760" cy="23918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213287" y="61264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004694"/>
                </a:solidFill>
                <a:latin typeface="Calibri"/>
              </a:rPr>
              <a:t>EHSİM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47472"/>
            <a:ext cx="8778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 i="0">
                <a:solidFill>
                  <a:srgbClr val="0E93B4"/>
                </a:solidFill>
                <a:latin typeface="Consolas"/>
              </a:rPr>
              <a:t>16 · STAJIN BANA KATTIKLARI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8368"/>
            <a:ext cx="98755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01826"/>
                </a:solidFill>
                <a:latin typeface="Calibri"/>
              </a:rPr>
              <a:t>Bir mühendislik sürecini baştan sona yaşadım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417320"/>
            <a:ext cx="10241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i="0">
                <a:solidFill>
                  <a:srgbClr val="5B6B80"/>
                </a:solidFill>
                <a:latin typeface="Calibri"/>
              </a:rPr>
              <a:t>Eğitimle başlayıp gereksinimden teste uzanan tam bir döngüyü, tek bir projede kendi ellerimle tamamladım.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0">
                <a:solidFill>
                  <a:srgbClr val="5B6B80"/>
                </a:solidFill>
                <a:latin typeface="Calibri"/>
              </a:rPr>
              <a:t>E-AETIS · Staj Sunumu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42855" y="6446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B6B80"/>
                </a:solidFill>
                <a:latin typeface="Calibri"/>
              </a:rPr>
              <a:t>17 / 18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057400"/>
            <a:ext cx="2686735" cy="1161288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 i="0">
                <a:solidFill>
                  <a:srgbClr val="004694"/>
                </a:solidFill>
                <a:latin typeface="Calibri"/>
              </a:rPr>
              <a:t>40</a:t>
            </a:r>
          </a:p>
          <a:p>
            <a:pPr algn="ctr"/>
            <a:r>
              <a:rPr sz="1000" b="0" i="0">
                <a:solidFill>
                  <a:srgbClr val="5B6B80"/>
                </a:solidFill>
                <a:latin typeface="Calibri"/>
              </a:rPr>
              <a:t>staj günü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35959" y="2057400"/>
            <a:ext cx="2686735" cy="1161288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 i="0">
                <a:solidFill>
                  <a:srgbClr val="004694"/>
                </a:solidFill>
                <a:latin typeface="Calibri"/>
              </a:rPr>
              <a:t>4</a:t>
            </a:r>
          </a:p>
          <a:p>
            <a:pPr algn="ctr"/>
            <a:r>
              <a:rPr sz="1000" b="0" i="0">
                <a:solidFill>
                  <a:srgbClr val="5B6B80"/>
                </a:solidFill>
                <a:latin typeface="Calibri"/>
              </a:rPr>
              <a:t>desteklenen MCU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8999" y="2057400"/>
            <a:ext cx="2686735" cy="1161288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 i="0">
                <a:solidFill>
                  <a:srgbClr val="004694"/>
                </a:solidFill>
                <a:latin typeface="Calibri"/>
              </a:rPr>
              <a:t>3</a:t>
            </a:r>
          </a:p>
          <a:p>
            <a:pPr algn="ctr"/>
            <a:r>
              <a:rPr sz="1000" b="0" i="0">
                <a:solidFill>
                  <a:srgbClr val="5B6B80"/>
                </a:solidFill>
                <a:latin typeface="Calibri"/>
              </a:rPr>
              <a:t>PHY çipi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02039" y="2057400"/>
            <a:ext cx="2686735" cy="1161288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 i="0">
                <a:solidFill>
                  <a:srgbClr val="004694"/>
                </a:solidFill>
                <a:latin typeface="Calibri"/>
              </a:rPr>
              <a:t>2</a:t>
            </a:r>
          </a:p>
          <a:p>
            <a:pPr algn="ctr"/>
            <a:r>
              <a:rPr sz="1000" b="0" i="0">
                <a:solidFill>
                  <a:srgbClr val="5B6B80"/>
                </a:solidFill>
                <a:latin typeface="Calibri"/>
              </a:rPr>
              <a:t>MAC ailesi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364992"/>
            <a:ext cx="2686735" cy="1161288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 i="0">
                <a:solidFill>
                  <a:srgbClr val="004694"/>
                </a:solidFill>
                <a:latin typeface="Calibri"/>
              </a:rPr>
              <a:t>21</a:t>
            </a:r>
          </a:p>
          <a:p>
            <a:pPr algn="ctr"/>
            <a:r>
              <a:rPr sz="1000" b="0" i="0">
                <a:solidFill>
                  <a:srgbClr val="5B6B80"/>
                </a:solidFill>
                <a:latin typeface="Calibri"/>
              </a:rPr>
              <a:t>port sözleşmesi fonksiyonu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35959" y="3364992"/>
            <a:ext cx="2686735" cy="1161288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 i="0">
                <a:solidFill>
                  <a:srgbClr val="004694"/>
                </a:solidFill>
                <a:latin typeface="Calibri"/>
              </a:rPr>
              <a:t>7</a:t>
            </a:r>
          </a:p>
          <a:p>
            <a:pPr algn="ctr"/>
            <a:r>
              <a:rPr sz="1000" b="0" i="0">
                <a:solidFill>
                  <a:srgbClr val="5B6B80"/>
                </a:solidFill>
                <a:latin typeface="Calibri"/>
              </a:rPr>
              <a:t>GUI test sekmesi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68999" y="3364992"/>
            <a:ext cx="2686735" cy="1161288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 i="0">
                <a:solidFill>
                  <a:srgbClr val="004694"/>
                </a:solidFill>
                <a:latin typeface="Calibri"/>
              </a:rPr>
              <a:t>0</a:t>
            </a:r>
          </a:p>
          <a:p>
            <a:pPr algn="ctr"/>
            <a:r>
              <a:rPr sz="1000" b="0" i="0">
                <a:solidFill>
                  <a:srgbClr val="5B6B80"/>
                </a:solidFill>
                <a:latin typeface="Calibri"/>
              </a:rPr>
              <a:t>malloc çağrısı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02039" y="3364992"/>
            <a:ext cx="2686735" cy="1161288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 i="0">
                <a:solidFill>
                  <a:srgbClr val="004694"/>
                </a:solidFill>
                <a:latin typeface="Calibri"/>
              </a:rPr>
              <a:t>1</a:t>
            </a:r>
          </a:p>
          <a:p>
            <a:pPr algn="ctr"/>
            <a:r>
              <a:rPr sz="1000" b="0" i="0">
                <a:solidFill>
                  <a:srgbClr val="5B6B80"/>
                </a:solidFill>
                <a:latin typeface="Calibri"/>
              </a:rPr>
              <a:t>dokunulan config dosyası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709160"/>
            <a:ext cx="3081527" cy="310896"/>
          </a:xfrm>
          <a:prstGeom prst="roundRect">
            <a:avLst>
              <a:gd name="adj" fmla="val 50000"/>
            </a:avLst>
          </a:prstGeom>
          <a:solidFill>
            <a:srgbClr val="DFF2EA"/>
          </a:solidFill>
          <a:ln w="9525">
            <a:solidFill>
              <a:srgbClr val="1793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 i="0">
                <a:solidFill>
                  <a:srgbClr val="17936B"/>
                </a:solidFill>
                <a:latin typeface="Consolas"/>
              </a:rPr>
              <a:t>Savunma sanayiini yakından tanıma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712463" y="4709160"/>
            <a:ext cx="2752344" cy="310896"/>
          </a:xfrm>
          <a:prstGeom prst="roundRect">
            <a:avLst>
              <a:gd name="adj" fmla="val 50000"/>
            </a:avLst>
          </a:prstGeom>
          <a:solidFill>
            <a:srgbClr val="DFF2EA"/>
          </a:solidFill>
          <a:ln w="9525">
            <a:solidFill>
              <a:srgbClr val="1793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 i="0">
                <a:solidFill>
                  <a:srgbClr val="17936B"/>
                </a:solidFill>
                <a:latin typeface="Consolas"/>
              </a:rPr>
              <a:t>Uçtan uca doğrulama disiplini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92823" y="4709160"/>
            <a:ext cx="3410712" cy="310896"/>
          </a:xfrm>
          <a:prstGeom prst="roundRect">
            <a:avLst>
              <a:gd name="adj" fmla="val 50000"/>
            </a:avLst>
          </a:prstGeom>
          <a:solidFill>
            <a:srgbClr val="DFF2EA"/>
          </a:solidFill>
          <a:ln w="9525">
            <a:solidFill>
              <a:srgbClr val="1793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 i="0">
                <a:solidFill>
                  <a:srgbClr val="17936B"/>
                </a:solidFill>
                <a:latin typeface="Consolas"/>
              </a:rPr>
              <a:t>Sıfırdan bir kütüphane yazma özgüveni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093208"/>
            <a:ext cx="2423160" cy="310896"/>
          </a:xfrm>
          <a:prstGeom prst="roundRect">
            <a:avLst>
              <a:gd name="adj" fmla="val 50000"/>
            </a:avLst>
          </a:prstGeom>
          <a:solidFill>
            <a:srgbClr val="DFF2EA"/>
          </a:solidFill>
          <a:ln w="9525">
            <a:solidFill>
              <a:srgbClr val="1793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 i="0">
                <a:solidFill>
                  <a:srgbClr val="17936B"/>
                </a:solidFill>
                <a:latin typeface="Consolas"/>
              </a:rPr>
              <a:t>Karmaşık işi sade anlatma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4430268"/>
            <a:ext cx="12191695" cy="2427732"/>
          </a:xfrm>
          <a:custGeom>
            <a:avLst/>
            <a:gdLst/>
            <a:ahLst/>
            <a:cxnLst/>
            <a:rect l="l" t="t" r="r" b="b"/>
            <a:pathLst>
              <a:path w="12191695" h="2427732">
                <a:moveTo>
                  <a:pt x="12191695" y="0"/>
                </a:moveTo>
                <a:lnTo>
                  <a:pt x="7302825" y="582930"/>
                </a:lnTo>
                <a:lnTo>
                  <a:pt x="6425023" y="2016252"/>
                </a:lnTo>
                <a:lnTo>
                  <a:pt x="0" y="2386584"/>
                </a:lnTo>
                <a:lnTo>
                  <a:pt x="0" y="2427732"/>
                </a:lnTo>
                <a:lnTo>
                  <a:pt x="12191695" y="2427732"/>
                </a:lnTo>
                <a:close/>
              </a:path>
            </a:pathLst>
          </a:custGeom>
          <a:solidFill>
            <a:srgbClr val="0046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7558850" y="0"/>
            <a:ext cx="1219170" cy="445770"/>
          </a:xfrm>
          <a:prstGeom prst="line">
            <a:avLst/>
          </a:prstGeom>
          <a:ln w="9525">
            <a:solidFill>
              <a:srgbClr val="9A9A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558850" y="445770"/>
            <a:ext cx="2377381" cy="994410"/>
          </a:xfrm>
          <a:prstGeom prst="line">
            <a:avLst/>
          </a:prstGeom>
          <a:ln w="9525">
            <a:solidFill>
              <a:srgbClr val="9A9A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936231" y="1440180"/>
            <a:ext cx="1889713" cy="1714500"/>
          </a:xfrm>
          <a:prstGeom prst="line">
            <a:avLst/>
          </a:prstGeom>
          <a:ln w="9525">
            <a:solidFill>
              <a:srgbClr val="9A9A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0" y="4251960"/>
            <a:ext cx="2560255" cy="137160"/>
          </a:xfrm>
          <a:prstGeom prst="line">
            <a:avLst/>
          </a:prstGeom>
          <a:ln w="9525">
            <a:solidFill>
              <a:srgbClr val="9A9A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60255" y="4389120"/>
            <a:ext cx="1097253" cy="1165860"/>
          </a:xfrm>
          <a:prstGeom prst="line">
            <a:avLst/>
          </a:prstGeom>
          <a:ln w="9525">
            <a:solidFill>
              <a:srgbClr val="9A9A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657508" y="5554980"/>
            <a:ext cx="3352716" cy="205740"/>
          </a:xfrm>
          <a:prstGeom prst="line">
            <a:avLst/>
          </a:prstGeom>
          <a:ln w="9525">
            <a:solidFill>
              <a:srgbClr val="9A9A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010224" y="5760720"/>
            <a:ext cx="3352716" cy="1028700"/>
          </a:xfrm>
          <a:prstGeom prst="line">
            <a:avLst/>
          </a:prstGeom>
          <a:ln w="9525">
            <a:solidFill>
              <a:srgbClr val="9A9A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10301982" y="701057"/>
            <a:ext cx="1341086" cy="1341086"/>
          </a:xfrm>
          <a:prstGeom prst="ellipse">
            <a:avLst/>
          </a:prstGeom>
          <a:noFill/>
          <a:ln w="1270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936231" y="335306"/>
            <a:ext cx="2072588" cy="2072588"/>
          </a:xfrm>
          <a:prstGeom prst="ellipse">
            <a:avLst/>
          </a:prstGeom>
          <a:noFill/>
          <a:ln w="1270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570481" y="-30444"/>
            <a:ext cx="2804088" cy="2804088"/>
          </a:xfrm>
          <a:prstGeom prst="ellipse">
            <a:avLst/>
          </a:prstGeom>
          <a:noFill/>
          <a:ln w="1270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hsim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0719" y="219456"/>
            <a:ext cx="566928" cy="37074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1012119" y="813816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04694"/>
                </a:solidFill>
                <a:latin typeface="Calibri"/>
              </a:rPr>
              <a:t>EHSİM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219456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0E93B4"/>
                </a:solidFill>
                <a:latin typeface="Consolas"/>
              </a:rPr>
              <a:t>TEŞEKKÜRLER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2606040"/>
            <a:ext cx="96012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 i="0">
                <a:solidFill>
                  <a:srgbClr val="101826"/>
                </a:solidFill>
                <a:latin typeface="Calibri"/>
              </a:rPr>
              <a:t>Sorularınızı dinliyorum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520440"/>
            <a:ext cx="8686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 i="0">
                <a:solidFill>
                  <a:srgbClr val="5B6B80"/>
                </a:solidFill>
                <a:latin typeface="Calibri"/>
              </a:rPr>
              <a:t>EHSİM'e ve mentörüme, staj boyunca gösterdikleri destek için teşekkür ederim.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120640"/>
            <a:ext cx="73152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004694"/>
                </a:solidFill>
                <a:latin typeface="Calibri"/>
              </a:rPr>
              <a:t>Mehmet Akif Seçkin</a:t>
            </a:r>
          </a:p>
          <a:p>
            <a:r>
              <a:rPr sz="1100" b="0" i="0">
                <a:solidFill>
                  <a:srgbClr val="5B6B80"/>
                </a:solidFill>
                <a:latin typeface="Calibri"/>
              </a:rPr>
              <a:t>E-AETIS / Ethernet_BSP · Sistem ve Test Mühendisliği Stajı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