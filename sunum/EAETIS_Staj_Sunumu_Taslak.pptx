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9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1695" cy="6858000" type="screen4x3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 /><Relationship Id="rId21" Type="http://schemas.openxmlformats.org/officeDocument/2006/relationships/tableStyles" Target="tableStyles.xml" /><Relationship Id="rId2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749EAD-1016-786D-FD4F-AC581A5A933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02188C-50FE-9A1D-69D7-C2D089BA093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5F1138-4567-360B-F299-3233E770EA7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29949E-BA50-0712-42C0-1B70A0C0CE3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7CAF3C-E86D-1E48-E859-AE454F97195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7A693B-FB72-71AF-D27B-A5D7B978ABB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67B87F-EA5C-2FFF-7A6B-D335CFC041F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BEEE88-8518-A795-FD95-FAB0ED25CF1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6158719-31AE-C6BA-3DE9-1C53FE17EF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CD3061-3140-C7E3-A0DD-96BC1D3369A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1A0995-633B-D4AB-AA28-A75B5876095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AE2B37-FADB-F69E-FE9C-0070BBE2AA8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EF467F-E066-EC7C-9234-98D5970E94C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3B628B-D45F-FF9E-938B-C730C414881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7061AD-5ACD-8859-C2C4-512C3E63CE7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590723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0336138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273642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1966340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8220030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65354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6350458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284535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63852277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5065881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273060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3009490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5072001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42189175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018778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098354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5900840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4421125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8932317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02679890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5088873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630346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5872525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199280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0731014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9903149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0397022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01608083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297750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377555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8622412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36941755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48668867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080461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648490000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776506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1139747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07831143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3016491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3830653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11796234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216644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211640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17423771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93397546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3362527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77205992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7658181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78751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5078038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7461325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93340722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5228979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042389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7744599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1033719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04822051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2583600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483730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37516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42727212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662735233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2530041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30200315" name="Picture 1" descr="sunum_kapak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84991514" name="Picture 1" descr="sunu_arka_plan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76477406" name="TextBox 2"/>
          <p:cNvSpPr txBox="1"/>
          <p:nvPr/>
        </p:nvSpPr>
        <p:spPr bwMode="auto"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100" b="1" i="0">
                <a:solidFill>
                  <a:srgbClr val="0E93B4"/>
                </a:solidFill>
                <a:latin typeface="Consolas"/>
              </a:rPr>
              <a:t>01 · PROBLEM</a:t>
            </a:r>
            <a:endParaRPr/>
          </a:p>
        </p:txBody>
      </p:sp>
      <p:sp>
        <p:nvSpPr>
          <p:cNvPr id="1628289818" name="TextBox 3"/>
          <p:cNvSpPr txBox="1"/>
          <p:nvPr/>
        </p:nvSpPr>
        <p:spPr bwMode="auto"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2700" b="1" i="0">
                <a:solidFill>
                  <a:srgbClr val="101826"/>
                </a:solidFill>
                <a:latin typeface="Calibri"/>
              </a:rPr>
              <a:t>Her elektronik cihazın bir "ağ dili" konuşması gerekir</a:t>
            </a:r>
            <a:endParaRPr/>
          </a:p>
        </p:txBody>
      </p:sp>
      <p:sp>
        <p:nvSpPr>
          <p:cNvPr id="93910040" name="TextBox 4"/>
          <p:cNvSpPr txBox="1"/>
          <p:nvPr/>
        </p:nvSpPr>
        <p:spPr bwMode="auto"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350" b="0" i="0">
                <a:solidFill>
                  <a:srgbClr val="5B6B80"/>
                </a:solidFill>
                <a:latin typeface="Calibri"/>
              </a:rPr>
              <a:t>Bir kart ağa bağlanacaksa, veriyi doğru biçimde gönderip almasını sağlayan bir yazılım katmanına ihtiyacı vardır — buna **Ethernet sürücüsü** denir.</a:t>
            </a:r>
            <a:endParaRPr/>
          </a:p>
        </p:txBody>
      </p:sp>
      <p:sp>
        <p:nvSpPr>
          <p:cNvPr id="1331815209" name="TextBox 5"/>
          <p:cNvSpPr txBox="1"/>
          <p:nvPr/>
        </p:nvSpPr>
        <p:spPr bwMode="auto"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  <a:endParaRPr/>
          </a:p>
        </p:txBody>
      </p:sp>
      <p:sp>
        <p:nvSpPr>
          <p:cNvPr id="488486485" name="TextBox 6"/>
          <p:cNvSpPr txBox="1"/>
          <p:nvPr/>
        </p:nvSpPr>
        <p:spPr bwMode="auto"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02 / 15</a:t>
            </a:r>
            <a:endParaRPr/>
          </a:p>
        </p:txBody>
      </p:sp>
      <p:sp>
        <p:nvSpPr>
          <p:cNvPr id="1260958631" name="Rounded Rectangle 7"/>
          <p:cNvSpPr/>
          <p:nvPr/>
        </p:nvSpPr>
        <p:spPr bwMode="auto">
          <a:xfrm>
            <a:off x="502920" y="2350008"/>
            <a:ext cx="11185855" cy="2148840"/>
          </a:xfrm>
          <a:prstGeom prst="roundRect">
            <a:avLst>
              <a:gd name="adj" fmla="val 3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63610942" name="TextBox 8"/>
          <p:cNvSpPr txBox="1"/>
          <p:nvPr/>
        </p:nvSpPr>
        <p:spPr bwMode="auto">
          <a:xfrm>
            <a:off x="758952" y="2532888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050" b="1" i="0">
                <a:solidFill>
                  <a:srgbClr val="0E93B4"/>
                </a:solidFill>
                <a:latin typeface="Consolas"/>
              </a:rPr>
              <a:t>AĞ İLETİŞİM ZİNCİRİ</a:t>
            </a:r>
            <a:endParaRPr/>
          </a:p>
        </p:txBody>
      </p:sp>
      <p:sp>
        <p:nvSpPr>
          <p:cNvPr id="1443246455" name="Rounded Rectangle 9"/>
          <p:cNvSpPr/>
          <p:nvPr/>
        </p:nvSpPr>
        <p:spPr bwMode="auto">
          <a:xfrm>
            <a:off x="758952" y="2916936"/>
            <a:ext cx="3344570" cy="1325880"/>
          </a:xfrm>
          <a:prstGeom prst="roundRect">
            <a:avLst>
              <a:gd name="adj" fmla="val 8000"/>
            </a:avLst>
          </a:prstGeom>
          <a:solidFill>
            <a:srgbClr val="10233F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defRPr/>
            </a:pPr>
            <a:r>
              <a:rPr sz="1350" b="1" i="0">
                <a:solidFill>
                  <a:srgbClr val="FFFFFF"/>
                </a:solidFill>
                <a:latin typeface="Calibri"/>
              </a:rPr>
              <a:t>Mikrodenetleyici</a:t>
            </a:r>
            <a:endParaRPr/>
          </a:p>
          <a:p>
            <a:pPr algn="ctr">
              <a:defRPr/>
            </a:pPr>
            <a:r>
              <a:rPr sz="950" b="0" i="0">
                <a:solidFill>
                  <a:srgbClr val="B9C6DE"/>
                </a:solidFill>
                <a:latin typeface="Calibri"/>
              </a:rPr>
              <a:t>sensör · motor · kamera…</a:t>
            </a:r>
            <a:endParaRPr/>
          </a:p>
        </p:txBody>
      </p:sp>
      <p:sp>
        <p:nvSpPr>
          <p:cNvPr id="1371953362" name="Right Arrow 10"/>
          <p:cNvSpPr/>
          <p:nvPr/>
        </p:nvSpPr>
        <p:spPr bwMode="auto">
          <a:xfrm>
            <a:off x="4130954" y="3497580"/>
            <a:ext cx="265176" cy="1645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06595559" name="Rounded Rectangle 11"/>
          <p:cNvSpPr/>
          <p:nvPr/>
        </p:nvSpPr>
        <p:spPr bwMode="auto">
          <a:xfrm>
            <a:off x="4423562" y="2916936"/>
            <a:ext cx="3344570" cy="1325880"/>
          </a:xfrm>
          <a:prstGeom prst="roundRect">
            <a:avLst>
              <a:gd name="adj" fmla="val 8000"/>
            </a:avLst>
          </a:prstGeom>
          <a:solidFill>
            <a:srgbClr val="DFF1F5"/>
          </a:solidFill>
          <a:ln w="19050">
            <a:solidFill>
              <a:srgbClr val="0E9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defRPr/>
            </a:pPr>
            <a:r>
              <a:rPr sz="1350" b="1" i="0">
                <a:solidFill>
                  <a:srgbClr val="101826"/>
                </a:solidFill>
                <a:latin typeface="Calibri"/>
              </a:rPr>
              <a:t>Ethernet Sürücüsü</a:t>
            </a:r>
            <a:endParaRPr/>
          </a:p>
          <a:p>
            <a:pPr algn="ctr">
              <a:defRPr/>
            </a:pPr>
            <a:r>
              <a:rPr sz="950" b="0" i="0">
                <a:solidFill>
                  <a:srgbClr val="5B6B80"/>
                </a:solidFill>
                <a:latin typeface="Calibri"/>
              </a:rPr>
              <a:t>"veriyi ağın anlayacağı pakete çeviren katman"</a:t>
            </a:r>
            <a:endParaRPr/>
          </a:p>
        </p:txBody>
      </p:sp>
      <p:sp>
        <p:nvSpPr>
          <p:cNvPr id="1333543556" name="Right Arrow 12"/>
          <p:cNvSpPr/>
          <p:nvPr/>
        </p:nvSpPr>
        <p:spPr bwMode="auto">
          <a:xfrm>
            <a:off x="7795564" y="3497580"/>
            <a:ext cx="265176" cy="1645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42767587" name="Rounded Rectangle 13"/>
          <p:cNvSpPr/>
          <p:nvPr/>
        </p:nvSpPr>
        <p:spPr bwMode="auto">
          <a:xfrm>
            <a:off x="8088172" y="2916936"/>
            <a:ext cx="3344570" cy="1325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defRPr/>
            </a:pPr>
            <a:r>
              <a:rPr sz="1350" b="1" i="0">
                <a:solidFill>
                  <a:srgbClr val="101826"/>
                </a:solidFill>
                <a:latin typeface="Calibri"/>
              </a:rPr>
              <a:t>Ağ / İnternet</a:t>
            </a:r>
            <a:endParaRPr/>
          </a:p>
        </p:txBody>
      </p:sp>
      <p:sp>
        <p:nvSpPr>
          <p:cNvPr id="42736559" name="Rectangle 14"/>
          <p:cNvSpPr/>
          <p:nvPr/>
        </p:nvSpPr>
        <p:spPr bwMode="auto">
          <a:xfrm>
            <a:off x="502920" y="4700016"/>
            <a:ext cx="45720" cy="566928"/>
          </a:xfrm>
          <a:prstGeom prst="rect">
            <a:avLst/>
          </a:prstGeom>
          <a:solidFill>
            <a:srgbClr val="0046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07286871" name="TextBox 15"/>
          <p:cNvSpPr txBox="1"/>
          <p:nvPr/>
        </p:nvSpPr>
        <p:spPr bwMode="auto">
          <a:xfrm>
            <a:off x="704088" y="4700016"/>
            <a:ext cx="10984687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defRPr/>
            </a:pPr>
            <a:r>
              <a:rPr sz="1300" b="0" i="0">
                <a:solidFill>
                  <a:srgbClr val="5B6B80"/>
                </a:solidFill>
                <a:latin typeface="Calibri"/>
              </a:rPr>
              <a:t>Hazır çözümler (işletim sistemi + ağ kütüphanesi) genelde ağırdır ve her karta doğrudan taşınmaz. Görevim: hafif, taşınabilir bir sürücüyü </a:t>
            </a:r>
            <a:r>
              <a:rPr sz="1300" b="1" i="0">
                <a:solidFill>
                  <a:srgbClr val="5B6B80"/>
                </a:solidFill>
                <a:latin typeface="Calibri"/>
              </a:rPr>
              <a:t>sıfırdan</a:t>
            </a:r>
            <a:r>
              <a:rPr sz="1300" b="0" i="0">
                <a:solidFill>
                  <a:srgbClr val="5B6B80"/>
                </a:solidFill>
                <a:latin typeface="Calibri"/>
              </a:rPr>
              <a:t> yazmak.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15394145" name="Picture 1" descr="sunu_arka_plan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402318314" name="TextBox 2"/>
          <p:cNvSpPr txBox="1"/>
          <p:nvPr/>
        </p:nvSpPr>
        <p:spPr bwMode="auto"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100" b="1" i="0">
                <a:solidFill>
                  <a:srgbClr val="0E93B4"/>
                </a:solidFill>
                <a:latin typeface="Consolas"/>
              </a:rPr>
              <a:t>02 · NE YAPTIM</a:t>
            </a:r>
            <a:endParaRPr/>
          </a:p>
        </p:txBody>
      </p:sp>
      <p:sp>
        <p:nvSpPr>
          <p:cNvPr id="468561133" name="TextBox 3"/>
          <p:cNvSpPr txBox="1"/>
          <p:nvPr/>
        </p:nvSpPr>
        <p:spPr bwMode="auto"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2700" b="1" i="0">
                <a:solidFill>
                  <a:srgbClr val="101826"/>
                </a:solidFill>
                <a:latin typeface="Calibri"/>
              </a:rPr>
              <a:t>İki parçadan oluşan bir sistem geliştirdim</a:t>
            </a:r>
            <a:endParaRPr/>
          </a:p>
        </p:txBody>
      </p:sp>
      <p:sp>
        <p:nvSpPr>
          <p:cNvPr id="229296707" name="TextBox 4"/>
          <p:cNvSpPr txBox="1"/>
          <p:nvPr/>
        </p:nvSpPr>
        <p:spPr bwMode="auto"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350" b="0" i="0">
                <a:solidFill>
                  <a:srgbClr val="5B6B80"/>
                </a:solidFill>
                <a:latin typeface="Calibri"/>
              </a:rPr>
              <a:t>Kartın içine gömülen bir kütüphane ve bilgisayardan o kartı test eden bir arayüz — ikisi aynı "dil" (E-AETIS protokolü) ile konuşuyor.</a:t>
            </a:r>
            <a:endParaRPr/>
          </a:p>
        </p:txBody>
      </p:sp>
      <p:sp>
        <p:nvSpPr>
          <p:cNvPr id="9590174" name="TextBox 5"/>
          <p:cNvSpPr txBox="1"/>
          <p:nvPr/>
        </p:nvSpPr>
        <p:spPr bwMode="auto"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  <a:endParaRPr/>
          </a:p>
        </p:txBody>
      </p:sp>
      <p:sp>
        <p:nvSpPr>
          <p:cNvPr id="289728060" name="TextBox 6"/>
          <p:cNvSpPr txBox="1"/>
          <p:nvPr/>
        </p:nvSpPr>
        <p:spPr bwMode="auto"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03 / 15</a:t>
            </a:r>
            <a:endParaRPr/>
          </a:p>
        </p:txBody>
      </p:sp>
      <p:sp>
        <p:nvSpPr>
          <p:cNvPr id="273782784" name="Rounded Rectangle 7"/>
          <p:cNvSpPr/>
          <p:nvPr/>
        </p:nvSpPr>
        <p:spPr bwMode="auto">
          <a:xfrm>
            <a:off x="502920" y="2103120"/>
            <a:ext cx="5455767" cy="329184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05379908" name="TextBox 8"/>
          <p:cNvSpPr txBox="1"/>
          <p:nvPr/>
        </p:nvSpPr>
        <p:spPr bwMode="auto">
          <a:xfrm>
            <a:off x="704088" y="2304288"/>
            <a:ext cx="505343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950" b="1" i="0">
                <a:solidFill>
                  <a:srgbClr val="0E93B4"/>
                </a:solidFill>
                <a:latin typeface="Consolas"/>
              </a:rPr>
              <a:t>GÖMÜLÜ TARAF</a:t>
            </a:r>
            <a:endParaRPr/>
          </a:p>
        </p:txBody>
      </p:sp>
      <p:sp>
        <p:nvSpPr>
          <p:cNvPr id="1556721661" name="TextBox 9"/>
          <p:cNvSpPr txBox="1"/>
          <p:nvPr/>
        </p:nvSpPr>
        <p:spPr bwMode="auto">
          <a:xfrm>
            <a:off x="704088" y="2578608"/>
            <a:ext cx="505343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500" b="1" i="0">
                <a:solidFill>
                  <a:srgbClr val="101826"/>
                </a:solidFill>
                <a:latin typeface="Calibri"/>
              </a:rPr>
              <a:t>Ethernet_BSP  (C)</a:t>
            </a:r>
            <a:endParaRPr/>
          </a:p>
        </p:txBody>
      </p:sp>
      <p:sp>
        <p:nvSpPr>
          <p:cNvPr id="1461991722" name="TextBox 10"/>
          <p:cNvSpPr txBox="1"/>
          <p:nvPr/>
        </p:nvSpPr>
        <p:spPr bwMode="auto">
          <a:xfrm>
            <a:off x="704088" y="2962656"/>
            <a:ext cx="5053431" cy="2231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/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Register seviyesi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MAC / DMA / PHY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erişimi</a:t>
            </a:r>
            <a:endParaRPr/>
          </a:p>
          <a:p>
            <a:pPr>
              <a:spcAft>
                <a:spcPts val="500"/>
              </a:spcAft>
              <a:defRPr/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RTOS yok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·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LwIP yok</a:t>
            </a:r>
            <a:endParaRPr/>
          </a:p>
          <a:p>
            <a:pPr>
              <a:spcAft>
                <a:spcPts val="500"/>
              </a:spcAft>
              <a:defRPr/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ARP / ICMP / UDP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elle yazılmış</a:t>
            </a:r>
            <a:endParaRPr/>
          </a:p>
          <a:p>
            <a:pPr>
              <a:spcAft>
                <a:spcPts val="500"/>
              </a:spcAft>
              <a:defRPr/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İsteğe bağlı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IAP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bootloader</a:t>
            </a:r>
            <a:endParaRPr/>
          </a:p>
        </p:txBody>
      </p:sp>
      <p:sp>
        <p:nvSpPr>
          <p:cNvPr id="69368555" name="Rounded Rectangle 11"/>
          <p:cNvSpPr/>
          <p:nvPr/>
        </p:nvSpPr>
        <p:spPr bwMode="auto">
          <a:xfrm>
            <a:off x="6233007" y="2103120"/>
            <a:ext cx="5455767" cy="329184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56141587" name="TextBox 12"/>
          <p:cNvSpPr txBox="1"/>
          <p:nvPr/>
        </p:nvSpPr>
        <p:spPr bwMode="auto">
          <a:xfrm>
            <a:off x="6434175" y="2304288"/>
            <a:ext cx="505343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950" b="1" i="0">
                <a:solidFill>
                  <a:srgbClr val="0E93B4"/>
                </a:solidFill>
                <a:latin typeface="Consolas"/>
              </a:rPr>
              <a:t>MASAÜSTÜ TARAF</a:t>
            </a:r>
            <a:endParaRPr/>
          </a:p>
        </p:txBody>
      </p:sp>
      <p:sp>
        <p:nvSpPr>
          <p:cNvPr id="1764031281" name="TextBox 13"/>
          <p:cNvSpPr txBox="1"/>
          <p:nvPr/>
        </p:nvSpPr>
        <p:spPr bwMode="auto">
          <a:xfrm>
            <a:off x="6434175" y="2578608"/>
            <a:ext cx="505343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500" b="1" i="0">
                <a:solidFill>
                  <a:srgbClr val="101826"/>
                </a:solidFill>
                <a:latin typeface="Calibri"/>
              </a:rPr>
              <a:t>E-AETIS GUI  (Python / PyQt5)</a:t>
            </a:r>
            <a:endParaRPr/>
          </a:p>
        </p:txBody>
      </p:sp>
      <p:sp>
        <p:nvSpPr>
          <p:cNvPr id="625247418" name="TextBox 14"/>
          <p:cNvSpPr txBox="1"/>
          <p:nvPr/>
        </p:nvSpPr>
        <p:spPr bwMode="auto">
          <a:xfrm>
            <a:off x="6434175" y="2962656"/>
            <a:ext cx="5053431" cy="2231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/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UDP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üzerinden kartla konuşur</a:t>
            </a:r>
            <a:endParaRPr/>
          </a:p>
          <a:p>
            <a:pPr>
              <a:spcAft>
                <a:spcPts val="500"/>
              </a:spcAft>
              <a:defRPr/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Telemetri, performans/jitter ölçümü</a:t>
            </a:r>
            <a:endParaRPr/>
          </a:p>
          <a:p>
            <a:pPr>
              <a:spcAft>
                <a:spcPts val="500"/>
              </a:spcAft>
              <a:defRPr/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Hata enjeksiyonu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(fuzz testi)</a:t>
            </a:r>
            <a:endParaRPr/>
          </a:p>
          <a:p>
            <a:pPr>
              <a:spcAft>
                <a:spcPts val="500"/>
              </a:spcAft>
              <a:defRPr/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Ağdan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firmware güncelleme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05878157" name="Picture 1" descr="sunu_arka_plan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28138244" name="TextBox 2"/>
          <p:cNvSpPr txBox="1"/>
          <p:nvPr/>
        </p:nvSpPr>
        <p:spPr bwMode="auto"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100" b="1" i="0">
                <a:solidFill>
                  <a:srgbClr val="0E93B4"/>
                </a:solidFill>
                <a:latin typeface="Consolas"/>
              </a:rPr>
              <a:t>03 · TASARIM FELSEFESI</a:t>
            </a:r>
            <a:endParaRPr/>
          </a:p>
        </p:txBody>
      </p:sp>
      <p:sp>
        <p:nvSpPr>
          <p:cNvPr id="1759310836" name="TextBox 3"/>
          <p:cNvSpPr txBox="1"/>
          <p:nvPr/>
        </p:nvSpPr>
        <p:spPr bwMode="auto"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2700" b="1" i="0">
                <a:solidFill>
                  <a:srgbClr val="101826"/>
                </a:solidFill>
                <a:latin typeface="Calibri"/>
              </a:rPr>
              <a:t>HAL_ETH, LwIP, FreeRTOS — bilinçli olarak yok</a:t>
            </a:r>
            <a:endParaRPr/>
          </a:p>
        </p:txBody>
      </p:sp>
      <p:sp>
        <p:nvSpPr>
          <p:cNvPr id="988708585" name="TextBox 4"/>
          <p:cNvSpPr txBox="1"/>
          <p:nvPr/>
        </p:nvSpPr>
        <p:spPr bwMode="auto"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350" b="0" i="0">
                <a:solidFill>
                  <a:srgbClr val="5B6B80"/>
                </a:solidFill>
                <a:latin typeface="Calibri"/>
              </a:rPr>
              <a:t>Amaç ürünü hızlıca çıkarmak değildi; MAC / PHY / DMA seviyesinde ne olup bittiğini görebileceğim, öngörülebilir bir sistem kurmaktı.</a:t>
            </a:r>
            <a:endParaRPr/>
          </a:p>
        </p:txBody>
      </p:sp>
      <p:sp>
        <p:nvSpPr>
          <p:cNvPr id="613261610" name="TextBox 5"/>
          <p:cNvSpPr txBox="1"/>
          <p:nvPr/>
        </p:nvSpPr>
        <p:spPr bwMode="auto"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  <a:endParaRPr/>
          </a:p>
        </p:txBody>
      </p:sp>
      <p:sp>
        <p:nvSpPr>
          <p:cNvPr id="1389592285" name="TextBox 6"/>
          <p:cNvSpPr txBox="1"/>
          <p:nvPr/>
        </p:nvSpPr>
        <p:spPr bwMode="auto"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04 / 15</a:t>
            </a:r>
            <a:endParaRPr/>
          </a:p>
        </p:txBody>
      </p:sp>
      <p:graphicFrame>
        <p:nvGraphicFramePr>
          <p:cNvPr id="771598774" name="Table 7"/>
          <p:cNvGraphicFramePr>
            <a:graphicFrameLocks xmlns:a="http://schemas.openxmlformats.org/drawingml/2006/main" noGrp="1"/>
          </p:cNvGraphicFramePr>
          <p:nvPr/>
        </p:nvGraphicFramePr>
        <p:xfrm>
          <a:off x="502920" y="2057400"/>
          <a:ext cx="11185853" cy="3108960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2013453"/>
                <a:gridCol w="4586200"/>
                <a:gridCol w="4586200"/>
              </a:tblGrid>
              <a:tr h="518160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BU PROJE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HAZIR YIĞIN (HAL + LWIP + FREERTOS)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</a:tr>
              <a:tr h="518160"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Şeffaflık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1" i="0">
                          <a:solidFill>
                            <a:srgbClr val="17936B"/>
                          </a:solidFill>
                          <a:latin typeface="Calibri"/>
                        </a:rPr>
                        <a:t>Her register erişimi görünür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1" i="0">
                          <a:solidFill>
                            <a:srgbClr val="B6720F"/>
                          </a:solidFill>
                          <a:latin typeface="Calibri"/>
                        </a:rPr>
                        <a:t>Üç kütüphanenin içine inmeden bilinmez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Bellek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1" i="0">
                          <a:solidFill>
                            <a:srgbClr val="17936B"/>
                          </a:solidFill>
                          <a:latin typeface="Calibri"/>
                        </a:rPr>
                        <a:t>Statik, malloc yok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1" i="0">
                          <a:solidFill>
                            <a:srgbClr val="B6720F"/>
                          </a:solidFill>
                          <a:latin typeface="Calibri"/>
                        </a:rPr>
                        <a:t>Dinamik pbuf havuzu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Zamanlama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1" i="0">
                          <a:solidFill>
                            <a:srgbClr val="17936B"/>
                          </a:solidFill>
                          <a:latin typeface="Calibri"/>
                        </a:rPr>
                        <a:t>Tek bağlam, deterministik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1" i="0">
                          <a:solidFill>
                            <a:srgbClr val="B6720F"/>
                          </a:solidFill>
                          <a:latin typeface="Calibri"/>
                        </a:rPr>
                        <a:t>Context-switch jitter'ı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Taşınabilirlik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1" i="0">
                          <a:solidFill>
                            <a:srgbClr val="17936B"/>
                          </a:solidFill>
                          <a:latin typeface="Calibri"/>
                        </a:rPr>
                        <a:t>Tek config, 4 MCU × 3 PHY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1" i="0">
                          <a:solidFill>
                            <a:srgbClr val="B6720F"/>
                          </a:solidFill>
                          <a:latin typeface="Calibri"/>
                        </a:rPr>
                        <a:t>HAL ailelerde farklı API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Kapsam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1" i="0">
                          <a:solidFill>
                            <a:srgbClr val="B6720F"/>
                          </a:solidFill>
                          <a:latin typeface="Calibri"/>
                        </a:rPr>
                        <a:t>Yalnızca ARP/ICMP/UDP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1" i="0">
                          <a:solidFill>
                            <a:srgbClr val="17936B"/>
                          </a:solidFill>
                          <a:latin typeface="Calibri"/>
                        </a:rPr>
                        <a:t>TCP/DHCP/DNS hazır gelir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63175677" name="Picture 1" descr="sunu_arka_plan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07169666" name="TextBox 2"/>
          <p:cNvSpPr txBox="1"/>
          <p:nvPr/>
        </p:nvSpPr>
        <p:spPr bwMode="auto"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100" b="1" i="0">
                <a:solidFill>
                  <a:srgbClr val="0E93B4"/>
                </a:solidFill>
                <a:latin typeface="Consolas"/>
              </a:rPr>
              <a:t>04 · MIMARI</a:t>
            </a:r>
            <a:endParaRPr/>
          </a:p>
        </p:txBody>
      </p:sp>
      <p:sp>
        <p:nvSpPr>
          <p:cNvPr id="2008901684" name="TextBox 3"/>
          <p:cNvSpPr txBox="1"/>
          <p:nvPr/>
        </p:nvSpPr>
        <p:spPr bwMode="auto"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2400" b="1" i="0">
                <a:solidFill>
                  <a:srgbClr val="101826"/>
                </a:solidFill>
                <a:latin typeface="Calibri"/>
              </a:rPr>
              <a:t>Üç bağımsız eksen</a:t>
            </a:r>
            <a:endParaRPr/>
          </a:p>
        </p:txBody>
      </p:sp>
      <p:sp>
        <p:nvSpPr>
          <p:cNvPr id="2045583840" name="TextBox 4"/>
          <p:cNvSpPr txBox="1"/>
          <p:nvPr/>
        </p:nvSpPr>
        <p:spPr bwMode="auto"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350" b="0" i="0">
                <a:solidFill>
                  <a:srgbClr val="5B6B80"/>
                </a:solidFill>
                <a:latin typeface="Calibri"/>
              </a:rPr>
              <a:t>Bir eksende yapılan değişiklik diğerlerini etkilemez — bu, yeni bir karta geçişi tek dosyalık bir işe indirir.</a:t>
            </a:r>
            <a:endParaRPr/>
          </a:p>
        </p:txBody>
      </p:sp>
      <p:sp>
        <p:nvSpPr>
          <p:cNvPr id="1410853539" name="TextBox 5"/>
          <p:cNvSpPr txBox="1"/>
          <p:nvPr/>
        </p:nvSpPr>
        <p:spPr bwMode="auto"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  <a:endParaRPr/>
          </a:p>
        </p:txBody>
      </p:sp>
      <p:sp>
        <p:nvSpPr>
          <p:cNvPr id="1816870371" name="TextBox 6"/>
          <p:cNvSpPr txBox="1"/>
          <p:nvPr/>
        </p:nvSpPr>
        <p:spPr bwMode="auto"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05 / 15</a:t>
            </a:r>
            <a:endParaRPr/>
          </a:p>
        </p:txBody>
      </p:sp>
      <p:sp>
        <p:nvSpPr>
          <p:cNvPr id="1906395178" name="Rounded Rectangle 7"/>
          <p:cNvSpPr/>
          <p:nvPr/>
        </p:nvSpPr>
        <p:spPr bwMode="auto">
          <a:xfrm>
            <a:off x="3211830" y="2022395"/>
            <a:ext cx="1805940" cy="248316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>
              <a:defRPr/>
            </a:pPr>
            <a:r>
              <a:rPr sz="900" b="1" i="0">
                <a:solidFill>
                  <a:srgbClr val="101826"/>
                </a:solidFill>
                <a:latin typeface="Calibri"/>
              </a:rPr>
              <a:t>eth_config.h</a:t>
            </a:r>
            <a:endParaRPr/>
          </a:p>
        </p:txBody>
      </p:sp>
      <p:cxnSp>
        <p:nvCxnSpPr>
          <p:cNvPr id="280999258" name="Connector 8"/>
          <p:cNvCxnSpPr/>
          <p:nvPr/>
        </p:nvCxnSpPr>
        <p:spPr bwMode="auto">
          <a:xfrm>
            <a:off x="4114800" y="2270712"/>
            <a:ext cx="0" cy="169307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9493930" name="Isosceles Triangle 9"/>
          <p:cNvSpPr/>
          <p:nvPr/>
        </p:nvSpPr>
        <p:spPr bwMode="auto">
          <a:xfrm rot="10800000">
            <a:off x="4082796" y="2408015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90104734" name="Rounded Rectangle 10"/>
          <p:cNvSpPr/>
          <p:nvPr/>
        </p:nvSpPr>
        <p:spPr bwMode="auto">
          <a:xfrm>
            <a:off x="3211830" y="2451305"/>
            <a:ext cx="1805940" cy="282178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>
              <a:defRPr/>
            </a:pPr>
            <a:r>
              <a:rPr sz="900" b="1" i="0">
                <a:solidFill>
                  <a:srgbClr val="101826"/>
                </a:solidFill>
                <a:latin typeface="Calibri"/>
              </a:rPr>
              <a:t>eth_device.h</a:t>
            </a:r>
            <a:endParaRPr/>
          </a:p>
          <a:p>
            <a:pPr algn="ctr">
              <a:defRPr/>
            </a:pPr>
            <a:r>
              <a:rPr sz="750" b="0" i="0">
                <a:solidFill>
                  <a:srgbClr val="5B6B80"/>
                </a:solidFill>
                <a:latin typeface="Calibri"/>
              </a:rPr>
              <a:t>MCU → yetenek eşlemesi</a:t>
            </a:r>
            <a:endParaRPr/>
          </a:p>
        </p:txBody>
      </p:sp>
      <p:cxnSp>
        <p:nvCxnSpPr>
          <p:cNvPr id="1908062234" name="Connector 11"/>
          <p:cNvCxnSpPr/>
          <p:nvPr/>
        </p:nvCxnSpPr>
        <p:spPr bwMode="auto">
          <a:xfrm flipH="1">
            <a:off x="2320147" y="2733484"/>
            <a:ext cx="1794653" cy="180594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3665401" name="Isosceles Triangle 12"/>
          <p:cNvSpPr/>
          <p:nvPr/>
        </p:nvSpPr>
        <p:spPr bwMode="auto">
          <a:xfrm rot="15855223">
            <a:off x="2288143" y="2882074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cxnSp>
        <p:nvCxnSpPr>
          <p:cNvPr id="911263567" name="Connector 13"/>
          <p:cNvCxnSpPr/>
          <p:nvPr/>
        </p:nvCxnSpPr>
        <p:spPr bwMode="auto">
          <a:xfrm>
            <a:off x="4114800" y="2733484"/>
            <a:ext cx="1794652" cy="180594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1731602" name="Isosceles Triangle 14"/>
          <p:cNvSpPr/>
          <p:nvPr/>
        </p:nvSpPr>
        <p:spPr bwMode="auto">
          <a:xfrm rot="5744776">
            <a:off x="5877448" y="2882074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77031035" name="TextBox 15"/>
          <p:cNvSpPr txBox="1"/>
          <p:nvPr/>
        </p:nvSpPr>
        <p:spPr bwMode="auto">
          <a:xfrm>
            <a:off x="1888806" y="2700623"/>
            <a:ext cx="21945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700" b="0" i="0">
                <a:solidFill>
                  <a:srgbClr val="5B6B80"/>
                </a:solidFill>
                <a:latin typeface="Consolas"/>
              </a:rPr>
              <a:t>MAC seçimi</a:t>
            </a:r>
            <a:endParaRPr/>
          </a:p>
        </p:txBody>
      </p:sp>
      <p:sp>
        <p:nvSpPr>
          <p:cNvPr id="1288243430" name="TextBox 16"/>
          <p:cNvSpPr txBox="1"/>
          <p:nvPr/>
        </p:nvSpPr>
        <p:spPr bwMode="auto">
          <a:xfrm>
            <a:off x="4146232" y="2700623"/>
            <a:ext cx="21945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700" b="0" i="0">
                <a:solidFill>
                  <a:srgbClr val="5B6B80"/>
                </a:solidFill>
                <a:latin typeface="Consolas"/>
              </a:rPr>
              <a:t>PHY seçimi</a:t>
            </a:r>
            <a:endParaRPr/>
          </a:p>
        </p:txBody>
      </p:sp>
      <p:sp>
        <p:nvSpPr>
          <p:cNvPr id="2088267234" name="Rounded Rectangle 17"/>
          <p:cNvSpPr/>
          <p:nvPr/>
        </p:nvSpPr>
        <p:spPr bwMode="auto">
          <a:xfrm>
            <a:off x="728662" y="2925365"/>
            <a:ext cx="3160394" cy="1072276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99056383" name="TextBox 18"/>
          <p:cNvSpPr txBox="1"/>
          <p:nvPr/>
        </p:nvSpPr>
        <p:spPr bwMode="auto">
          <a:xfrm>
            <a:off x="820102" y="2961941"/>
            <a:ext cx="297751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800" b="1" i="0">
                <a:solidFill>
                  <a:srgbClr val="0E93B4"/>
                </a:solidFill>
                <a:latin typeface="Consolas"/>
              </a:rPr>
              <a:t>MAC PORT EKSENI</a:t>
            </a:r>
            <a:endParaRPr/>
          </a:p>
        </p:txBody>
      </p:sp>
      <p:sp>
        <p:nvSpPr>
          <p:cNvPr id="39499849" name="TextBox 19"/>
          <p:cNvSpPr txBox="1"/>
          <p:nvPr/>
        </p:nvSpPr>
        <p:spPr bwMode="auto">
          <a:xfrm>
            <a:off x="820102" y="3108245"/>
            <a:ext cx="2977515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700" b="0" i="1">
                <a:solidFill>
                  <a:srgbClr val="5B6B80"/>
                </a:solidFill>
                <a:latin typeface="Calibri"/>
              </a:rPr>
              <a:t>yalnızca biri derlenir</a:t>
            </a:r>
            <a:endParaRPr/>
          </a:p>
        </p:txBody>
      </p:sp>
      <p:sp>
        <p:nvSpPr>
          <p:cNvPr id="665285581" name="Rounded Rectangle 20"/>
          <p:cNvSpPr/>
          <p:nvPr/>
        </p:nvSpPr>
        <p:spPr bwMode="auto">
          <a:xfrm>
            <a:off x="4340542" y="2925365"/>
            <a:ext cx="3160394" cy="1072276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0046994" name="TextBox 21"/>
          <p:cNvSpPr txBox="1"/>
          <p:nvPr/>
        </p:nvSpPr>
        <p:spPr bwMode="auto">
          <a:xfrm>
            <a:off x="4431982" y="2961941"/>
            <a:ext cx="297751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800" b="1" i="0">
                <a:solidFill>
                  <a:srgbClr val="0E93B4"/>
                </a:solidFill>
                <a:latin typeface="Consolas"/>
              </a:rPr>
              <a:t>PHY EKSENI</a:t>
            </a:r>
            <a:endParaRPr/>
          </a:p>
        </p:txBody>
      </p:sp>
      <p:sp>
        <p:nvSpPr>
          <p:cNvPr id="1019636211" name="TextBox 22"/>
          <p:cNvSpPr txBox="1"/>
          <p:nvPr/>
        </p:nvSpPr>
        <p:spPr bwMode="auto">
          <a:xfrm>
            <a:off x="4431982" y="3108245"/>
            <a:ext cx="2977515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700" b="0" i="1">
                <a:solidFill>
                  <a:srgbClr val="5B6B80"/>
                </a:solidFill>
                <a:latin typeface="Calibri"/>
              </a:rPr>
              <a:t>yalnızca biri derlenir</a:t>
            </a:r>
            <a:endParaRPr/>
          </a:p>
        </p:txBody>
      </p:sp>
      <p:sp>
        <p:nvSpPr>
          <p:cNvPr id="526835678" name="Rounded Rectangle 23"/>
          <p:cNvSpPr/>
          <p:nvPr/>
        </p:nvSpPr>
        <p:spPr bwMode="auto">
          <a:xfrm>
            <a:off x="897969" y="3173682"/>
            <a:ext cx="1185148" cy="304752"/>
          </a:xfrm>
          <a:prstGeom prst="roundRect">
            <a:avLst>
              <a:gd name="adj" fmla="val 14000"/>
            </a:avLst>
          </a:prstGeom>
          <a:solidFill>
            <a:srgbClr val="DFF1F5"/>
          </a:solidFill>
          <a:ln w="19050">
            <a:solidFill>
              <a:srgbClr val="0E9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>
              <a:defRPr/>
            </a:pPr>
            <a:r>
              <a:rPr sz="900" b="1" i="0">
                <a:solidFill>
                  <a:srgbClr val="101826"/>
                </a:solidFill>
                <a:latin typeface="Calibri"/>
              </a:rPr>
              <a:t>eth_port_eqos.c</a:t>
            </a:r>
            <a:endParaRPr/>
          </a:p>
          <a:p>
            <a:pPr algn="ctr">
              <a:defRPr/>
            </a:pPr>
            <a:r>
              <a:rPr sz="750" b="0" i="0">
                <a:solidFill>
                  <a:srgbClr val="5B6B80"/>
                </a:solidFill>
                <a:latin typeface="Calibri"/>
              </a:rPr>
              <a:t>H5 / H7</a:t>
            </a:r>
            <a:endParaRPr/>
          </a:p>
        </p:txBody>
      </p:sp>
      <p:sp>
        <p:nvSpPr>
          <p:cNvPr id="208444840" name="Rounded Rectangle 24"/>
          <p:cNvSpPr/>
          <p:nvPr/>
        </p:nvSpPr>
        <p:spPr bwMode="auto">
          <a:xfrm>
            <a:off x="2534602" y="3173682"/>
            <a:ext cx="1185148" cy="304752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>
              <a:defRPr/>
            </a:pPr>
            <a:r>
              <a:rPr sz="900" b="1" i="0">
                <a:solidFill>
                  <a:srgbClr val="101826"/>
                </a:solidFill>
                <a:latin typeface="Calibri"/>
              </a:rPr>
              <a:t>eth_port_gmac.c</a:t>
            </a:r>
            <a:endParaRPr/>
          </a:p>
          <a:p>
            <a:pPr algn="ctr">
              <a:defRPr/>
            </a:pPr>
            <a:r>
              <a:rPr sz="750" b="0" i="0">
                <a:solidFill>
                  <a:srgbClr val="5B6B80"/>
                </a:solidFill>
                <a:latin typeface="Calibri"/>
              </a:rPr>
              <a:t>F4 / F7</a:t>
            </a:r>
            <a:endParaRPr/>
          </a:p>
        </p:txBody>
      </p:sp>
      <p:sp>
        <p:nvSpPr>
          <p:cNvPr id="1538035549" name="TextBox 25"/>
          <p:cNvSpPr txBox="1"/>
          <p:nvPr/>
        </p:nvSpPr>
        <p:spPr bwMode="auto">
          <a:xfrm>
            <a:off x="1211580" y="3248048"/>
            <a:ext cx="21945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750" b="0" i="1">
                <a:solidFill>
                  <a:srgbClr val="5B6B80"/>
                </a:solidFill>
                <a:latin typeface="Calibri"/>
              </a:rPr>
              <a:t>veya</a:t>
            </a:r>
            <a:endParaRPr/>
          </a:p>
        </p:txBody>
      </p:sp>
      <p:sp>
        <p:nvSpPr>
          <p:cNvPr id="2014663630" name="Rounded Rectangle 26"/>
          <p:cNvSpPr/>
          <p:nvPr/>
        </p:nvSpPr>
        <p:spPr bwMode="auto">
          <a:xfrm>
            <a:off x="4509849" y="3173682"/>
            <a:ext cx="1185148" cy="304752"/>
          </a:xfrm>
          <a:prstGeom prst="roundRect">
            <a:avLst>
              <a:gd name="adj" fmla="val 14000"/>
            </a:avLst>
          </a:prstGeom>
          <a:solidFill>
            <a:srgbClr val="DFF1F5"/>
          </a:solidFill>
          <a:ln w="19050">
            <a:solidFill>
              <a:srgbClr val="0E9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>
              <a:defRPr/>
            </a:pPr>
            <a:r>
              <a:rPr sz="900" b="1" i="0">
                <a:solidFill>
                  <a:srgbClr val="101826"/>
                </a:solidFill>
                <a:latin typeface="Calibri"/>
              </a:rPr>
              <a:t>eth_phy_lan87xx.c</a:t>
            </a:r>
            <a:endParaRPr/>
          </a:p>
          <a:p>
            <a:pPr algn="ctr">
              <a:defRPr/>
            </a:pPr>
            <a:r>
              <a:rPr sz="750" b="0" i="0">
                <a:solidFill>
                  <a:srgbClr val="5B6B80"/>
                </a:solidFill>
                <a:latin typeface="Calibri"/>
              </a:rPr>
              <a:t>LAN8720A / 8742A</a:t>
            </a:r>
            <a:endParaRPr/>
          </a:p>
        </p:txBody>
      </p:sp>
      <p:sp>
        <p:nvSpPr>
          <p:cNvPr id="1823980346" name="Rounded Rectangle 27"/>
          <p:cNvSpPr/>
          <p:nvPr/>
        </p:nvSpPr>
        <p:spPr bwMode="auto">
          <a:xfrm>
            <a:off x="6146481" y="3173682"/>
            <a:ext cx="1185148" cy="304752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>
              <a:defRPr/>
            </a:pPr>
            <a:r>
              <a:rPr sz="900" b="1" i="0">
                <a:solidFill>
                  <a:srgbClr val="101826"/>
                </a:solidFill>
                <a:latin typeface="Calibri"/>
              </a:rPr>
              <a:t>eth_phy_ksz80xx.c</a:t>
            </a:r>
            <a:endParaRPr/>
          </a:p>
          <a:p>
            <a:pPr algn="ctr">
              <a:defRPr/>
            </a:pPr>
            <a:r>
              <a:rPr sz="750" b="0" i="0">
                <a:solidFill>
                  <a:srgbClr val="5B6B80"/>
                </a:solidFill>
                <a:latin typeface="Calibri"/>
              </a:rPr>
              <a:t>KSZ8081</a:t>
            </a:r>
            <a:endParaRPr/>
          </a:p>
        </p:txBody>
      </p:sp>
      <p:sp>
        <p:nvSpPr>
          <p:cNvPr id="1898738489" name="TextBox 28"/>
          <p:cNvSpPr txBox="1"/>
          <p:nvPr/>
        </p:nvSpPr>
        <p:spPr bwMode="auto">
          <a:xfrm>
            <a:off x="4823460" y="3248048"/>
            <a:ext cx="21945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750" b="0" i="1">
                <a:solidFill>
                  <a:srgbClr val="5B6B80"/>
                </a:solidFill>
                <a:latin typeface="Calibri"/>
              </a:rPr>
              <a:t>veya</a:t>
            </a:r>
            <a:endParaRPr/>
          </a:p>
        </p:txBody>
      </p:sp>
      <p:cxnSp>
        <p:nvCxnSpPr>
          <p:cNvPr id="2000789219" name="Connector 29"/>
          <p:cNvCxnSpPr/>
          <p:nvPr/>
        </p:nvCxnSpPr>
        <p:spPr bwMode="auto">
          <a:xfrm>
            <a:off x="1490543" y="3478434"/>
            <a:ext cx="479703" cy="191881"/>
          </a:xfrm>
          <a:prstGeom prst="line">
            <a:avLst/>
          </a:prstGeom>
          <a:ln w="13970">
            <a:solidFill>
              <a:srgbClr val="5B6B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1802411" name="Isosceles Triangle 30"/>
          <p:cNvSpPr/>
          <p:nvPr/>
        </p:nvSpPr>
        <p:spPr bwMode="auto">
          <a:xfrm rot="6708085">
            <a:off x="1938242" y="3638311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cxnSp>
        <p:nvCxnSpPr>
          <p:cNvPr id="331449054" name="Connector 31"/>
          <p:cNvCxnSpPr/>
          <p:nvPr/>
        </p:nvCxnSpPr>
        <p:spPr bwMode="auto">
          <a:xfrm flipH="1">
            <a:off x="2647473" y="3478434"/>
            <a:ext cx="479703" cy="191881"/>
          </a:xfrm>
          <a:prstGeom prst="line">
            <a:avLst/>
          </a:prstGeom>
          <a:ln w="13970">
            <a:solidFill>
              <a:srgbClr val="5B6B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2660196" name="Isosceles Triangle 32"/>
          <p:cNvSpPr/>
          <p:nvPr/>
        </p:nvSpPr>
        <p:spPr bwMode="auto">
          <a:xfrm rot="14891915">
            <a:off x="2615469" y="3638311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cxnSp>
        <p:nvCxnSpPr>
          <p:cNvPr id="296294995" name="Connector 33"/>
          <p:cNvCxnSpPr/>
          <p:nvPr/>
        </p:nvCxnSpPr>
        <p:spPr bwMode="auto">
          <a:xfrm>
            <a:off x="5102423" y="3478434"/>
            <a:ext cx="479703" cy="191881"/>
          </a:xfrm>
          <a:prstGeom prst="line">
            <a:avLst/>
          </a:prstGeom>
          <a:ln w="13970">
            <a:solidFill>
              <a:srgbClr val="5B6B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0857417" name="Isosceles Triangle 34"/>
          <p:cNvSpPr/>
          <p:nvPr/>
        </p:nvSpPr>
        <p:spPr bwMode="auto">
          <a:xfrm rot="6708085">
            <a:off x="5550122" y="3638311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cxnSp>
        <p:nvCxnSpPr>
          <p:cNvPr id="209933347" name="Connector 35"/>
          <p:cNvCxnSpPr/>
          <p:nvPr/>
        </p:nvCxnSpPr>
        <p:spPr bwMode="auto">
          <a:xfrm flipH="1">
            <a:off x="6259353" y="3478434"/>
            <a:ext cx="479703" cy="191881"/>
          </a:xfrm>
          <a:prstGeom prst="line">
            <a:avLst/>
          </a:prstGeom>
          <a:ln w="13970">
            <a:solidFill>
              <a:srgbClr val="5B6B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8887326" name="Isosceles Triangle 36"/>
          <p:cNvSpPr/>
          <p:nvPr/>
        </p:nvSpPr>
        <p:spPr bwMode="auto">
          <a:xfrm rot="14891915">
            <a:off x="6227349" y="3638311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92045872" name="Rounded Rectangle 37"/>
          <p:cNvSpPr/>
          <p:nvPr/>
        </p:nvSpPr>
        <p:spPr bwMode="auto">
          <a:xfrm>
            <a:off x="1744503" y="3670315"/>
            <a:ext cx="1128712" cy="270891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>
              <a:defRPr/>
            </a:pPr>
            <a:r>
              <a:rPr sz="900" b="1" i="0">
                <a:solidFill>
                  <a:srgbClr val="101826"/>
                </a:solidFill>
                <a:latin typeface="Calibri"/>
              </a:rPr>
              <a:t>eth_port.h</a:t>
            </a:r>
            <a:endParaRPr/>
          </a:p>
        </p:txBody>
      </p:sp>
      <p:sp>
        <p:nvSpPr>
          <p:cNvPr id="191256941" name="Rounded Rectangle 38"/>
          <p:cNvSpPr/>
          <p:nvPr/>
        </p:nvSpPr>
        <p:spPr bwMode="auto">
          <a:xfrm>
            <a:off x="5356383" y="3670315"/>
            <a:ext cx="1128712" cy="270891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>
              <a:defRPr/>
            </a:pPr>
            <a:r>
              <a:rPr sz="900" b="1" i="0">
                <a:solidFill>
                  <a:srgbClr val="101826"/>
                </a:solidFill>
                <a:latin typeface="Calibri"/>
              </a:rPr>
              <a:t>eth_phy.h</a:t>
            </a:r>
            <a:endParaRPr/>
          </a:p>
        </p:txBody>
      </p:sp>
      <p:cxnSp>
        <p:nvCxnSpPr>
          <p:cNvPr id="1297983422" name="Connector 39"/>
          <p:cNvCxnSpPr/>
          <p:nvPr/>
        </p:nvCxnSpPr>
        <p:spPr bwMode="auto">
          <a:xfrm>
            <a:off x="2308860" y="3941206"/>
            <a:ext cx="0" cy="225743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294561" name="Connector 40"/>
          <p:cNvCxnSpPr/>
          <p:nvPr/>
        </p:nvCxnSpPr>
        <p:spPr bwMode="auto">
          <a:xfrm>
            <a:off x="5920740" y="3941206"/>
            <a:ext cx="0" cy="225743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1784097" name="Connector 41"/>
          <p:cNvCxnSpPr/>
          <p:nvPr/>
        </p:nvCxnSpPr>
        <p:spPr bwMode="auto">
          <a:xfrm>
            <a:off x="2195988" y="4166949"/>
            <a:ext cx="3724752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796491" name="Connector 42"/>
          <p:cNvCxnSpPr/>
          <p:nvPr/>
        </p:nvCxnSpPr>
        <p:spPr bwMode="auto">
          <a:xfrm>
            <a:off x="2195988" y="4166949"/>
            <a:ext cx="0" cy="225742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8893537" name="Isosceles Triangle 43"/>
          <p:cNvSpPr/>
          <p:nvPr/>
        </p:nvSpPr>
        <p:spPr bwMode="auto">
          <a:xfrm rot="10800000">
            <a:off x="2163984" y="4360687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39165407" name="Rounded Rectangle 44"/>
          <p:cNvSpPr/>
          <p:nvPr/>
        </p:nvSpPr>
        <p:spPr bwMode="auto">
          <a:xfrm>
            <a:off x="728662" y="4336256"/>
            <a:ext cx="6772275" cy="1467326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29871008" name="TextBox 45"/>
          <p:cNvSpPr txBox="1"/>
          <p:nvPr/>
        </p:nvSpPr>
        <p:spPr bwMode="auto">
          <a:xfrm>
            <a:off x="820102" y="4372832"/>
            <a:ext cx="658939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800" b="1" i="0">
                <a:solidFill>
                  <a:srgbClr val="0E93B4"/>
                </a:solidFill>
                <a:latin typeface="Consolas"/>
              </a:rPr>
              <a:t>ÇEKIRDEK — DONANIMDAN BAĞIMSIZ</a:t>
            </a:r>
            <a:endParaRPr/>
          </a:p>
        </p:txBody>
      </p:sp>
      <p:sp>
        <p:nvSpPr>
          <p:cNvPr id="444236341" name="Rounded Rectangle 46"/>
          <p:cNvSpPr/>
          <p:nvPr/>
        </p:nvSpPr>
        <p:spPr bwMode="auto">
          <a:xfrm>
            <a:off x="1123711" y="4505563"/>
            <a:ext cx="2144553" cy="361188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>
              <a:defRPr/>
            </a:pPr>
            <a:r>
              <a:rPr sz="1000" b="1" i="0">
                <a:solidFill>
                  <a:srgbClr val="101826"/>
                </a:solidFill>
                <a:latin typeface="Calibri"/>
              </a:rPr>
              <a:t>eth_driver.c</a:t>
            </a:r>
            <a:endParaRPr/>
          </a:p>
          <a:p>
            <a:pPr algn="ctr">
              <a:defRPr/>
            </a:pPr>
            <a:r>
              <a:rPr sz="800" b="0" i="0">
                <a:solidFill>
                  <a:srgbClr val="5B6B80"/>
                </a:solidFill>
                <a:latin typeface="Calibri"/>
              </a:rPr>
              <a:t>ring + sahiplik protokolü</a:t>
            </a:r>
            <a:endParaRPr/>
          </a:p>
        </p:txBody>
      </p:sp>
      <p:cxnSp>
        <p:nvCxnSpPr>
          <p:cNvPr id="1646697169" name="Connector 47"/>
          <p:cNvCxnSpPr/>
          <p:nvPr/>
        </p:nvCxnSpPr>
        <p:spPr bwMode="auto">
          <a:xfrm>
            <a:off x="3268265" y="4686157"/>
            <a:ext cx="395050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735739" name="Isosceles Triangle 48"/>
          <p:cNvSpPr/>
          <p:nvPr/>
        </p:nvSpPr>
        <p:spPr bwMode="auto">
          <a:xfrm rot="5400000">
            <a:off x="3631311" y="4654153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86936630" name="Rounded Rectangle 49"/>
          <p:cNvSpPr/>
          <p:nvPr/>
        </p:nvSpPr>
        <p:spPr bwMode="auto">
          <a:xfrm>
            <a:off x="3663315" y="4505563"/>
            <a:ext cx="2144553" cy="361188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>
              <a:defRPr/>
            </a:pPr>
            <a:r>
              <a:rPr sz="1000" b="1" i="0">
                <a:solidFill>
                  <a:srgbClr val="101826"/>
                </a:solidFill>
                <a:latin typeface="Calibri"/>
              </a:rPr>
              <a:t>eth_app.c</a:t>
            </a:r>
            <a:endParaRPr/>
          </a:p>
          <a:p>
            <a:pPr algn="ctr">
              <a:defRPr/>
            </a:pPr>
            <a:r>
              <a:rPr sz="800" b="0" i="0">
                <a:solidFill>
                  <a:srgbClr val="5B6B80"/>
                </a:solidFill>
                <a:latin typeface="Calibri"/>
              </a:rPr>
              <a:t>ARP / ICMP / UDP</a:t>
            </a:r>
            <a:endParaRPr/>
          </a:p>
        </p:txBody>
      </p:sp>
      <p:cxnSp>
        <p:nvCxnSpPr>
          <p:cNvPr id="1856603330" name="Connector 50"/>
          <p:cNvCxnSpPr/>
          <p:nvPr/>
        </p:nvCxnSpPr>
        <p:spPr bwMode="auto">
          <a:xfrm>
            <a:off x="5807868" y="4686157"/>
            <a:ext cx="395050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0313008" name="Isosceles Triangle 51"/>
          <p:cNvSpPr/>
          <p:nvPr/>
        </p:nvSpPr>
        <p:spPr bwMode="auto">
          <a:xfrm rot="5400000">
            <a:off x="6170914" y="4654153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9150912" name="Rounded Rectangle 52"/>
          <p:cNvSpPr/>
          <p:nvPr/>
        </p:nvSpPr>
        <p:spPr bwMode="auto">
          <a:xfrm>
            <a:off x="6202918" y="4505563"/>
            <a:ext cx="1185148" cy="361188"/>
          </a:xfrm>
          <a:prstGeom prst="roundRect">
            <a:avLst>
              <a:gd name="adj" fmla="val 14000"/>
            </a:avLst>
          </a:prstGeom>
          <a:solidFill>
            <a:srgbClr val="F7ECD9"/>
          </a:solidFill>
          <a:ln w="15240">
            <a:solidFill>
              <a:srgbClr val="B6720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>
              <a:defRPr/>
            </a:pPr>
            <a:r>
              <a:rPr sz="1000" b="1" i="0">
                <a:solidFill>
                  <a:srgbClr val="101826"/>
                </a:solidFill>
                <a:latin typeface="Calibri"/>
              </a:rPr>
              <a:t>eth_iap.c</a:t>
            </a:r>
            <a:endParaRPr/>
          </a:p>
          <a:p>
            <a:pPr algn="ctr">
              <a:defRPr/>
            </a:pPr>
            <a:r>
              <a:rPr sz="800" b="0" i="0">
                <a:solidFill>
                  <a:srgbClr val="5B6B80"/>
                </a:solidFill>
                <a:latin typeface="Calibri"/>
              </a:rPr>
              <a:t>opsiyonel</a:t>
            </a:r>
            <a:endParaRPr/>
          </a:p>
        </p:txBody>
      </p:sp>
      <p:sp>
        <p:nvSpPr>
          <p:cNvPr id="2068052795" name="TextBox 53"/>
          <p:cNvSpPr txBox="1"/>
          <p:nvPr/>
        </p:nvSpPr>
        <p:spPr bwMode="auto">
          <a:xfrm>
            <a:off x="502920" y="5989605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1150" b="0" i="1">
                <a:solidFill>
                  <a:srgbClr val="5B6B80"/>
                </a:solidFill>
                <a:latin typeface="Calibri"/>
              </a:rPr>
              <a:t>Kesikli ok = derleme zamanı seçimi · düz ok = çalışma zamanı kullanımı.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67989989" name="Picture 1" descr="sunu_arka_plan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711755699" name="TextBox 2"/>
          <p:cNvSpPr txBox="1"/>
          <p:nvPr/>
        </p:nvSpPr>
        <p:spPr bwMode="auto"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100" b="1" i="0">
                <a:solidFill>
                  <a:srgbClr val="0E93B4"/>
                </a:solidFill>
                <a:latin typeface="Consolas"/>
              </a:rPr>
              <a:t>05 · TAŞINABILIRLIK</a:t>
            </a:r>
            <a:endParaRPr/>
          </a:p>
        </p:txBody>
      </p:sp>
      <p:sp>
        <p:nvSpPr>
          <p:cNvPr id="1353396727" name="TextBox 3"/>
          <p:cNvSpPr txBox="1"/>
          <p:nvPr/>
        </p:nvSpPr>
        <p:spPr bwMode="auto"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2700" b="1" i="0">
                <a:solidFill>
                  <a:srgbClr val="101826"/>
                </a:solidFill>
                <a:latin typeface="Calibri"/>
              </a:rPr>
              <a:t>Tek config dosyası, dört farklı işlemci</a:t>
            </a:r>
            <a:endParaRPr/>
          </a:p>
        </p:txBody>
      </p:sp>
      <p:sp>
        <p:nvSpPr>
          <p:cNvPr id="1771379647" name="TextBox 4"/>
          <p:cNvSpPr txBox="1"/>
          <p:nvPr/>
        </p:nvSpPr>
        <p:spPr bwMode="auto"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  <a:endParaRPr/>
          </a:p>
        </p:txBody>
      </p:sp>
      <p:sp>
        <p:nvSpPr>
          <p:cNvPr id="659981913" name="TextBox 5"/>
          <p:cNvSpPr txBox="1"/>
          <p:nvPr/>
        </p:nvSpPr>
        <p:spPr bwMode="auto"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06 / 15</a:t>
            </a:r>
            <a:endParaRPr/>
          </a:p>
        </p:txBody>
      </p:sp>
      <p:graphicFrame>
        <p:nvGraphicFramePr>
          <p:cNvPr id="1095924376" name="Table 6"/>
          <p:cNvGraphicFramePr>
            <a:graphicFrameLocks xmlns:a="http://schemas.openxmlformats.org/drawingml/2006/main" noGrp="1"/>
          </p:cNvGraphicFramePr>
          <p:nvPr/>
        </p:nvGraphicFramePr>
        <p:xfrm>
          <a:off x="502920" y="1508759"/>
          <a:ext cx="11185853" cy="2194560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2589318"/>
                <a:gridCol w="2589318"/>
                <a:gridCol w="2900036"/>
                <a:gridCol w="3107180"/>
              </a:tblGrid>
              <a:tr h="438912"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MCU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ÇEKIRDEK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MAC AILESI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PORT DOSYASI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</a:tr>
              <a:tr h="438912"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STM32H563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Cortex-M33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Synopsys EQOS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eth_port_eqos.c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STM32H743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Cortex-M7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Synopsys EQOS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eth_port_eqos.c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STM32F407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Cortex-M4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Klasik GMAC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eth_port_gmac.c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STM32F767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Cortex-M7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Klasik GMAC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eth_port_gmac.c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70469351" name="Rounded Rectangle 7"/>
          <p:cNvSpPr/>
          <p:nvPr/>
        </p:nvSpPr>
        <p:spPr bwMode="auto">
          <a:xfrm>
            <a:off x="502920" y="3931920"/>
            <a:ext cx="1435607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/>
            </a:pPr>
            <a:r>
              <a:rPr sz="1050" b="1" i="0">
                <a:solidFill>
                  <a:srgbClr val="17936B"/>
                </a:solidFill>
                <a:latin typeface="Consolas"/>
              </a:rPr>
              <a:t>PHY: LAN8720A</a:t>
            </a:r>
            <a:endParaRPr/>
          </a:p>
        </p:txBody>
      </p:sp>
      <p:sp>
        <p:nvSpPr>
          <p:cNvPr id="1750472376" name="Rounded Rectangle 8"/>
          <p:cNvSpPr/>
          <p:nvPr/>
        </p:nvSpPr>
        <p:spPr bwMode="auto">
          <a:xfrm>
            <a:off x="2066543" y="3931920"/>
            <a:ext cx="1435607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/>
            </a:pPr>
            <a:r>
              <a:rPr sz="1050" b="1" i="0">
                <a:solidFill>
                  <a:srgbClr val="17936B"/>
                </a:solidFill>
                <a:latin typeface="Consolas"/>
              </a:rPr>
              <a:t>PHY: LAN8742A</a:t>
            </a:r>
            <a:endParaRPr/>
          </a:p>
        </p:txBody>
      </p:sp>
      <p:sp>
        <p:nvSpPr>
          <p:cNvPr id="1799331739" name="Rounded Rectangle 9"/>
          <p:cNvSpPr/>
          <p:nvPr/>
        </p:nvSpPr>
        <p:spPr bwMode="auto">
          <a:xfrm>
            <a:off x="3630166" y="393192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/>
            </a:pPr>
            <a:r>
              <a:rPr sz="1050" b="1" i="0">
                <a:solidFill>
                  <a:srgbClr val="17936B"/>
                </a:solidFill>
                <a:latin typeface="Consolas"/>
              </a:rPr>
              <a:t>PHY: KSZ8081</a:t>
            </a:r>
            <a:endParaRPr/>
          </a:p>
        </p:txBody>
      </p:sp>
      <p:sp>
        <p:nvSpPr>
          <p:cNvPr id="891289901" name="TextBox 10"/>
          <p:cNvSpPr txBox="1"/>
          <p:nvPr/>
        </p:nvSpPr>
        <p:spPr bwMode="auto">
          <a:xfrm>
            <a:off x="502920" y="448056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1150" b="0" i="1">
                <a:solidFill>
                  <a:srgbClr val="5B6B80"/>
                </a:solidFill>
                <a:latin typeface="Calibri"/>
              </a:rPr>
              <a:t>Yeni bir MCU eklemek = </a:t>
            </a:r>
            <a:r>
              <a:rPr sz="1150" b="1" i="1">
                <a:solidFill>
                  <a:srgbClr val="5B6B80"/>
                </a:solidFill>
                <a:latin typeface="Calibri"/>
              </a:rPr>
              <a:t>eth_device.h</a:t>
            </a:r>
            <a:r>
              <a:rPr sz="1150" b="0" i="1">
                <a:solidFill>
                  <a:srgbClr val="5B6B80"/>
                </a:solidFill>
                <a:latin typeface="Calibri"/>
              </a:rPr>
              <a:t> içine birkaç satır. Port ve PHY dosyalarına </a:t>
            </a:r>
            <a:r>
              <a:rPr sz="1150" b="1" i="1">
                <a:solidFill>
                  <a:srgbClr val="5B6B80"/>
                </a:solidFill>
                <a:latin typeface="Calibri"/>
              </a:rPr>
              <a:t>hiç dokunulmaz.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9605381" name="Picture 1" descr="sunu_arka_plan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43401501" name="TextBox 2"/>
          <p:cNvSpPr txBox="1"/>
          <p:nvPr/>
        </p:nvSpPr>
        <p:spPr bwMode="auto"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100" b="1" i="0">
                <a:solidFill>
                  <a:srgbClr val="0E93B4"/>
                </a:solidFill>
                <a:latin typeface="Consolas"/>
              </a:rPr>
              <a:t>06 · ÇEKIRDEK SÜRÜCÜ</a:t>
            </a:r>
            <a:endParaRPr/>
          </a:p>
        </p:txBody>
      </p:sp>
      <p:sp>
        <p:nvSpPr>
          <p:cNvPr id="1285880726" name="TextBox 3"/>
          <p:cNvSpPr txBox="1"/>
          <p:nvPr/>
        </p:nvSpPr>
        <p:spPr bwMode="auto"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2700" b="1" i="0">
                <a:solidFill>
                  <a:srgbClr val="101826"/>
                </a:solidFill>
                <a:latin typeface="Calibri"/>
              </a:rPr>
              <a:t>Paylaşılan halka, net kurallar</a:t>
            </a:r>
            <a:endParaRPr/>
          </a:p>
        </p:txBody>
      </p:sp>
      <p:sp>
        <p:nvSpPr>
          <p:cNvPr id="857093489" name="TextBox 4"/>
          <p:cNvSpPr txBox="1"/>
          <p:nvPr/>
        </p:nvSpPr>
        <p:spPr bwMode="auto"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350" b="0" i="0">
                <a:solidFill>
                  <a:srgbClr val="5B6B80"/>
                </a:solidFill>
                <a:latin typeface="Calibri"/>
              </a:rPr>
              <a:t>8 elemanlı RX descriptor halkası (ring) — her eleman ya DMA'nın ya CPU'nun sahipliğindedir, ikisi asla aynı anda değil.</a:t>
            </a:r>
            <a:endParaRPr/>
          </a:p>
        </p:txBody>
      </p:sp>
      <p:sp>
        <p:nvSpPr>
          <p:cNvPr id="21738277" name="TextBox 5"/>
          <p:cNvSpPr txBox="1"/>
          <p:nvPr/>
        </p:nvSpPr>
        <p:spPr bwMode="auto"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  <a:endParaRPr/>
          </a:p>
        </p:txBody>
      </p:sp>
      <p:sp>
        <p:nvSpPr>
          <p:cNvPr id="382595182" name="TextBox 6"/>
          <p:cNvSpPr txBox="1"/>
          <p:nvPr/>
        </p:nvSpPr>
        <p:spPr bwMode="auto"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07 / 15</a:t>
            </a:r>
            <a:endParaRPr/>
          </a:p>
        </p:txBody>
      </p:sp>
      <p:sp>
        <p:nvSpPr>
          <p:cNvPr id="432520904" name="Rounded Rectangle 7"/>
          <p:cNvSpPr/>
          <p:nvPr/>
        </p:nvSpPr>
        <p:spPr bwMode="auto">
          <a:xfrm>
            <a:off x="502920" y="2148840"/>
            <a:ext cx="3545738" cy="320040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69122789" name="TextBox 8"/>
          <p:cNvSpPr txBox="1"/>
          <p:nvPr/>
        </p:nvSpPr>
        <p:spPr bwMode="auto">
          <a:xfrm>
            <a:off x="704088" y="2350008"/>
            <a:ext cx="314340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500" b="1" i="0">
                <a:solidFill>
                  <a:srgbClr val="101826"/>
                </a:solidFill>
                <a:latin typeface="Calibri"/>
              </a:rPr>
              <a:t>01  Zero-copy</a:t>
            </a:r>
            <a:endParaRPr/>
          </a:p>
        </p:txBody>
      </p:sp>
      <p:sp>
        <p:nvSpPr>
          <p:cNvPr id="1994216765" name="TextBox 9"/>
          <p:cNvSpPr txBox="1"/>
          <p:nvPr/>
        </p:nvSpPr>
        <p:spPr bwMode="auto">
          <a:xfrm>
            <a:off x="704088" y="2734056"/>
            <a:ext cx="3143402" cy="24140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250" b="0" i="0">
                <a:solidFill>
                  <a:srgbClr val="5B6B80"/>
                </a:solidFill>
                <a:latin typeface="Calibri"/>
              </a:rPr>
              <a:t>DMA'nın tamponuna doğrudan yazılır — aradan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memcpy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geçmez.</a:t>
            </a:r>
            <a:endParaRPr/>
          </a:p>
        </p:txBody>
      </p:sp>
      <p:sp>
        <p:nvSpPr>
          <p:cNvPr id="346295462" name="Rounded Rectangle 10"/>
          <p:cNvSpPr/>
          <p:nvPr/>
        </p:nvSpPr>
        <p:spPr bwMode="auto">
          <a:xfrm>
            <a:off x="4322978" y="2148840"/>
            <a:ext cx="3545738" cy="320040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83755017" name="TextBox 11"/>
          <p:cNvSpPr txBox="1"/>
          <p:nvPr/>
        </p:nvSpPr>
        <p:spPr bwMode="auto">
          <a:xfrm>
            <a:off x="4524146" y="2350008"/>
            <a:ext cx="314340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500" b="1" i="0">
                <a:solidFill>
                  <a:srgbClr val="101826"/>
                </a:solidFill>
                <a:latin typeface="Calibri"/>
              </a:rPr>
              <a:t>02  OWN biti</a:t>
            </a:r>
            <a:endParaRPr/>
          </a:p>
        </p:txBody>
      </p:sp>
      <p:sp>
        <p:nvSpPr>
          <p:cNvPr id="1514833007" name="TextBox 12"/>
          <p:cNvSpPr txBox="1"/>
          <p:nvPr/>
        </p:nvSpPr>
        <p:spPr bwMode="auto">
          <a:xfrm>
            <a:off x="4524146" y="2734056"/>
            <a:ext cx="3143402" cy="24140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250" b="0" i="0">
                <a:solidFill>
                  <a:srgbClr val="5B6B80"/>
                </a:solidFill>
                <a:latin typeface="Calibri"/>
              </a:rPr>
              <a:t>CPU ve DMA aynı descriptor dizisini tek bir sahiplik bitiyle paylaşır — kesme olmadan bile veri yarışı oluşmaz.</a:t>
            </a:r>
            <a:endParaRPr/>
          </a:p>
        </p:txBody>
      </p:sp>
      <p:sp>
        <p:nvSpPr>
          <p:cNvPr id="101162726" name="Rounded Rectangle 13"/>
          <p:cNvSpPr/>
          <p:nvPr/>
        </p:nvSpPr>
        <p:spPr bwMode="auto">
          <a:xfrm>
            <a:off x="8143036" y="2148840"/>
            <a:ext cx="3545738" cy="320040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2308976" name="TextBox 14"/>
          <p:cNvSpPr txBox="1"/>
          <p:nvPr/>
        </p:nvSpPr>
        <p:spPr bwMode="auto">
          <a:xfrm>
            <a:off x="8344204" y="2350008"/>
            <a:ext cx="314340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500" b="1" i="0">
                <a:solidFill>
                  <a:srgbClr val="101826"/>
                </a:solidFill>
                <a:latin typeface="Calibri"/>
              </a:rPr>
              <a:t>03  MPU + non-cacheable</a:t>
            </a:r>
            <a:endParaRPr/>
          </a:p>
        </p:txBody>
      </p:sp>
      <p:sp>
        <p:nvSpPr>
          <p:cNvPr id="865628473" name="TextBox 15"/>
          <p:cNvSpPr txBox="1"/>
          <p:nvPr/>
        </p:nvSpPr>
        <p:spPr bwMode="auto">
          <a:xfrm>
            <a:off x="8344204" y="2734056"/>
            <a:ext cx="3143402" cy="24140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250" b="0" i="0">
                <a:solidFill>
                  <a:srgbClr val="5B6B80"/>
                </a:solidFill>
                <a:latin typeface="Calibri"/>
              </a:rPr>
              <a:t>DMA'nın yazdığı veri CPU cache'ten değil, doğrudan bellekten okunur.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52348891" name="Picture 1" descr="sunu_arka_plan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349560824" name="TextBox 2"/>
          <p:cNvSpPr txBox="1"/>
          <p:nvPr/>
        </p:nvSpPr>
        <p:spPr bwMode="auto"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100" b="1" i="0">
                <a:solidFill>
                  <a:srgbClr val="0E93B4"/>
                </a:solidFill>
                <a:latin typeface="Consolas"/>
              </a:rPr>
              <a:t>07 · UYGULAMA KATMANI</a:t>
            </a:r>
            <a:endParaRPr/>
          </a:p>
        </p:txBody>
      </p:sp>
      <p:sp>
        <p:nvSpPr>
          <p:cNvPr id="2029728185" name="TextBox 3"/>
          <p:cNvSpPr txBox="1"/>
          <p:nvPr/>
        </p:nvSpPr>
        <p:spPr bwMode="auto"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2700" b="1" i="0">
                <a:solidFill>
                  <a:srgbClr val="101826"/>
                </a:solidFill>
                <a:latin typeface="Calibri"/>
              </a:rPr>
              <a:t>Paket işleme akışı</a:t>
            </a:r>
            <a:endParaRPr/>
          </a:p>
        </p:txBody>
      </p:sp>
      <p:sp>
        <p:nvSpPr>
          <p:cNvPr id="646737081" name="TextBox 4"/>
          <p:cNvSpPr txBox="1"/>
          <p:nvPr/>
        </p:nvSpPr>
        <p:spPr bwMode="auto"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  <a:endParaRPr/>
          </a:p>
        </p:txBody>
      </p:sp>
      <p:sp>
        <p:nvSpPr>
          <p:cNvPr id="251882173" name="TextBox 5"/>
          <p:cNvSpPr txBox="1"/>
          <p:nvPr/>
        </p:nvSpPr>
        <p:spPr bwMode="auto"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08 / 15</a:t>
            </a:r>
            <a:endParaRPr/>
          </a:p>
        </p:txBody>
      </p:sp>
      <p:sp>
        <p:nvSpPr>
          <p:cNvPr id="1283146519" name="Rounded Rectangle 6"/>
          <p:cNvSpPr/>
          <p:nvPr/>
        </p:nvSpPr>
        <p:spPr bwMode="auto">
          <a:xfrm>
            <a:off x="615791" y="3762613"/>
            <a:ext cx="1015840" cy="316039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>
              <a:defRPr/>
            </a:pPr>
            <a:r>
              <a:rPr sz="900" b="1" i="0">
                <a:solidFill>
                  <a:srgbClr val="101826"/>
                </a:solidFill>
                <a:latin typeface="Calibri"/>
              </a:rPr>
              <a:t>Gelen çerçeve</a:t>
            </a:r>
            <a:endParaRPr/>
          </a:p>
          <a:p>
            <a:pPr algn="ctr">
              <a:defRPr/>
            </a:pPr>
            <a:r>
              <a:rPr sz="750" b="0" i="0">
                <a:solidFill>
                  <a:srgbClr val="5B6B80"/>
                </a:solidFill>
                <a:latin typeface="Calibri"/>
              </a:rPr>
              <a:t>zero-copy (DMA)</a:t>
            </a:r>
            <a:endParaRPr/>
          </a:p>
        </p:txBody>
      </p:sp>
      <p:cxnSp>
        <p:nvCxnSpPr>
          <p:cNvPr id="1786218065" name="Connector 7"/>
          <p:cNvCxnSpPr/>
          <p:nvPr/>
        </p:nvCxnSpPr>
        <p:spPr bwMode="auto">
          <a:xfrm>
            <a:off x="1631632" y="3920632"/>
            <a:ext cx="225743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5849659" name="Isosceles Triangle 8"/>
          <p:cNvSpPr/>
          <p:nvPr/>
        </p:nvSpPr>
        <p:spPr bwMode="auto">
          <a:xfrm rot="5400000">
            <a:off x="1825371" y="3888628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4234185" name="Rounded Rectangle 9"/>
          <p:cNvSpPr/>
          <p:nvPr/>
        </p:nvSpPr>
        <p:spPr bwMode="auto">
          <a:xfrm>
            <a:off x="1857375" y="3762613"/>
            <a:ext cx="846534" cy="316039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>
              <a:defRPr/>
            </a:pPr>
            <a:r>
              <a:rPr sz="900" b="1" i="0">
                <a:solidFill>
                  <a:srgbClr val="101826"/>
                </a:solidFill>
                <a:latin typeface="Calibri"/>
              </a:rPr>
              <a:t>EtherType?</a:t>
            </a:r>
            <a:endParaRPr/>
          </a:p>
        </p:txBody>
      </p:sp>
      <p:cxnSp>
        <p:nvCxnSpPr>
          <p:cNvPr id="887815519" name="Connector 10"/>
          <p:cNvCxnSpPr/>
          <p:nvPr/>
        </p:nvCxnSpPr>
        <p:spPr bwMode="auto">
          <a:xfrm flipV="1">
            <a:off x="2703909" y="3028950"/>
            <a:ext cx="620792" cy="801385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1846596" name="Isosceles Triangle 11"/>
          <p:cNvSpPr/>
          <p:nvPr/>
        </p:nvSpPr>
        <p:spPr bwMode="auto">
          <a:xfrm rot="2265785">
            <a:off x="3292697" y="2996946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3760362" name="TextBox 12"/>
          <p:cNvSpPr txBox="1"/>
          <p:nvPr/>
        </p:nvSpPr>
        <p:spPr bwMode="auto">
          <a:xfrm>
            <a:off x="1775936" y="3238761"/>
            <a:ext cx="21945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750" b="0" i="0">
                <a:solidFill>
                  <a:srgbClr val="5B6B80"/>
                </a:solidFill>
                <a:latin typeface="Consolas"/>
              </a:rPr>
              <a:t>ARP</a:t>
            </a:r>
            <a:endParaRPr/>
          </a:p>
        </p:txBody>
      </p:sp>
      <p:sp>
        <p:nvSpPr>
          <p:cNvPr id="1810828033" name="Rounded Rectangle 13"/>
          <p:cNvSpPr/>
          <p:nvPr/>
        </p:nvSpPr>
        <p:spPr bwMode="auto">
          <a:xfrm>
            <a:off x="3324701" y="2859643"/>
            <a:ext cx="1467326" cy="327326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>
              <a:defRPr/>
            </a:pPr>
            <a:r>
              <a:rPr sz="900" b="1" i="0">
                <a:solidFill>
                  <a:srgbClr val="101826"/>
                </a:solidFill>
                <a:latin typeface="Calibri"/>
              </a:rPr>
              <a:t>arp_handle</a:t>
            </a:r>
            <a:endParaRPr/>
          </a:p>
          <a:p>
            <a:pPr algn="ctr">
              <a:defRPr/>
            </a:pPr>
            <a:r>
              <a:rPr sz="750" b="0" i="0">
                <a:solidFill>
                  <a:srgbClr val="5B6B80"/>
                </a:solidFill>
                <a:latin typeface="Calibri"/>
              </a:rPr>
              <a:t>cache güncelle + yanıt</a:t>
            </a:r>
            <a:endParaRPr/>
          </a:p>
        </p:txBody>
      </p:sp>
      <p:cxnSp>
        <p:nvCxnSpPr>
          <p:cNvPr id="779004048" name="Connector 14"/>
          <p:cNvCxnSpPr/>
          <p:nvPr/>
        </p:nvCxnSpPr>
        <p:spPr bwMode="auto">
          <a:xfrm>
            <a:off x="2703909" y="4010929"/>
            <a:ext cx="620792" cy="598218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9402175" name="Isosceles Triangle 15"/>
          <p:cNvSpPr/>
          <p:nvPr/>
        </p:nvSpPr>
        <p:spPr bwMode="auto">
          <a:xfrm rot="8036345">
            <a:off x="3292697" y="4577143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38535565" name="TextBox 16"/>
          <p:cNvSpPr txBox="1"/>
          <p:nvPr/>
        </p:nvSpPr>
        <p:spPr bwMode="auto">
          <a:xfrm>
            <a:off x="1804154" y="4282821"/>
            <a:ext cx="21945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750" b="0" i="0">
                <a:solidFill>
                  <a:srgbClr val="5B6B80"/>
                </a:solidFill>
                <a:latin typeface="Consolas"/>
              </a:rPr>
              <a:t>IPv4</a:t>
            </a:r>
            <a:endParaRPr/>
          </a:p>
        </p:txBody>
      </p:sp>
      <p:sp>
        <p:nvSpPr>
          <p:cNvPr id="971469170" name="Rounded Rectangle 17"/>
          <p:cNvSpPr/>
          <p:nvPr/>
        </p:nvSpPr>
        <p:spPr bwMode="auto">
          <a:xfrm>
            <a:off x="3324701" y="4439840"/>
            <a:ext cx="846534" cy="316039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>
              <a:defRPr/>
            </a:pPr>
            <a:r>
              <a:rPr sz="900" b="1" i="0">
                <a:solidFill>
                  <a:srgbClr val="101826"/>
                </a:solidFill>
                <a:latin typeface="Calibri"/>
              </a:rPr>
              <a:t>IP proto?</a:t>
            </a:r>
            <a:endParaRPr/>
          </a:p>
        </p:txBody>
      </p:sp>
      <p:cxnSp>
        <p:nvCxnSpPr>
          <p:cNvPr id="1318565715" name="Connector 18"/>
          <p:cNvCxnSpPr/>
          <p:nvPr/>
        </p:nvCxnSpPr>
        <p:spPr bwMode="auto">
          <a:xfrm flipV="1">
            <a:off x="3747968" y="4101226"/>
            <a:ext cx="0" cy="338614"/>
          </a:xfrm>
          <a:prstGeom prst="line">
            <a:avLst/>
          </a:prstGeom>
          <a:ln w="13970">
            <a:solidFill>
              <a:srgbClr val="5B6B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3605109" name="Isosceles Triangle 19"/>
          <p:cNvSpPr/>
          <p:nvPr/>
        </p:nvSpPr>
        <p:spPr bwMode="auto">
          <a:xfrm>
            <a:off x="3715964" y="4069222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83697536" name="TextBox 20"/>
          <p:cNvSpPr txBox="1"/>
          <p:nvPr/>
        </p:nvSpPr>
        <p:spPr bwMode="auto">
          <a:xfrm>
            <a:off x="3089814" y="4141731"/>
            <a:ext cx="14630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650" b="0" i="0">
                <a:solidFill>
                  <a:srgbClr val="5B6B80"/>
                </a:solidFill>
                <a:latin typeface="Consolas"/>
              </a:rPr>
              <a:t>MF=1 / offset≠0</a:t>
            </a:r>
            <a:endParaRPr/>
          </a:p>
        </p:txBody>
      </p:sp>
      <p:sp>
        <p:nvSpPr>
          <p:cNvPr id="707444329" name="Rounded Rectangle 21"/>
          <p:cNvSpPr/>
          <p:nvPr/>
        </p:nvSpPr>
        <p:spPr bwMode="auto">
          <a:xfrm>
            <a:off x="2986086" y="3819048"/>
            <a:ext cx="1523761" cy="259603"/>
          </a:xfrm>
          <a:prstGeom prst="roundRect">
            <a:avLst>
              <a:gd name="adj" fmla="val 14000"/>
            </a:avLst>
          </a:prstGeom>
          <a:solidFill>
            <a:srgbClr val="F7ECD9"/>
          </a:solidFill>
          <a:ln w="15240">
            <a:solidFill>
              <a:srgbClr val="B6720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>
              <a:defRPr/>
            </a:pPr>
            <a:r>
              <a:rPr sz="800" b="1" i="0">
                <a:solidFill>
                  <a:srgbClr val="101826"/>
                </a:solidFill>
                <a:latin typeface="Calibri"/>
              </a:rPr>
              <a:t>sessizce düşür</a:t>
            </a:r>
            <a:endParaRPr/>
          </a:p>
          <a:p>
            <a:pPr algn="ctr">
              <a:defRPr/>
            </a:pPr>
            <a:r>
              <a:rPr sz="650" b="0" i="0">
                <a:solidFill>
                  <a:srgbClr val="5B6B80"/>
                </a:solidFill>
                <a:latin typeface="Calibri"/>
              </a:rPr>
              <a:t>reassembly yok — bilinçli kısıt</a:t>
            </a:r>
            <a:endParaRPr/>
          </a:p>
        </p:txBody>
      </p:sp>
      <p:cxnSp>
        <p:nvCxnSpPr>
          <p:cNvPr id="535016546" name="Connector 22"/>
          <p:cNvCxnSpPr/>
          <p:nvPr/>
        </p:nvCxnSpPr>
        <p:spPr bwMode="auto">
          <a:xfrm flipV="1">
            <a:off x="4171235" y="3762613"/>
            <a:ext cx="846534" cy="74495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8328707" name="Isosceles Triangle 23"/>
          <p:cNvSpPr/>
          <p:nvPr/>
        </p:nvSpPr>
        <p:spPr bwMode="auto">
          <a:xfrm rot="2919133">
            <a:off x="4985766" y="3730609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14790261" name="TextBox 24"/>
          <p:cNvSpPr txBox="1"/>
          <p:nvPr/>
        </p:nvSpPr>
        <p:spPr bwMode="auto">
          <a:xfrm>
            <a:off x="3553658" y="3972425"/>
            <a:ext cx="21945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750" b="0" i="0">
                <a:solidFill>
                  <a:srgbClr val="5B6B80"/>
                </a:solidFill>
                <a:latin typeface="Consolas"/>
              </a:rPr>
              <a:t>ICMP echo</a:t>
            </a:r>
            <a:endParaRPr/>
          </a:p>
        </p:txBody>
      </p:sp>
      <p:sp>
        <p:nvSpPr>
          <p:cNvPr id="1268136635" name="Rounded Rectangle 25"/>
          <p:cNvSpPr/>
          <p:nvPr/>
        </p:nvSpPr>
        <p:spPr bwMode="auto">
          <a:xfrm>
            <a:off x="5017770" y="3593306"/>
            <a:ext cx="1354455" cy="316039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>
              <a:defRPr/>
            </a:pPr>
            <a:r>
              <a:rPr sz="900" b="1" i="0">
                <a:solidFill>
                  <a:srgbClr val="101826"/>
                </a:solidFill>
                <a:latin typeface="Calibri"/>
              </a:rPr>
              <a:t>icmp_handle</a:t>
            </a:r>
            <a:endParaRPr/>
          </a:p>
          <a:p>
            <a:pPr algn="ctr">
              <a:defRPr/>
            </a:pPr>
            <a:r>
              <a:rPr sz="750" b="0" i="0">
                <a:solidFill>
                  <a:srgbClr val="5B6B80"/>
                </a:solidFill>
                <a:latin typeface="Calibri"/>
              </a:rPr>
              <a:t>yanıt hesapla</a:t>
            </a:r>
            <a:endParaRPr/>
          </a:p>
        </p:txBody>
      </p:sp>
      <p:cxnSp>
        <p:nvCxnSpPr>
          <p:cNvPr id="1143794035" name="Connector 26"/>
          <p:cNvCxnSpPr/>
          <p:nvPr/>
        </p:nvCxnSpPr>
        <p:spPr bwMode="auto">
          <a:xfrm>
            <a:off x="4171235" y="4699444"/>
            <a:ext cx="846534" cy="248317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230027" name="Isosceles Triangle 27"/>
          <p:cNvSpPr/>
          <p:nvPr/>
        </p:nvSpPr>
        <p:spPr bwMode="auto">
          <a:xfrm rot="6380890">
            <a:off x="4985766" y="4915757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87242934" name="TextBox 28"/>
          <p:cNvSpPr txBox="1"/>
          <p:nvPr/>
        </p:nvSpPr>
        <p:spPr bwMode="auto">
          <a:xfrm>
            <a:off x="3553658" y="4790741"/>
            <a:ext cx="21945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750" b="0" i="0">
                <a:solidFill>
                  <a:srgbClr val="5B6B80"/>
                </a:solidFill>
                <a:latin typeface="Consolas"/>
              </a:rPr>
              <a:t>UDP</a:t>
            </a:r>
            <a:endParaRPr/>
          </a:p>
        </p:txBody>
      </p:sp>
      <p:sp>
        <p:nvSpPr>
          <p:cNvPr id="406794148" name="Rounded Rectangle 29"/>
          <p:cNvSpPr/>
          <p:nvPr/>
        </p:nvSpPr>
        <p:spPr bwMode="auto">
          <a:xfrm>
            <a:off x="5017770" y="4778454"/>
            <a:ext cx="846534" cy="316039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>
              <a:defRPr/>
            </a:pPr>
            <a:r>
              <a:rPr sz="900" b="1" i="0">
                <a:solidFill>
                  <a:srgbClr val="101826"/>
                </a:solidFill>
                <a:latin typeface="Calibri"/>
              </a:rPr>
              <a:t>hedef port?</a:t>
            </a:r>
            <a:endParaRPr/>
          </a:p>
        </p:txBody>
      </p:sp>
      <p:cxnSp>
        <p:nvCxnSpPr>
          <p:cNvPr id="835288671" name="Connector 30"/>
          <p:cNvCxnSpPr/>
          <p:nvPr/>
        </p:nvCxnSpPr>
        <p:spPr bwMode="auto">
          <a:xfrm flipV="1">
            <a:off x="5864304" y="4439840"/>
            <a:ext cx="620792" cy="417624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3163976" name="Isosceles Triangle 31"/>
          <p:cNvSpPr/>
          <p:nvPr/>
        </p:nvSpPr>
        <p:spPr bwMode="auto">
          <a:xfrm rot="3364212">
            <a:off x="6453092" y="4407836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13390643" name="TextBox 32"/>
          <p:cNvSpPr txBox="1"/>
          <p:nvPr/>
        </p:nvSpPr>
        <p:spPr bwMode="auto">
          <a:xfrm>
            <a:off x="5745718" y="4536781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700" b="0" i="0">
                <a:solidFill>
                  <a:srgbClr val="5B6B80"/>
                </a:solidFill>
                <a:latin typeface="Consolas"/>
              </a:rPr>
              <a:t>5000</a:t>
            </a:r>
            <a:endParaRPr/>
          </a:p>
        </p:txBody>
      </p:sp>
      <p:sp>
        <p:nvSpPr>
          <p:cNvPr id="1979242037" name="Rounded Rectangle 33"/>
          <p:cNvSpPr/>
          <p:nvPr/>
        </p:nvSpPr>
        <p:spPr bwMode="auto">
          <a:xfrm>
            <a:off x="6485096" y="4270533"/>
            <a:ext cx="1128712" cy="316039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>
              <a:defRPr/>
            </a:pPr>
            <a:r>
              <a:rPr sz="900" b="1" i="0">
                <a:solidFill>
                  <a:srgbClr val="101826"/>
                </a:solidFill>
                <a:latin typeface="Calibri"/>
              </a:rPr>
              <a:t>eaetis_handle</a:t>
            </a:r>
            <a:endParaRPr/>
          </a:p>
          <a:p>
            <a:pPr algn="ctr">
              <a:defRPr/>
            </a:pPr>
            <a:r>
              <a:rPr sz="750" b="0" i="0">
                <a:solidFill>
                  <a:srgbClr val="5B6B80"/>
                </a:solidFill>
                <a:latin typeface="Calibri"/>
              </a:rPr>
              <a:t>komut dağıtımı</a:t>
            </a:r>
            <a:endParaRPr/>
          </a:p>
        </p:txBody>
      </p:sp>
      <p:cxnSp>
        <p:nvCxnSpPr>
          <p:cNvPr id="1195052120" name="Connector 34"/>
          <p:cNvCxnSpPr/>
          <p:nvPr/>
        </p:nvCxnSpPr>
        <p:spPr bwMode="auto">
          <a:xfrm>
            <a:off x="5864304" y="5015484"/>
            <a:ext cx="620792" cy="327326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3887771" name="Isosceles Triangle 35"/>
          <p:cNvSpPr/>
          <p:nvPr/>
        </p:nvSpPr>
        <p:spPr bwMode="auto">
          <a:xfrm rot="7068088">
            <a:off x="6453092" y="5310806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85528494" name="TextBox 36"/>
          <p:cNvSpPr txBox="1"/>
          <p:nvPr/>
        </p:nvSpPr>
        <p:spPr bwMode="auto">
          <a:xfrm>
            <a:off x="5745718" y="5157573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700" b="0" i="0">
                <a:solidFill>
                  <a:srgbClr val="5B6B80"/>
                </a:solidFill>
                <a:latin typeface="Consolas"/>
              </a:rPr>
              <a:t>diğer</a:t>
            </a:r>
            <a:endParaRPr/>
          </a:p>
        </p:txBody>
      </p:sp>
      <p:sp>
        <p:nvSpPr>
          <p:cNvPr id="387066706" name="Rounded Rectangle 37"/>
          <p:cNvSpPr/>
          <p:nvPr/>
        </p:nvSpPr>
        <p:spPr bwMode="auto">
          <a:xfrm>
            <a:off x="6485096" y="5173503"/>
            <a:ext cx="1128712" cy="316039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>
              <a:defRPr/>
            </a:pPr>
            <a:r>
              <a:rPr sz="900" b="1" i="0">
                <a:solidFill>
                  <a:srgbClr val="101826"/>
                </a:solidFill>
                <a:latin typeface="Calibri"/>
              </a:rPr>
              <a:t>kullanıcı callback</a:t>
            </a:r>
            <a:endParaRPr/>
          </a:p>
          <a:p>
            <a:pPr algn="ctr">
              <a:defRPr/>
            </a:pPr>
            <a:r>
              <a:rPr sz="750" b="0" i="0">
                <a:solidFill>
                  <a:srgbClr val="5B6B80"/>
                </a:solidFill>
                <a:latin typeface="Calibri"/>
              </a:rPr>
              <a:t>RegisterUDPCallback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61045279" name="Picture 1" descr="sunu_arka_plan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77609316" name="TextBox 2"/>
          <p:cNvSpPr txBox="1"/>
          <p:nvPr/>
        </p:nvSpPr>
        <p:spPr bwMode="auto"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100" b="1" i="0">
                <a:solidFill>
                  <a:srgbClr val="0E93B4"/>
                </a:solidFill>
                <a:latin typeface="Consolas"/>
              </a:rPr>
              <a:t>08 · IAP BOOTLOADER</a:t>
            </a:r>
            <a:endParaRPr/>
          </a:p>
        </p:txBody>
      </p:sp>
      <p:sp>
        <p:nvSpPr>
          <p:cNvPr id="1894273648" name="TextBox 3"/>
          <p:cNvSpPr txBox="1"/>
          <p:nvPr/>
        </p:nvSpPr>
        <p:spPr bwMode="auto"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2700" b="1" i="0">
                <a:solidFill>
                  <a:srgbClr val="101826"/>
                </a:solidFill>
                <a:latin typeface="Calibri"/>
              </a:rPr>
              <a:t>Ağ üzerinden firmware güncelleme</a:t>
            </a:r>
            <a:endParaRPr/>
          </a:p>
        </p:txBody>
      </p:sp>
      <p:sp>
        <p:nvSpPr>
          <p:cNvPr id="696538939" name="TextBox 4"/>
          <p:cNvSpPr txBox="1"/>
          <p:nvPr/>
        </p:nvSpPr>
        <p:spPr bwMode="auto"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  <a:endParaRPr/>
          </a:p>
        </p:txBody>
      </p:sp>
      <p:sp>
        <p:nvSpPr>
          <p:cNvPr id="542497763" name="TextBox 5"/>
          <p:cNvSpPr txBox="1"/>
          <p:nvPr/>
        </p:nvSpPr>
        <p:spPr bwMode="auto"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09 / 15</a:t>
            </a:r>
            <a:endParaRPr/>
          </a:p>
        </p:txBody>
      </p:sp>
      <p:sp>
        <p:nvSpPr>
          <p:cNvPr id="451095132" name="Rounded Rectangle 6"/>
          <p:cNvSpPr/>
          <p:nvPr/>
        </p:nvSpPr>
        <p:spPr bwMode="auto">
          <a:xfrm>
            <a:off x="1462325" y="2042398"/>
            <a:ext cx="1241583" cy="282178"/>
          </a:xfrm>
          <a:prstGeom prst="roundRect">
            <a:avLst>
              <a:gd name="adj" fmla="val 14000"/>
            </a:avLst>
          </a:prstGeom>
          <a:solidFill>
            <a:srgbClr val="DFF1F5"/>
          </a:solidFill>
          <a:ln w="19050">
            <a:solidFill>
              <a:srgbClr val="0E9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>
              <a:defRPr/>
            </a:pPr>
            <a:r>
              <a:rPr sz="1100" b="1" i="0">
                <a:solidFill>
                  <a:srgbClr val="101826"/>
                </a:solidFill>
                <a:latin typeface="Calibri"/>
              </a:rPr>
              <a:t>E-AETIS GUI</a:t>
            </a:r>
            <a:endParaRPr/>
          </a:p>
        </p:txBody>
      </p:sp>
      <p:cxnSp>
        <p:nvCxnSpPr>
          <p:cNvPr id="2083676634" name="Connector 7"/>
          <p:cNvCxnSpPr/>
          <p:nvPr/>
        </p:nvCxnSpPr>
        <p:spPr bwMode="auto">
          <a:xfrm>
            <a:off x="2083117" y="2324576"/>
            <a:ext cx="0" cy="2821781"/>
          </a:xfrm>
          <a:prstGeom prst="line">
            <a:avLst/>
          </a:prstGeom>
          <a:ln w="15240">
            <a:solidFill>
              <a:srgbClr val="DBE1E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5493160" name="Rounded Rectangle 8"/>
          <p:cNvSpPr/>
          <p:nvPr/>
        </p:nvSpPr>
        <p:spPr bwMode="auto">
          <a:xfrm>
            <a:off x="5525690" y="2042398"/>
            <a:ext cx="1241583" cy="282178"/>
          </a:xfrm>
          <a:prstGeom prst="roundRect">
            <a:avLst>
              <a:gd name="adj" fmla="val 14000"/>
            </a:avLst>
          </a:prstGeom>
          <a:solidFill>
            <a:srgbClr val="DFF1F5"/>
          </a:solidFill>
          <a:ln w="19050">
            <a:solidFill>
              <a:srgbClr val="0E9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>
              <a:defRPr/>
            </a:pPr>
            <a:r>
              <a:rPr sz="1100" b="1" i="0">
                <a:solidFill>
                  <a:srgbClr val="101826"/>
                </a:solidFill>
                <a:latin typeface="Calibri"/>
              </a:rPr>
              <a:t>STM32 Kart</a:t>
            </a:r>
            <a:endParaRPr/>
          </a:p>
        </p:txBody>
      </p:sp>
      <p:cxnSp>
        <p:nvCxnSpPr>
          <p:cNvPr id="641525616" name="Connector 9"/>
          <p:cNvCxnSpPr/>
          <p:nvPr/>
        </p:nvCxnSpPr>
        <p:spPr bwMode="auto">
          <a:xfrm>
            <a:off x="6146481" y="2324576"/>
            <a:ext cx="0" cy="2821781"/>
          </a:xfrm>
          <a:prstGeom prst="line">
            <a:avLst/>
          </a:prstGeom>
          <a:ln w="15240">
            <a:solidFill>
              <a:srgbClr val="DBE1E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9238363" name="Connector 10"/>
          <p:cNvCxnSpPr/>
          <p:nvPr/>
        </p:nvCxnSpPr>
        <p:spPr bwMode="auto">
          <a:xfrm>
            <a:off x="2083117" y="2606754"/>
            <a:ext cx="4063365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935677" name="Isosceles Triangle 11"/>
          <p:cNvSpPr/>
          <p:nvPr/>
        </p:nvSpPr>
        <p:spPr bwMode="auto">
          <a:xfrm rot="5400000">
            <a:off x="6114478" y="2574750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7882928" name="TextBox 12"/>
          <p:cNvSpPr txBox="1"/>
          <p:nvPr/>
        </p:nvSpPr>
        <p:spPr bwMode="auto">
          <a:xfrm>
            <a:off x="2103120" y="2449733"/>
            <a:ext cx="4023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750" b="0" i="0">
                <a:solidFill>
                  <a:srgbClr val="5B6B80"/>
                </a:solidFill>
                <a:latin typeface="Consolas"/>
              </a:rPr>
              <a:t>START_IAP | SIZE:n | CRC:0x..</a:t>
            </a:r>
            <a:endParaRPr/>
          </a:p>
        </p:txBody>
      </p:sp>
      <p:cxnSp>
        <p:nvCxnSpPr>
          <p:cNvPr id="1238849276" name="Connector 13"/>
          <p:cNvCxnSpPr/>
          <p:nvPr/>
        </p:nvCxnSpPr>
        <p:spPr bwMode="auto">
          <a:xfrm flipH="1">
            <a:off x="2083117" y="2888932"/>
            <a:ext cx="4063365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3415530" name="Isosceles Triangle 14"/>
          <p:cNvSpPr/>
          <p:nvPr/>
        </p:nvSpPr>
        <p:spPr bwMode="auto">
          <a:xfrm rot="16199999">
            <a:off x="2051113" y="2856928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26379146" name="TextBox 15"/>
          <p:cNvSpPr txBox="1"/>
          <p:nvPr/>
        </p:nvSpPr>
        <p:spPr bwMode="auto">
          <a:xfrm>
            <a:off x="3017519" y="2731912"/>
            <a:ext cx="21945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750" b="0" i="0">
                <a:solidFill>
                  <a:srgbClr val="5B6B80"/>
                </a:solidFill>
                <a:latin typeface="Consolas"/>
              </a:rPr>
              <a:t>IAP_READY</a:t>
            </a:r>
            <a:endParaRPr/>
          </a:p>
        </p:txBody>
      </p:sp>
      <p:sp>
        <p:nvSpPr>
          <p:cNvPr id="983394526" name="Rounded Rectangle 16"/>
          <p:cNvSpPr/>
          <p:nvPr/>
        </p:nvSpPr>
        <p:spPr bwMode="auto">
          <a:xfrm>
            <a:off x="1800939" y="3058239"/>
            <a:ext cx="4627721" cy="846534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81604538" name="TextBox 17"/>
          <p:cNvSpPr txBox="1"/>
          <p:nvPr/>
        </p:nvSpPr>
        <p:spPr bwMode="auto">
          <a:xfrm>
            <a:off x="1892379" y="3094815"/>
            <a:ext cx="4444841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800" b="1" i="0">
                <a:solidFill>
                  <a:srgbClr val="0E93B4"/>
                </a:solidFill>
                <a:latin typeface="Consolas"/>
              </a:rPr>
              <a:t>DÖNGÜ · 512B PARÇA · EN FAZLA 3 DENEME</a:t>
            </a:r>
            <a:endParaRPr/>
          </a:p>
        </p:txBody>
      </p:sp>
      <p:cxnSp>
        <p:nvCxnSpPr>
          <p:cNvPr id="1687448105" name="Connector 18"/>
          <p:cNvCxnSpPr/>
          <p:nvPr/>
        </p:nvCxnSpPr>
        <p:spPr bwMode="auto">
          <a:xfrm>
            <a:off x="2083117" y="3453288"/>
            <a:ext cx="4063365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5508682" name="Isosceles Triangle 19"/>
          <p:cNvSpPr/>
          <p:nvPr/>
        </p:nvSpPr>
        <p:spPr bwMode="auto">
          <a:xfrm rot="5400000">
            <a:off x="6114478" y="3421284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16789566" name="TextBox 20"/>
          <p:cNvSpPr txBox="1"/>
          <p:nvPr/>
        </p:nvSpPr>
        <p:spPr bwMode="auto">
          <a:xfrm>
            <a:off x="2011680" y="3296269"/>
            <a:ext cx="42062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750" b="0" i="0">
                <a:solidFill>
                  <a:srgbClr val="5B6B80"/>
                </a:solidFill>
                <a:latin typeface="Consolas"/>
              </a:rPr>
              <a:t>FW_DATA | SEQ:i | LEN:n | &lt;binary&gt;</a:t>
            </a:r>
            <a:endParaRPr/>
          </a:p>
        </p:txBody>
      </p:sp>
      <p:cxnSp>
        <p:nvCxnSpPr>
          <p:cNvPr id="604815273" name="Connector 21"/>
          <p:cNvCxnSpPr/>
          <p:nvPr/>
        </p:nvCxnSpPr>
        <p:spPr bwMode="auto">
          <a:xfrm flipH="1">
            <a:off x="2083117" y="3735466"/>
            <a:ext cx="4063365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2257709" name="Isosceles Triangle 22"/>
          <p:cNvSpPr/>
          <p:nvPr/>
        </p:nvSpPr>
        <p:spPr bwMode="auto">
          <a:xfrm rot="16199999">
            <a:off x="2051113" y="3703462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40948829" name="TextBox 23"/>
          <p:cNvSpPr txBox="1"/>
          <p:nvPr/>
        </p:nvSpPr>
        <p:spPr bwMode="auto">
          <a:xfrm>
            <a:off x="3017519" y="3578447"/>
            <a:ext cx="21945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750" b="0" i="0">
                <a:solidFill>
                  <a:srgbClr val="5B6B80"/>
                </a:solidFill>
                <a:latin typeface="Consolas"/>
              </a:rPr>
              <a:t>ACK:i</a:t>
            </a:r>
            <a:endParaRPr/>
          </a:p>
        </p:txBody>
      </p:sp>
      <p:cxnSp>
        <p:nvCxnSpPr>
          <p:cNvPr id="1314287952" name="Connector 24"/>
          <p:cNvCxnSpPr/>
          <p:nvPr/>
        </p:nvCxnSpPr>
        <p:spPr bwMode="auto">
          <a:xfrm>
            <a:off x="2083117" y="4186951"/>
            <a:ext cx="4063365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6014305" name="Isosceles Triangle 25"/>
          <p:cNvSpPr/>
          <p:nvPr/>
        </p:nvSpPr>
        <p:spPr bwMode="auto">
          <a:xfrm rot="5400000">
            <a:off x="6114478" y="4154947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37525456" name="TextBox 26"/>
          <p:cNvSpPr txBox="1"/>
          <p:nvPr/>
        </p:nvSpPr>
        <p:spPr bwMode="auto">
          <a:xfrm>
            <a:off x="3017519" y="4029932"/>
            <a:ext cx="21945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750" b="0" i="0">
                <a:solidFill>
                  <a:srgbClr val="5B6B80"/>
                </a:solidFill>
                <a:latin typeface="Consolas"/>
              </a:rPr>
              <a:t>END_IAP</a:t>
            </a:r>
            <a:endParaRPr/>
          </a:p>
        </p:txBody>
      </p:sp>
      <p:sp>
        <p:nvSpPr>
          <p:cNvPr id="2072437372" name="Rounded Rectangle 27"/>
          <p:cNvSpPr/>
          <p:nvPr/>
        </p:nvSpPr>
        <p:spPr bwMode="auto">
          <a:xfrm>
            <a:off x="5299948" y="4299823"/>
            <a:ext cx="1693068" cy="293465"/>
          </a:xfrm>
          <a:prstGeom prst="roundRect">
            <a:avLst>
              <a:gd name="adj" fmla="val 14000"/>
            </a:avLst>
          </a:prstGeom>
          <a:solidFill>
            <a:srgbClr val="F7ECD9"/>
          </a:solidFill>
          <a:ln w="15240">
            <a:solidFill>
              <a:srgbClr val="B6720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>
              <a:defRPr/>
            </a:pPr>
            <a:r>
              <a:rPr sz="750" b="0" i="0">
                <a:solidFill>
                  <a:srgbClr val="101826"/>
                </a:solidFill>
                <a:latin typeface="Calibri"/>
              </a:rPr>
              <a:t>CRC32 doğrula → VTOR taşı → MSP ayarla</a:t>
            </a:r>
            <a:endParaRPr/>
          </a:p>
          <a:p>
            <a:pPr algn="ctr">
              <a:defRPr/>
            </a:pPr>
            <a:r>
              <a:rPr sz="750" b="0" i="0">
                <a:solidFill>
                  <a:srgbClr val="5B6B80"/>
                </a:solidFill>
                <a:latin typeface="Calibri"/>
              </a:rPr>
              <a:t>yeni uygulamaya atla</a:t>
            </a:r>
            <a:endParaRPr/>
          </a:p>
        </p:txBody>
      </p:sp>
      <p:cxnSp>
        <p:nvCxnSpPr>
          <p:cNvPr id="1789805436" name="Connector 28"/>
          <p:cNvCxnSpPr/>
          <p:nvPr/>
        </p:nvCxnSpPr>
        <p:spPr bwMode="auto">
          <a:xfrm flipH="1">
            <a:off x="2083117" y="4751308"/>
            <a:ext cx="4063365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242202" name="Isosceles Triangle 29"/>
          <p:cNvSpPr/>
          <p:nvPr/>
        </p:nvSpPr>
        <p:spPr bwMode="auto">
          <a:xfrm rot="16199999">
            <a:off x="2051113" y="4719303"/>
            <a:ext cx="64008" cy="64008"/>
          </a:xfrm>
          <a:prstGeom prst="triangle">
            <a:avLst>
              <a:gd name="adj" fmla="val 50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39333949" name="TextBox 30"/>
          <p:cNvSpPr txBox="1"/>
          <p:nvPr/>
        </p:nvSpPr>
        <p:spPr bwMode="auto">
          <a:xfrm>
            <a:off x="2651760" y="4594288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750" b="0" i="0">
                <a:solidFill>
                  <a:srgbClr val="5B6B80"/>
                </a:solidFill>
                <a:latin typeface="Consolas"/>
              </a:rPr>
              <a:t>FLASH_SUCCESS | JUMP_OK</a:t>
            </a:r>
            <a:endParaRPr/>
          </a:p>
        </p:txBody>
      </p:sp>
      <p:pic>
        <p:nvPicPr>
          <p:cNvPr id="2130784905" name="Picture 31" descr="08_eylul.png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223300" y="1349055"/>
            <a:ext cx="4792690" cy="3168048"/>
          </a:xfrm>
          <a:prstGeom prst="rect">
            <a:avLst/>
          </a:prstGeom>
          <a:ln w="12700">
            <a:solidFill>
              <a:srgbClr val="DBE1EA"/>
            </a:solidFill>
          </a:ln>
        </p:spPr>
      </p:pic>
      <p:sp>
        <p:nvSpPr>
          <p:cNvPr id="426764332" name="TextBox 32"/>
          <p:cNvSpPr txBox="1"/>
          <p:nvPr/>
        </p:nvSpPr>
        <p:spPr bwMode="auto">
          <a:xfrm>
            <a:off x="8081149" y="4751307"/>
            <a:ext cx="368777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1050" b="0" i="1">
                <a:solidFill>
                  <a:srgbClr val="5B6B80"/>
                </a:solidFill>
                <a:latin typeface="Calibri"/>
              </a:rPr>
              <a:t>GUI · Bootloader (IAP) — gerçek başarılı yükleme</a:t>
            </a:r>
            <a:endParaRPr/>
          </a:p>
        </p:txBody>
      </p:sp>
      <p:sp>
        <p:nvSpPr>
          <p:cNvPr id="275154748" name="TextBox 33"/>
          <p:cNvSpPr txBox="1"/>
          <p:nvPr/>
        </p:nvSpPr>
        <p:spPr bwMode="auto">
          <a:xfrm>
            <a:off x="502920" y="5463539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1150" b="0" i="1">
                <a:solidFill>
                  <a:srgbClr val="5B6B80"/>
                </a:solidFill>
                <a:latin typeface="Calibri"/>
              </a:rPr>
              <a:t>Tek banka, kimlik doğrulama yok — yalnızca CRC32 bütünlük kontrolü. Sadece izole/güvenilir ağlarda kullanılmalı.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05905405" name="Picture 1" descr="sunu_arka_plan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11833523" name="TextBox 2"/>
          <p:cNvSpPr txBox="1"/>
          <p:nvPr/>
        </p:nvSpPr>
        <p:spPr bwMode="auto"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100" b="1" i="0">
                <a:solidFill>
                  <a:srgbClr val="0E93B4"/>
                </a:solidFill>
                <a:latin typeface="Consolas"/>
              </a:rPr>
              <a:t>09 · TEST ARAYÜZÜ</a:t>
            </a:r>
            <a:endParaRPr/>
          </a:p>
        </p:txBody>
      </p:sp>
      <p:sp>
        <p:nvSpPr>
          <p:cNvPr id="1167406927" name="TextBox 3"/>
          <p:cNvSpPr txBox="1"/>
          <p:nvPr/>
        </p:nvSpPr>
        <p:spPr bwMode="auto"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2700" b="1" i="0">
                <a:solidFill>
                  <a:srgbClr val="101826"/>
                </a:solidFill>
                <a:latin typeface="Calibri"/>
              </a:rPr>
              <a:t>Geliştirdiğim arayüzle kart canlı olarak izlenip test edilir</a:t>
            </a:r>
            <a:endParaRPr/>
          </a:p>
        </p:txBody>
      </p:sp>
      <p:sp>
        <p:nvSpPr>
          <p:cNvPr id="1823998274" name="TextBox 4"/>
          <p:cNvSpPr txBox="1"/>
          <p:nvPr/>
        </p:nvSpPr>
        <p:spPr bwMode="auto"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350" b="0" i="0">
                <a:solidFill>
                  <a:srgbClr val="5B6B80"/>
                </a:solidFill>
                <a:latin typeface="Calibri"/>
              </a:rPr>
              <a:t>Yedi ayrı sekme: kart verilerini izleme, bağlantı testi, performans ölçümü, arıza testi ve yazılım güncelleme.</a:t>
            </a:r>
            <a:endParaRPr/>
          </a:p>
        </p:txBody>
      </p:sp>
      <p:sp>
        <p:nvSpPr>
          <p:cNvPr id="1793154369" name="TextBox 5"/>
          <p:cNvSpPr txBox="1"/>
          <p:nvPr/>
        </p:nvSpPr>
        <p:spPr bwMode="auto"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  <a:endParaRPr/>
          </a:p>
        </p:txBody>
      </p:sp>
      <p:sp>
        <p:nvSpPr>
          <p:cNvPr id="1510383960" name="TextBox 6"/>
          <p:cNvSpPr txBox="1"/>
          <p:nvPr/>
        </p:nvSpPr>
        <p:spPr bwMode="auto"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10 / 15</a:t>
            </a:r>
            <a:endParaRPr/>
          </a:p>
        </p:txBody>
      </p:sp>
      <p:pic>
        <p:nvPicPr>
          <p:cNvPr id="804552966" name="Picture 7" descr="27_agustos.png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05825" y="1737173"/>
            <a:ext cx="7077074" cy="4243111"/>
          </a:xfrm>
          <a:prstGeom prst="rect">
            <a:avLst/>
          </a:prstGeom>
          <a:ln w="12700">
            <a:solidFill>
              <a:srgbClr val="DBE1EA"/>
            </a:solidFill>
          </a:ln>
        </p:spPr>
      </p:pic>
      <p:sp>
        <p:nvSpPr>
          <p:cNvPr id="1008128721" name="TextBox 8"/>
          <p:cNvSpPr txBox="1"/>
          <p:nvPr/>
        </p:nvSpPr>
        <p:spPr bwMode="auto">
          <a:xfrm>
            <a:off x="1874520" y="6185153"/>
            <a:ext cx="603503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1050" b="0" i="1">
                <a:solidFill>
                  <a:srgbClr val="5B6B80"/>
                </a:solidFill>
                <a:latin typeface="Calibri"/>
              </a:rPr>
              <a:t>Kart G/Ç sekmesi — 5 değişken otomatik keşfedildi, canlı izleniyor (yanıt süresi 0.39 ms)</a:t>
            </a:r>
            <a:endParaRPr/>
          </a:p>
        </p:txBody>
      </p:sp>
      <p:graphicFrame>
        <p:nvGraphicFramePr>
          <p:cNvPr id="318496111" name="Table 9"/>
          <p:cNvGraphicFramePr>
            <a:graphicFrameLocks xmlns:a="http://schemas.openxmlformats.org/drawingml/2006/main" noGrp="1"/>
          </p:cNvGraphicFramePr>
          <p:nvPr/>
        </p:nvGraphicFramePr>
        <p:xfrm>
          <a:off x="8135324" y="2349499"/>
          <a:ext cx="3670923" cy="2945764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1646200"/>
                <a:gridCol w="2012023"/>
              </a:tblGrid>
              <a:tr h="363909">
                <a:tc>
                  <a:txBody>
                    <a:bodyPr/>
                    <a:p>
                      <a:pPr>
                        <a:defRPr/>
                      </a:pPr>
                      <a:r>
                        <a:rPr sz="900" b="1" i="0">
                          <a:solidFill>
                            <a:srgbClr val="5B6B80"/>
                          </a:solidFill>
                          <a:latin typeface="Consolas"/>
                        </a:rPr>
                        <a:t>SEKME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900" b="1" i="0">
                          <a:solidFill>
                            <a:srgbClr val="5B6B80"/>
                          </a:solidFill>
                          <a:latin typeface="Consolas"/>
                        </a:rPr>
                        <a:t>İŞLEV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</a:tr>
              <a:tr h="385700"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Kart G/Ç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Otomatik değişken keşfi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3909"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Ping (ICMP)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Gecikme ölçümü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3909"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UDP Konsol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Serbest komut / log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3909"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PHY / DMA Teşhis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Register + istatistik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3909"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Performans &amp; Jitter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min / ort / p95 / max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3909"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Hata Enjeksiyonu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Fuzz + parçalanma testi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3909"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Bootloader (IAP)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Ağdan firmware güncelleme</a:t>
                      </a:r>
                      <a:endParaRPr/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96105830" name="Picture 1" descr="sunu_arka_plan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594082014" name="TextBox 2"/>
          <p:cNvSpPr txBox="1"/>
          <p:nvPr/>
        </p:nvSpPr>
        <p:spPr bwMode="auto"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100" b="1" i="0">
                <a:solidFill>
                  <a:srgbClr val="0E93B4"/>
                </a:solidFill>
                <a:latin typeface="Consolas"/>
              </a:rPr>
              <a:t>10 · SÜREÇ</a:t>
            </a:r>
            <a:endParaRPr/>
          </a:p>
        </p:txBody>
      </p:sp>
      <p:sp>
        <p:nvSpPr>
          <p:cNvPr id="1845736485" name="TextBox 3"/>
          <p:cNvSpPr txBox="1"/>
          <p:nvPr/>
        </p:nvSpPr>
        <p:spPr bwMode="auto"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2700" b="1" i="0">
                <a:solidFill>
                  <a:srgbClr val="101826"/>
                </a:solidFill>
                <a:latin typeface="Calibri"/>
              </a:rPr>
              <a:t>Boş bir pencereden, ölçüm yapan bir araca</a:t>
            </a:r>
            <a:endParaRPr/>
          </a:p>
        </p:txBody>
      </p:sp>
      <p:sp>
        <p:nvSpPr>
          <p:cNvPr id="221110182" name="TextBox 4"/>
          <p:cNvSpPr txBox="1"/>
          <p:nvPr/>
        </p:nvSpPr>
        <p:spPr bwMode="auto"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350" b="0" i="0">
                <a:solidFill>
                  <a:srgbClr val="5B6B80"/>
                </a:solidFill>
                <a:latin typeface="Calibri"/>
              </a:rPr>
              <a:t>Arayüz de sürücü gibi gün gün, sekme sekme büyüdü — her yeni test yeteneği kartta çalışır hale geldikçe eklendi.</a:t>
            </a:r>
            <a:endParaRPr/>
          </a:p>
        </p:txBody>
      </p:sp>
      <p:sp>
        <p:nvSpPr>
          <p:cNvPr id="828640898" name="TextBox 5"/>
          <p:cNvSpPr txBox="1"/>
          <p:nvPr/>
        </p:nvSpPr>
        <p:spPr bwMode="auto"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  <a:endParaRPr/>
          </a:p>
        </p:txBody>
      </p:sp>
      <p:sp>
        <p:nvSpPr>
          <p:cNvPr id="1540354374" name="TextBox 6"/>
          <p:cNvSpPr txBox="1"/>
          <p:nvPr/>
        </p:nvSpPr>
        <p:spPr bwMode="auto"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11 / 15</a:t>
            </a:r>
            <a:endParaRPr/>
          </a:p>
        </p:txBody>
      </p:sp>
      <p:pic>
        <p:nvPicPr>
          <p:cNvPr id="197665332" name="Picture 7" descr="24_agustos.png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607446" y="1800224"/>
            <a:ext cx="5488400" cy="3758184"/>
          </a:xfrm>
          <a:prstGeom prst="rect">
            <a:avLst/>
          </a:prstGeom>
          <a:ln w="12700">
            <a:solidFill>
              <a:srgbClr val="DBE1EA"/>
            </a:solidFill>
          </a:ln>
        </p:spPr>
      </p:pic>
      <p:sp>
        <p:nvSpPr>
          <p:cNvPr id="1272032745" name="TextBox 8"/>
          <p:cNvSpPr txBox="1"/>
          <p:nvPr/>
        </p:nvSpPr>
        <p:spPr bwMode="auto">
          <a:xfrm>
            <a:off x="569594" y="5718429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1050" b="0" i="1">
                <a:solidFill>
                  <a:srgbClr val="5B6B80"/>
                </a:solidFill>
                <a:latin typeface="Calibri"/>
              </a:rPr>
              <a:t>24 Ağustos · ilk iskelet</a:t>
            </a:r>
            <a:endParaRPr/>
          </a:p>
        </p:txBody>
      </p:sp>
      <p:pic>
        <p:nvPicPr>
          <p:cNvPr id="1934581505" name="Picture 9" descr="28_agustos_performans.png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6264704" y="1778238"/>
            <a:ext cx="5718720" cy="3780170"/>
          </a:xfrm>
          <a:prstGeom prst="rect">
            <a:avLst/>
          </a:prstGeom>
          <a:ln w="12700">
            <a:solidFill>
              <a:srgbClr val="DBE1EA"/>
            </a:solidFill>
          </a:ln>
        </p:spPr>
      </p:pic>
      <p:sp>
        <p:nvSpPr>
          <p:cNvPr id="117965293" name="TextBox 10"/>
          <p:cNvSpPr txBox="1"/>
          <p:nvPr/>
        </p:nvSpPr>
        <p:spPr bwMode="auto">
          <a:xfrm>
            <a:off x="6812280" y="5558409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1050" b="0" i="1">
                <a:solidFill>
                  <a:srgbClr val="5B6B80"/>
                </a:solidFill>
                <a:latin typeface="Calibri"/>
              </a:rPr>
              <a:t>28 Ağustos · canlı performans testi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6214893" name="Picture 1" descr="sunu_arka_plan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909481292" name="TextBox 2"/>
          <p:cNvSpPr txBox="1"/>
          <p:nvPr/>
        </p:nvSpPr>
        <p:spPr bwMode="auto"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100" b="1" i="0">
                <a:solidFill>
                  <a:srgbClr val="0E93B4"/>
                </a:solidFill>
                <a:latin typeface="Consolas"/>
              </a:rPr>
              <a:t>11 · DOĞRULAMA</a:t>
            </a:r>
            <a:endParaRPr/>
          </a:p>
        </p:txBody>
      </p:sp>
      <p:sp>
        <p:nvSpPr>
          <p:cNvPr id="1604851415" name="TextBox 3"/>
          <p:cNvSpPr txBox="1"/>
          <p:nvPr/>
        </p:nvSpPr>
        <p:spPr bwMode="auto"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2700" b="1" i="0">
                <a:solidFill>
                  <a:srgbClr val="101826"/>
                </a:solidFill>
                <a:latin typeface="Calibri"/>
              </a:rPr>
              <a:t>Kartın üzerinde çalıştırıp gerçek verilerle ölçtüm</a:t>
            </a:r>
            <a:endParaRPr/>
          </a:p>
        </p:txBody>
      </p:sp>
      <p:sp>
        <p:nvSpPr>
          <p:cNvPr id="367727618" name="TextBox 5"/>
          <p:cNvSpPr txBox="1"/>
          <p:nvPr/>
        </p:nvSpPr>
        <p:spPr bwMode="auto"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  <a:endParaRPr/>
          </a:p>
        </p:txBody>
      </p:sp>
      <p:sp>
        <p:nvSpPr>
          <p:cNvPr id="23791441" name="TextBox 6"/>
          <p:cNvSpPr txBox="1"/>
          <p:nvPr/>
        </p:nvSpPr>
        <p:spPr bwMode="auto"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12 / 15</a:t>
            </a:r>
            <a:endParaRPr/>
          </a:p>
        </p:txBody>
      </p:sp>
      <p:sp>
        <p:nvSpPr>
          <p:cNvPr id="998975914" name="TextBox 7"/>
          <p:cNvSpPr txBox="1"/>
          <p:nvPr/>
        </p:nvSpPr>
        <p:spPr bwMode="auto">
          <a:xfrm>
            <a:off x="502920" y="2057400"/>
            <a:ext cx="512064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  <a:defRPr/>
            </a:pPr>
            <a:r>
              <a:rPr sz="1300" b="1" i="0">
                <a:solidFill>
                  <a:srgbClr val="004694"/>
                </a:solidFill>
                <a:latin typeface="Consolas"/>
              </a:rPr>
              <a:t>1.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MDIO alan yerleşimi</a:t>
            </a:r>
            <a:endParaRPr/>
          </a:p>
          <a:p>
            <a:pPr>
              <a:spcAft>
                <a:spcPts val="900"/>
              </a:spcAft>
              <a:defRPr/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MACMDIOAR register'ı</a:t>
            </a:r>
            <a:endParaRPr/>
          </a:p>
          <a:p>
            <a:pPr>
              <a:spcAft>
                <a:spcPts val="900"/>
              </a:spcAft>
              <a:defRPr/>
            </a:pPr>
            <a:r>
              <a:rPr sz="1300" b="1" i="0">
                <a:solidFill>
                  <a:srgbClr val="004694"/>
                </a:solidFill>
                <a:latin typeface="Consolas"/>
              </a:rPr>
              <a:t>2.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RMII seçim kodu</a:t>
            </a:r>
            <a:endParaRPr/>
          </a:p>
          <a:p>
            <a:pPr>
              <a:spcAft>
                <a:spcPts val="900"/>
              </a:spcAft>
              <a:defRPr/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SBS→PMCR ETH_SEL_PHY</a:t>
            </a:r>
            <a:endParaRPr/>
          </a:p>
          <a:p>
            <a:pPr>
              <a:spcAft>
                <a:spcPts val="900"/>
              </a:spcAft>
              <a:defRPr/>
            </a:pPr>
            <a:r>
              <a:rPr sz="1300" b="1" i="0">
                <a:solidFill>
                  <a:srgbClr val="004694"/>
                </a:solidFill>
                <a:latin typeface="Consolas"/>
              </a:rPr>
              <a:t>3.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DMA tail pointer semantiği</a:t>
            </a:r>
            <a:endParaRPr/>
          </a:p>
          <a:p>
            <a:pPr>
              <a:spcAft>
                <a:spcPts val="900"/>
              </a:spcAft>
              <a:defRPr/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DMACRXDTPR</a:t>
            </a:r>
            <a:endParaRPr/>
          </a:p>
          <a:p>
            <a:pPr>
              <a:spcAft>
                <a:spcPts val="900"/>
              </a:spcAft>
              <a:defRPr/>
            </a:pPr>
            <a:r>
              <a:rPr sz="1300" b="1" i="0">
                <a:solidFill>
                  <a:srgbClr val="004694"/>
                </a:solidFill>
                <a:latin typeface="Consolas"/>
              </a:rPr>
              <a:t>4.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MPU alan yerleşimi</a:t>
            </a:r>
            <a:endParaRPr/>
          </a:p>
          <a:p>
            <a:pPr>
              <a:spcAft>
                <a:spcPts val="900"/>
              </a:spcAft>
              <a:defRPr/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RBAR / RLAR</a:t>
            </a:r>
            <a:endParaRPr/>
          </a:p>
          <a:p>
            <a:pPr>
              <a:spcAft>
                <a:spcPts val="900"/>
              </a:spcAft>
              <a:defRPr/>
            </a:pPr>
            <a:r>
              <a:rPr sz="1300" b="1" i="0">
                <a:solidFill>
                  <a:srgbClr val="004694"/>
                </a:solidFill>
                <a:latin typeface="Consolas"/>
              </a:rPr>
              <a:t>5.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Flash sektör alanı</a:t>
            </a:r>
            <a:endParaRPr/>
          </a:p>
          <a:p>
            <a:pPr>
              <a:spcAft>
                <a:spcPts val="900"/>
              </a:spcAft>
              <a:defRPr/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yalnızca IAP kullanılıyorsa</a:t>
            </a:r>
            <a:endParaRPr/>
          </a:p>
        </p:txBody>
      </p:sp>
      <p:pic>
        <p:nvPicPr>
          <p:cNvPr id="467374736" name="Picture 8" descr="28_agustos_hata_enjeksiyonu.png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5178804" y="1210055"/>
            <a:ext cx="6825490" cy="3976497"/>
          </a:xfrm>
          <a:prstGeom prst="rect">
            <a:avLst/>
          </a:prstGeom>
          <a:ln w="12700">
            <a:solidFill>
              <a:srgbClr val="DBE1EA"/>
            </a:solidFill>
          </a:ln>
        </p:spPr>
      </p:pic>
      <p:sp>
        <p:nvSpPr>
          <p:cNvPr id="235012442" name="TextBox 9"/>
          <p:cNvSpPr txBox="1"/>
          <p:nvPr/>
        </p:nvSpPr>
        <p:spPr bwMode="auto">
          <a:xfrm>
            <a:off x="5989320" y="5186552"/>
            <a:ext cx="579089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1150" b="0" i="1">
                <a:solidFill>
                  <a:srgbClr val="5B6B80"/>
                </a:solidFill>
                <a:latin typeface="Calibri"/>
              </a:rPr>
              <a:t>Kart bilerek bozuk/aşırı büyük veriyle yorulmaya çalışıldı — </a:t>
            </a:r>
            <a:r>
              <a:rPr sz="1150" b="1" i="1">
                <a:solidFill>
                  <a:srgbClr val="5B6B80"/>
                </a:solidFill>
                <a:latin typeface="Calibri"/>
              </a:rPr>
              <a:t>hiç çökmedi.</a:t>
            </a:r>
            <a:endParaRPr/>
          </a:p>
        </p:txBody>
      </p:sp>
      <p:sp>
        <p:nvSpPr>
          <p:cNvPr id="1149889700" name="Rounded Rectangle 10"/>
          <p:cNvSpPr/>
          <p:nvPr/>
        </p:nvSpPr>
        <p:spPr bwMode="auto">
          <a:xfrm>
            <a:off x="6278879" y="5488304"/>
            <a:ext cx="4892039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/>
            </a:pPr>
            <a:r>
              <a:rPr sz="1050" b="1" i="0">
                <a:solidFill>
                  <a:srgbClr val="17936B"/>
                </a:solidFill>
                <a:latin typeface="Consolas"/>
              </a:rPr>
              <a:t>gecikme ort. 0.44 ms · kayıp %0 · FLASH_SUCCESS|JUMP_OK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2534634" name="Picture 1" descr="sunu_arka_plan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611041638" name="TextBox 2"/>
          <p:cNvSpPr txBox="1"/>
          <p:nvPr/>
        </p:nvSpPr>
        <p:spPr bwMode="auto"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100" b="1" i="0">
                <a:solidFill>
                  <a:srgbClr val="0E93B4"/>
                </a:solidFill>
                <a:latin typeface="Consolas"/>
              </a:rPr>
              <a:t>12 · ENTEGRASYON</a:t>
            </a:r>
            <a:endParaRPr/>
          </a:p>
        </p:txBody>
      </p:sp>
      <p:sp>
        <p:nvSpPr>
          <p:cNvPr id="911390767" name="TextBox 3"/>
          <p:cNvSpPr txBox="1"/>
          <p:nvPr/>
        </p:nvSpPr>
        <p:spPr bwMode="auto"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2700" b="1" i="0">
                <a:solidFill>
                  <a:srgbClr val="101826"/>
                </a:solidFill>
                <a:latin typeface="Calibri"/>
              </a:rPr>
              <a:t>Başka Bir Kullanıcı Bu Projeyi Nasıl Kullanır?</a:t>
            </a:r>
            <a:endParaRPr/>
          </a:p>
        </p:txBody>
      </p:sp>
      <p:sp>
        <p:nvSpPr>
          <p:cNvPr id="1532109517" name="TextBox 4"/>
          <p:cNvSpPr txBox="1"/>
          <p:nvPr/>
        </p:nvSpPr>
        <p:spPr bwMode="auto"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  <a:endParaRPr/>
          </a:p>
        </p:txBody>
      </p:sp>
      <p:sp>
        <p:nvSpPr>
          <p:cNvPr id="956546915" name="TextBox 5"/>
          <p:cNvSpPr txBox="1"/>
          <p:nvPr/>
        </p:nvSpPr>
        <p:spPr bwMode="auto"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13 / 15</a:t>
            </a:r>
            <a:endParaRPr/>
          </a:p>
        </p:txBody>
      </p:sp>
      <p:sp>
        <p:nvSpPr>
          <p:cNvPr id="1758167065" name="TextBox 6"/>
          <p:cNvSpPr txBox="1"/>
          <p:nvPr/>
        </p:nvSpPr>
        <p:spPr bwMode="auto">
          <a:xfrm>
            <a:off x="502920" y="1463040"/>
            <a:ext cx="546491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950" b="1" i="0">
                <a:solidFill>
                  <a:srgbClr val="0E93B4"/>
                </a:solidFill>
                <a:latin typeface="Consolas"/>
              </a:rPr>
              <a:t>ETH_CONFIG.H  ·  SEÇIM</a:t>
            </a:r>
            <a:endParaRPr/>
          </a:p>
        </p:txBody>
      </p:sp>
      <p:sp>
        <p:nvSpPr>
          <p:cNvPr id="1606612480" name="Rounded Rectangle 7"/>
          <p:cNvSpPr/>
          <p:nvPr/>
        </p:nvSpPr>
        <p:spPr bwMode="auto">
          <a:xfrm>
            <a:off x="502920" y="1700784"/>
            <a:ext cx="5464910" cy="2080259"/>
          </a:xfrm>
          <a:prstGeom prst="roundRect">
            <a:avLst>
              <a:gd name="adj" fmla="val 3500"/>
            </a:avLst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69562096" name="TextBox 8"/>
          <p:cNvSpPr txBox="1"/>
          <p:nvPr/>
        </p:nvSpPr>
        <p:spPr bwMode="auto">
          <a:xfrm>
            <a:off x="704088" y="1901952"/>
            <a:ext cx="5062575" cy="16779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/* 1) Hedef islemci (sadece birini birakin) */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#define ETH_TARGET_STM32H563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/* #define ETH_TARGET_STM32H743 */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/* #define ETH_TARGET_STM32F407 */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 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/* 2) PHY cipi (sadece birini birakin) */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#define ETH_PHY_LAN8720A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/* #define ETH_PHY_LAN8742A */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/* #define ETH_PHY_KSZ8081  */</a:t>
            </a:r>
            <a:endParaRPr/>
          </a:p>
        </p:txBody>
      </p:sp>
      <p:sp>
        <p:nvSpPr>
          <p:cNvPr id="99342308" name="TextBox 9"/>
          <p:cNvSpPr txBox="1"/>
          <p:nvPr/>
        </p:nvSpPr>
        <p:spPr bwMode="auto">
          <a:xfrm>
            <a:off x="6223863" y="1463040"/>
            <a:ext cx="546491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950" b="1" i="0">
                <a:solidFill>
                  <a:srgbClr val="0E93B4"/>
                </a:solidFill>
                <a:latin typeface="Consolas"/>
              </a:rPr>
              <a:t>MAIN.C  ·  BAŞLATMA</a:t>
            </a:r>
            <a:endParaRPr/>
          </a:p>
        </p:txBody>
      </p:sp>
      <p:sp>
        <p:nvSpPr>
          <p:cNvPr id="2039648492" name="Rounded Rectangle 10"/>
          <p:cNvSpPr/>
          <p:nvPr/>
        </p:nvSpPr>
        <p:spPr bwMode="auto">
          <a:xfrm>
            <a:off x="6223863" y="1700784"/>
            <a:ext cx="5464910" cy="2080259"/>
          </a:xfrm>
          <a:prstGeom prst="roundRect">
            <a:avLst>
              <a:gd name="adj" fmla="val 3500"/>
            </a:avLst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53688906" name="TextBox 11"/>
          <p:cNvSpPr txBox="1"/>
          <p:nvPr/>
        </p:nvSpPr>
        <p:spPr bwMode="auto">
          <a:xfrm>
            <a:off x="6425031" y="1901952"/>
            <a:ext cx="5062575" cy="16779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#include "eth_app.h"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 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int main(void) {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  HAL_Init();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  SystemClock_Config();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  ETH_BSP_Init();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 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  while (1) {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      ETH_BSP_ProcessEvents();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  }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}</a:t>
            </a:r>
            <a:endParaRPr/>
          </a:p>
        </p:txBody>
      </p:sp>
      <p:sp>
        <p:nvSpPr>
          <p:cNvPr id="789906131" name="TextBox 12"/>
          <p:cNvSpPr txBox="1"/>
          <p:nvPr/>
        </p:nvSpPr>
        <p:spPr bwMode="auto">
          <a:xfrm>
            <a:off x="502920" y="4037076"/>
            <a:ext cx="546491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950" b="1" i="0">
                <a:solidFill>
                  <a:srgbClr val="0E93B4"/>
                </a:solidFill>
                <a:latin typeface="Consolas"/>
              </a:rPr>
              <a:t>ETH_DEVICE.H  ·  YENI MCU EKLEME</a:t>
            </a:r>
            <a:endParaRPr/>
          </a:p>
        </p:txBody>
      </p:sp>
      <p:sp>
        <p:nvSpPr>
          <p:cNvPr id="1419173953" name="Rounded Rectangle 13"/>
          <p:cNvSpPr/>
          <p:nvPr/>
        </p:nvSpPr>
        <p:spPr bwMode="auto">
          <a:xfrm>
            <a:off x="502920" y="4274820"/>
            <a:ext cx="5464910" cy="2080259"/>
          </a:xfrm>
          <a:prstGeom prst="roundRect">
            <a:avLst>
              <a:gd name="adj" fmla="val 3500"/>
            </a:avLst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4146316" name="TextBox 14"/>
          <p:cNvSpPr txBox="1"/>
          <p:nvPr/>
        </p:nvSpPr>
        <p:spPr bwMode="auto">
          <a:xfrm>
            <a:off x="704088" y="4475988"/>
            <a:ext cx="5062575" cy="16779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#elif defined(ETH_TARGET_STM32F429)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#include "stm32f4xx.h"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#define ETH_PORT_EQOS          0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#define ETH_PORT_GMAC          1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#define ETH_HAS_DCACHE         0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#define ETH_RMII_VIA_SYSCFG_PMC 1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#define ETH_DEVICE_NAME        "STM32F429"</a:t>
            </a:r>
            <a:endParaRPr/>
          </a:p>
        </p:txBody>
      </p:sp>
      <p:sp>
        <p:nvSpPr>
          <p:cNvPr id="94628685" name="TextBox 15"/>
          <p:cNvSpPr txBox="1"/>
          <p:nvPr/>
        </p:nvSpPr>
        <p:spPr bwMode="auto">
          <a:xfrm>
            <a:off x="6223863" y="4037076"/>
            <a:ext cx="546491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950" b="1" i="0">
                <a:solidFill>
                  <a:srgbClr val="0E93B4"/>
                </a:solidFill>
                <a:latin typeface="Consolas"/>
              </a:rPr>
              <a:t>ETH_PHY_YENI.C  ·  YENI PHY EKLEME</a:t>
            </a:r>
            <a:endParaRPr/>
          </a:p>
        </p:txBody>
      </p:sp>
      <p:sp>
        <p:nvSpPr>
          <p:cNvPr id="545868436" name="Rounded Rectangle 16"/>
          <p:cNvSpPr/>
          <p:nvPr/>
        </p:nvSpPr>
        <p:spPr bwMode="auto">
          <a:xfrm>
            <a:off x="6223863" y="4274820"/>
            <a:ext cx="5464910" cy="2080259"/>
          </a:xfrm>
          <a:prstGeom prst="roundRect">
            <a:avLst>
              <a:gd name="adj" fmla="val 3500"/>
            </a:avLst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16630820" name="TextBox 17"/>
          <p:cNvSpPr txBox="1"/>
          <p:nvPr/>
        </p:nvSpPr>
        <p:spPr bwMode="auto">
          <a:xfrm>
            <a:off x="6425031" y="4475988"/>
            <a:ext cx="5062575" cy="16779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ETH_Status_t ETH_PHY_Bringup(uint8_t addr) {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  /* HW+SW reset, autoneg baslat */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}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ETH_Status_t ETH_PHY_GetSpeedDuplex(uint8_t addr,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      uint16_t *speed, bool *fd) { ... }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ETH_Status_t ETH_PHY_SetLoopback(uint8_t a, bool e) { ... }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const char *ETH_PHY_GetName(void) {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    return "YENI_PHY";</a:t>
            </a:r>
            <a:endParaRPr/>
          </a:p>
          <a:p>
            <a:pPr>
              <a:spcAft>
                <a:spcPts val="100"/>
              </a:spcAft>
              <a:defRPr/>
            </a:pPr>
            <a:r>
              <a:rPr sz="900" b="0" i="0">
                <a:solidFill>
                  <a:srgbClr val="DBE8FB"/>
                </a:solidFill>
                <a:latin typeface="Consolas"/>
              </a:rPr>
              <a:t>}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0939988" name="Picture 1" descr="sunu_arka_plan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14199154" name="TextBox 2"/>
          <p:cNvSpPr txBox="1"/>
          <p:nvPr/>
        </p:nvSpPr>
        <p:spPr bwMode="auto"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100" b="1" i="0">
                <a:solidFill>
                  <a:srgbClr val="0E93B4"/>
                </a:solidFill>
                <a:latin typeface="Consolas"/>
              </a:rPr>
              <a:t>13 · ARAÇLAR &amp; TEKNOLOJILER</a:t>
            </a:r>
            <a:endParaRPr/>
          </a:p>
        </p:txBody>
      </p:sp>
      <p:sp>
        <p:nvSpPr>
          <p:cNvPr id="207100775" name="TextBox 3"/>
          <p:cNvSpPr txBox="1"/>
          <p:nvPr/>
        </p:nvSpPr>
        <p:spPr bwMode="auto"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2700" b="1" i="0">
                <a:solidFill>
                  <a:srgbClr val="101826"/>
                </a:solidFill>
                <a:latin typeface="Calibri"/>
              </a:rPr>
              <a:t>Tek projede birçok farklı teknolojiyi bir araya getirdim</a:t>
            </a:r>
            <a:endParaRPr/>
          </a:p>
        </p:txBody>
      </p:sp>
      <p:sp>
        <p:nvSpPr>
          <p:cNvPr id="1464993185" name="TextBox 4"/>
          <p:cNvSpPr txBox="1"/>
          <p:nvPr/>
        </p:nvSpPr>
        <p:spPr bwMode="auto"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350" b="0" i="0">
                <a:solidFill>
                  <a:srgbClr val="5B6B80"/>
                </a:solidFill>
                <a:latin typeface="Calibri"/>
              </a:rPr>
              <a:t>Sadece C kodu yazmadım; geliştirme ortamından donanım protokollerine kadar birçok konuda uygulamalı pratik yaptım.</a:t>
            </a:r>
            <a:endParaRPr/>
          </a:p>
        </p:txBody>
      </p:sp>
      <p:sp>
        <p:nvSpPr>
          <p:cNvPr id="50982451" name="TextBox 5"/>
          <p:cNvSpPr txBox="1"/>
          <p:nvPr/>
        </p:nvSpPr>
        <p:spPr bwMode="auto"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  <a:endParaRPr/>
          </a:p>
        </p:txBody>
      </p:sp>
      <p:sp>
        <p:nvSpPr>
          <p:cNvPr id="358794521" name="TextBox 6"/>
          <p:cNvSpPr txBox="1"/>
          <p:nvPr/>
        </p:nvSpPr>
        <p:spPr bwMode="auto"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14 / 15</a:t>
            </a:r>
            <a:endParaRPr/>
          </a:p>
        </p:txBody>
      </p:sp>
      <p:sp>
        <p:nvSpPr>
          <p:cNvPr id="907809357" name="Rounded Rectangle 7"/>
          <p:cNvSpPr/>
          <p:nvPr/>
        </p:nvSpPr>
        <p:spPr bwMode="auto">
          <a:xfrm>
            <a:off x="502920" y="2103120"/>
            <a:ext cx="5455767" cy="283464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43435528" name="TextBox 8"/>
          <p:cNvSpPr txBox="1"/>
          <p:nvPr/>
        </p:nvSpPr>
        <p:spPr bwMode="auto">
          <a:xfrm>
            <a:off x="704088" y="2304288"/>
            <a:ext cx="505343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950" b="1" i="0">
                <a:solidFill>
                  <a:srgbClr val="0E93B4"/>
                </a:solidFill>
                <a:latin typeface="Consolas"/>
              </a:rPr>
              <a:t>GELIŞTIRME ORTAMI</a:t>
            </a:r>
            <a:endParaRPr/>
          </a:p>
        </p:txBody>
      </p:sp>
      <p:sp>
        <p:nvSpPr>
          <p:cNvPr id="402522393" name="TextBox 9"/>
          <p:cNvSpPr txBox="1"/>
          <p:nvPr/>
        </p:nvSpPr>
        <p:spPr bwMode="auto">
          <a:xfrm>
            <a:off x="704088" y="2578608"/>
            <a:ext cx="505343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500" b="1" i="0">
                <a:solidFill>
                  <a:srgbClr val="101826"/>
                </a:solidFill>
                <a:latin typeface="Calibri"/>
              </a:rPr>
              <a:t>Araçlar &amp; İş Akışı</a:t>
            </a:r>
            <a:endParaRPr/>
          </a:p>
        </p:txBody>
      </p:sp>
      <p:sp>
        <p:nvSpPr>
          <p:cNvPr id="573510071" name="Rounded Rectangle 10"/>
          <p:cNvSpPr/>
          <p:nvPr/>
        </p:nvSpPr>
        <p:spPr bwMode="auto">
          <a:xfrm>
            <a:off x="704088" y="2962656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/>
            </a:pPr>
            <a:r>
              <a:rPr sz="1000" b="1" i="0">
                <a:solidFill>
                  <a:srgbClr val="004694"/>
                </a:solidFill>
                <a:latin typeface="Consolas"/>
              </a:rPr>
              <a:t>CMake</a:t>
            </a:r>
            <a:endParaRPr/>
          </a:p>
        </p:txBody>
      </p:sp>
      <p:sp>
        <p:nvSpPr>
          <p:cNvPr id="715737305" name="Rounded Rectangle 11"/>
          <p:cNvSpPr/>
          <p:nvPr/>
        </p:nvSpPr>
        <p:spPr bwMode="auto">
          <a:xfrm>
            <a:off x="1728216" y="2962656"/>
            <a:ext cx="676656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/>
            </a:pPr>
            <a:r>
              <a:rPr sz="1000" b="1" i="0">
                <a:solidFill>
                  <a:srgbClr val="004694"/>
                </a:solidFill>
                <a:latin typeface="Consolas"/>
              </a:rPr>
              <a:t>Git</a:t>
            </a:r>
            <a:endParaRPr/>
          </a:p>
        </p:txBody>
      </p:sp>
      <p:sp>
        <p:nvSpPr>
          <p:cNvPr id="721889003" name="Rounded Rectangle 12"/>
          <p:cNvSpPr/>
          <p:nvPr/>
        </p:nvSpPr>
        <p:spPr bwMode="auto">
          <a:xfrm>
            <a:off x="2514600" y="2962656"/>
            <a:ext cx="1627632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/>
            </a:pPr>
            <a:r>
              <a:rPr sz="1000" b="1" i="0">
                <a:solidFill>
                  <a:srgbClr val="004694"/>
                </a:solidFill>
                <a:latin typeface="Consolas"/>
              </a:rPr>
              <a:t>GCC &amp; Ninja</a:t>
            </a:r>
            <a:endParaRPr/>
          </a:p>
        </p:txBody>
      </p:sp>
      <p:sp>
        <p:nvSpPr>
          <p:cNvPr id="1682695798" name="Rounded Rectangle 13"/>
          <p:cNvSpPr/>
          <p:nvPr/>
        </p:nvSpPr>
        <p:spPr bwMode="auto">
          <a:xfrm>
            <a:off x="704087" y="3483864"/>
            <a:ext cx="1627632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/>
            </a:pPr>
            <a:r>
              <a:rPr sz="1000" b="1" i="0">
                <a:solidFill>
                  <a:srgbClr val="004694"/>
                </a:solidFill>
                <a:latin typeface="Consolas"/>
              </a:rPr>
              <a:t>STM32CubeMX</a:t>
            </a:r>
            <a:endParaRPr/>
          </a:p>
        </p:txBody>
      </p:sp>
      <p:sp>
        <p:nvSpPr>
          <p:cNvPr id="1864847756" name="Rounded Rectangle 15"/>
          <p:cNvSpPr/>
          <p:nvPr/>
        </p:nvSpPr>
        <p:spPr bwMode="auto">
          <a:xfrm>
            <a:off x="6233007" y="2103120"/>
            <a:ext cx="5455767" cy="283464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22703184" name="TextBox 16"/>
          <p:cNvSpPr txBox="1"/>
          <p:nvPr/>
        </p:nvSpPr>
        <p:spPr bwMode="auto">
          <a:xfrm>
            <a:off x="6434175" y="2304288"/>
            <a:ext cx="505343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950" b="1" i="0">
                <a:solidFill>
                  <a:srgbClr val="0E93B4"/>
                </a:solidFill>
                <a:latin typeface="Consolas"/>
              </a:rPr>
              <a:t>DONANIM &amp; PROTOKOLLER</a:t>
            </a:r>
            <a:endParaRPr/>
          </a:p>
        </p:txBody>
      </p:sp>
      <p:sp>
        <p:nvSpPr>
          <p:cNvPr id="1804612376" name="TextBox 17"/>
          <p:cNvSpPr txBox="1"/>
          <p:nvPr/>
        </p:nvSpPr>
        <p:spPr bwMode="auto">
          <a:xfrm>
            <a:off x="6434175" y="2578608"/>
            <a:ext cx="505343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500" b="1" i="0">
                <a:solidFill>
                  <a:srgbClr val="101826"/>
                </a:solidFill>
                <a:latin typeface="Calibri"/>
              </a:rPr>
              <a:t>Nasıl Çalıştığını Öğrendiğim Katmanlar</a:t>
            </a:r>
            <a:endParaRPr/>
          </a:p>
        </p:txBody>
      </p:sp>
      <p:sp>
        <p:nvSpPr>
          <p:cNvPr id="1772930836" name="Rounded Rectangle 18"/>
          <p:cNvSpPr/>
          <p:nvPr/>
        </p:nvSpPr>
        <p:spPr bwMode="auto">
          <a:xfrm>
            <a:off x="6434175" y="2962656"/>
            <a:ext cx="676656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/>
            </a:pPr>
            <a:r>
              <a:rPr sz="1000" b="1" i="0">
                <a:solidFill>
                  <a:srgbClr val="004694"/>
                </a:solidFill>
                <a:latin typeface="Consolas"/>
              </a:rPr>
              <a:t>DMA</a:t>
            </a:r>
            <a:endParaRPr/>
          </a:p>
        </p:txBody>
      </p:sp>
      <p:sp>
        <p:nvSpPr>
          <p:cNvPr id="720382098" name="Rounded Rectangle 19"/>
          <p:cNvSpPr/>
          <p:nvPr/>
        </p:nvSpPr>
        <p:spPr bwMode="auto">
          <a:xfrm>
            <a:off x="7220558" y="2962656"/>
            <a:ext cx="3054096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/>
            </a:pPr>
            <a:r>
              <a:rPr sz="1000" b="1" i="0">
                <a:solidFill>
                  <a:srgbClr val="004694"/>
                </a:solidFill>
                <a:latin typeface="Consolas"/>
              </a:rPr>
              <a:t>Ethernet (MAC/PHY/RMII)</a:t>
            </a:r>
            <a:endParaRPr/>
          </a:p>
        </p:txBody>
      </p:sp>
      <p:sp>
        <p:nvSpPr>
          <p:cNvPr id="1244552066" name="Rounded Rectangle 20"/>
          <p:cNvSpPr/>
          <p:nvPr/>
        </p:nvSpPr>
        <p:spPr bwMode="auto">
          <a:xfrm>
            <a:off x="10384383" y="2962656"/>
            <a:ext cx="676656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/>
            </a:pPr>
            <a:r>
              <a:rPr sz="1000" b="1" i="0">
                <a:solidFill>
                  <a:srgbClr val="004694"/>
                </a:solidFill>
                <a:latin typeface="Consolas"/>
              </a:rPr>
              <a:t>I2C</a:t>
            </a:r>
            <a:endParaRPr/>
          </a:p>
        </p:txBody>
      </p:sp>
      <p:sp>
        <p:nvSpPr>
          <p:cNvPr id="1354547913" name="Rounded Rectangle 21"/>
          <p:cNvSpPr/>
          <p:nvPr/>
        </p:nvSpPr>
        <p:spPr bwMode="auto">
          <a:xfrm>
            <a:off x="6434175" y="3291840"/>
            <a:ext cx="676656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/>
            </a:pPr>
            <a:r>
              <a:rPr sz="1000" b="1" i="0">
                <a:solidFill>
                  <a:srgbClr val="004694"/>
                </a:solidFill>
                <a:latin typeface="Consolas"/>
              </a:rPr>
              <a:t>SPI</a:t>
            </a:r>
            <a:endParaRPr/>
          </a:p>
        </p:txBody>
      </p:sp>
      <p:sp>
        <p:nvSpPr>
          <p:cNvPr id="42668854" name="Rounded Rectangle 22"/>
          <p:cNvSpPr/>
          <p:nvPr/>
        </p:nvSpPr>
        <p:spPr bwMode="auto">
          <a:xfrm>
            <a:off x="7220558" y="3291840"/>
            <a:ext cx="795528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/>
            </a:pPr>
            <a:r>
              <a:rPr sz="1000" b="1" i="0">
                <a:solidFill>
                  <a:srgbClr val="004694"/>
                </a:solidFill>
                <a:latin typeface="Consolas"/>
              </a:rPr>
              <a:t>UART</a:t>
            </a:r>
            <a:endParaRPr/>
          </a:p>
        </p:txBody>
      </p:sp>
      <p:sp>
        <p:nvSpPr>
          <p:cNvPr id="702526876" name="Rounded Rectangle 23"/>
          <p:cNvSpPr/>
          <p:nvPr/>
        </p:nvSpPr>
        <p:spPr bwMode="auto">
          <a:xfrm>
            <a:off x="8125815" y="3291840"/>
            <a:ext cx="2221992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/>
            </a:pPr>
            <a:r>
              <a:rPr sz="1000" b="1" i="0">
                <a:solidFill>
                  <a:srgbClr val="004694"/>
                </a:solidFill>
                <a:latin typeface="Consolas"/>
              </a:rPr>
              <a:t>Interrupt (NVIC)</a:t>
            </a:r>
            <a:endParaRPr/>
          </a:p>
        </p:txBody>
      </p:sp>
      <p:sp>
        <p:nvSpPr>
          <p:cNvPr id="2042877087" name="Rounded Rectangle 24"/>
          <p:cNvSpPr/>
          <p:nvPr/>
        </p:nvSpPr>
        <p:spPr bwMode="auto">
          <a:xfrm>
            <a:off x="6434175" y="3621024"/>
            <a:ext cx="2459735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/>
            </a:pPr>
            <a:r>
              <a:rPr sz="1000" b="1" i="0">
                <a:solidFill>
                  <a:srgbClr val="004694"/>
                </a:solidFill>
                <a:latin typeface="Consolas"/>
              </a:rPr>
              <a:t>FreeRTOS temelleri</a:t>
            </a:r>
            <a:endParaRPr/>
          </a:p>
        </p:txBody>
      </p:sp>
      <p:sp>
        <p:nvSpPr>
          <p:cNvPr id="1074049172" name="TextBox 25"/>
          <p:cNvSpPr txBox="1"/>
          <p:nvPr/>
        </p:nvSpPr>
        <p:spPr bwMode="auto">
          <a:xfrm>
            <a:off x="502920" y="512064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1150" b="0" i="1">
                <a:solidFill>
                  <a:srgbClr val="5B6B80"/>
                </a:solidFill>
                <a:latin typeface="Calibri"/>
              </a:rPr>
              <a:t>Bare-metal kod yazma pratiği + farklı işlemci çekirdeklerini (Cortex-M4/M7/M33) ve farklı entegreleri tek bir projede bir araya getirme deneyimi.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48006386" name="Picture 1" descr="sunu_arka_plan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964250684" name="TextBox 2"/>
          <p:cNvSpPr txBox="1"/>
          <p:nvPr/>
        </p:nvSpPr>
        <p:spPr bwMode="auto"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100" b="1" i="0">
                <a:solidFill>
                  <a:srgbClr val="0E93B4"/>
                </a:solidFill>
                <a:latin typeface="Consolas"/>
              </a:rPr>
              <a:t>14 · KAZANIMLAR</a:t>
            </a:r>
            <a:endParaRPr/>
          </a:p>
        </p:txBody>
      </p:sp>
      <p:sp>
        <p:nvSpPr>
          <p:cNvPr id="765933167" name="TextBox 3"/>
          <p:cNvSpPr txBox="1"/>
          <p:nvPr/>
        </p:nvSpPr>
        <p:spPr bwMode="auto">
          <a:xfrm>
            <a:off x="502920" y="1658492"/>
            <a:ext cx="98755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2700" b="1" i="0">
                <a:solidFill>
                  <a:srgbClr val="101826"/>
                </a:solidFill>
                <a:latin typeface="Calibri"/>
              </a:rPr>
              <a:t>Bu stajın ve projenin bana kattıkları</a:t>
            </a:r>
            <a:endParaRPr/>
          </a:p>
        </p:txBody>
      </p:sp>
      <p:sp>
        <p:nvSpPr>
          <p:cNvPr id="467882603" name="TextBox 4"/>
          <p:cNvSpPr txBox="1"/>
          <p:nvPr/>
        </p:nvSpPr>
        <p:spPr bwMode="auto">
          <a:xfrm>
            <a:off x="502920" y="241744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350" b="0" i="0">
                <a:solidFill>
                  <a:srgbClr val="5B6B80"/>
                </a:solidFill>
                <a:latin typeface="Calibri"/>
              </a:rPr>
              <a:t>Eğitimle başlayıp gereksinimden teste uzanan tam bir mühendislik döngüsünü, tek bir projede kendi ellerimle tamamladım — üç boyutta öğrenme ve somut bir çıktı.</a:t>
            </a:r>
            <a:endParaRPr/>
          </a:p>
        </p:txBody>
      </p:sp>
      <p:sp>
        <p:nvSpPr>
          <p:cNvPr id="1643183520" name="TextBox 5"/>
          <p:cNvSpPr txBox="1"/>
          <p:nvPr/>
        </p:nvSpPr>
        <p:spPr bwMode="auto"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  <a:endParaRPr/>
          </a:p>
        </p:txBody>
      </p:sp>
      <p:sp>
        <p:nvSpPr>
          <p:cNvPr id="2004860844" name="TextBox 6"/>
          <p:cNvSpPr txBox="1"/>
          <p:nvPr/>
        </p:nvSpPr>
        <p:spPr bwMode="auto"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5B6B80"/>
                </a:solidFill>
                <a:latin typeface="Calibri"/>
              </a:rPr>
              <a:t>15 / 15</a:t>
            </a:r>
            <a:endParaRPr/>
          </a:p>
        </p:txBody>
      </p:sp>
      <p:sp>
        <p:nvSpPr>
          <p:cNvPr id="895916576" name="Rounded Rectangle 7"/>
          <p:cNvSpPr/>
          <p:nvPr/>
        </p:nvSpPr>
        <p:spPr bwMode="auto">
          <a:xfrm>
            <a:off x="502920" y="3075813"/>
            <a:ext cx="3545738" cy="173736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39087483" name="TextBox 8"/>
          <p:cNvSpPr txBox="1"/>
          <p:nvPr/>
        </p:nvSpPr>
        <p:spPr bwMode="auto">
          <a:xfrm>
            <a:off x="704088" y="3276981"/>
            <a:ext cx="314340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500" b="1" i="0">
                <a:solidFill>
                  <a:srgbClr val="101826"/>
                </a:solidFill>
                <a:latin typeface="Calibri"/>
              </a:rPr>
              <a:t>Teknik</a:t>
            </a:r>
            <a:endParaRPr/>
          </a:p>
        </p:txBody>
      </p:sp>
      <p:sp>
        <p:nvSpPr>
          <p:cNvPr id="1656111768" name="TextBox 9"/>
          <p:cNvSpPr txBox="1"/>
          <p:nvPr/>
        </p:nvSpPr>
        <p:spPr bwMode="auto">
          <a:xfrm>
            <a:off x="704088" y="3661029"/>
            <a:ext cx="3143402" cy="950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250" b="0" i="0">
                <a:solidFill>
                  <a:srgbClr val="5B6B80"/>
                </a:solidFill>
                <a:latin typeface="Calibri"/>
              </a:rPr>
              <a:t>Gömülü sistemlerde donanım-yazılım ilişkisi, ağ protokollerinin temelleri, C ile düşük seviyeli programlama ve hata ayıklama disiplini.</a:t>
            </a:r>
            <a:endParaRPr/>
          </a:p>
        </p:txBody>
      </p:sp>
      <p:sp>
        <p:nvSpPr>
          <p:cNvPr id="1053571852" name="Rounded Rectangle 10"/>
          <p:cNvSpPr/>
          <p:nvPr/>
        </p:nvSpPr>
        <p:spPr bwMode="auto">
          <a:xfrm>
            <a:off x="4322977" y="3075813"/>
            <a:ext cx="3545738" cy="173736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97898000" name="TextBox 11"/>
          <p:cNvSpPr txBox="1"/>
          <p:nvPr/>
        </p:nvSpPr>
        <p:spPr bwMode="auto">
          <a:xfrm>
            <a:off x="4524145" y="3276981"/>
            <a:ext cx="314340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500" b="1" i="0">
                <a:solidFill>
                  <a:srgbClr val="101826"/>
                </a:solidFill>
                <a:latin typeface="Calibri"/>
              </a:rPr>
              <a:t>Mühendislik Pratiği</a:t>
            </a:r>
            <a:endParaRPr/>
          </a:p>
        </p:txBody>
      </p:sp>
      <p:sp>
        <p:nvSpPr>
          <p:cNvPr id="357923815" name="TextBox 12"/>
          <p:cNvSpPr txBox="1"/>
          <p:nvPr/>
        </p:nvSpPr>
        <p:spPr bwMode="auto">
          <a:xfrm>
            <a:off x="4524145" y="3661029"/>
            <a:ext cx="3143402" cy="950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250" b="0" i="0">
                <a:solidFill>
                  <a:srgbClr val="5B6B80"/>
                </a:solidFill>
                <a:latin typeface="Calibri"/>
              </a:rPr>
              <a:t>Gereksinim yazma, mimariyi baştan tasarlama, "her girdi düşmanca olabilir" ilkesiyle savunmacı kod yazma, sistemli test ve dokümantasyon.</a:t>
            </a:r>
            <a:endParaRPr/>
          </a:p>
        </p:txBody>
      </p:sp>
      <p:sp>
        <p:nvSpPr>
          <p:cNvPr id="1691240715" name="Rounded Rectangle 13"/>
          <p:cNvSpPr/>
          <p:nvPr/>
        </p:nvSpPr>
        <p:spPr bwMode="auto">
          <a:xfrm>
            <a:off x="8143035" y="3075813"/>
            <a:ext cx="3545738" cy="173736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87585253" name="TextBox 14"/>
          <p:cNvSpPr txBox="1"/>
          <p:nvPr/>
        </p:nvSpPr>
        <p:spPr bwMode="auto">
          <a:xfrm>
            <a:off x="8344203" y="3276981"/>
            <a:ext cx="314340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500" b="1" i="0">
                <a:solidFill>
                  <a:srgbClr val="101826"/>
                </a:solidFill>
                <a:latin typeface="Calibri"/>
              </a:rPr>
              <a:t>Kişisel</a:t>
            </a:r>
            <a:endParaRPr/>
          </a:p>
        </p:txBody>
      </p:sp>
      <p:sp>
        <p:nvSpPr>
          <p:cNvPr id="1271672329" name="TextBox 15"/>
          <p:cNvSpPr txBox="1"/>
          <p:nvPr/>
        </p:nvSpPr>
        <p:spPr bwMode="auto">
          <a:xfrm>
            <a:off x="8344203" y="3661029"/>
            <a:ext cx="3143402" cy="950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250" b="0" i="0">
                <a:solidFill>
                  <a:srgbClr val="5B6B80"/>
                </a:solidFill>
                <a:latin typeface="Calibri"/>
              </a:rPr>
              <a:t>Bağımsız çalışıp doğru zamanda geri bildirim alma, zaman/kapsam yönetimi, teknik bir konuyu sade anlatabilme.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ONLYOFFICE/9.0.4.50</Application>
  <PresentationFormat>On-screen Show (4:3)</PresentationFormat>
  <Paragraphs>0</Paragraphs>
  <Slides>15</Slides>
  <Notes>15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2026-09-17T11:41:38Z</dcterms:modified>
  <cp:category/>
</cp:coreProperties>
</file>