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3066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5925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686336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610872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282829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6476371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143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026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489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9DD415-5245-69D2-B0A5-EA13E79B0E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975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196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690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1D970-0330-1227-ADA3-1B47901E11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519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2450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977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1EC4E6-6FF5-B66B-C0D8-F9A6015CC3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322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193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25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27B3D4-6910-2468-B441-E3C8857607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410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3461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333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4C63C6-D700-8CD5-14AE-B3AE202199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303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011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26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3549C8-53A1-82A6-C052-24BDDC7EB6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874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317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12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73FF59-4033-CAC2-00C8-F4F6222365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948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89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607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23376-A0C8-3998-A931-0C453BFC6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067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382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99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75BAE5-8F01-1185-6FD1-5D4CB970C8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950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849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8672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B30FAC-2BCC-26D3-8155-6277578F00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91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90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16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81DB32-1C09-895F-C902-21F93BA01B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108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520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79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29B169-B363-2F6C-4907-70BC926114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850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558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4170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D5E5BE-56D4-58E0-2C7A-58A9BF24ED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761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633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037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1C0610-C08F-2531-8CAE-7D733B34B6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687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181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265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1B963D-1582-BCD1-73F2-878CA7762A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642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027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172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52B105-B76B-136F-0041-0E75C464FB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79017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831271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82502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45037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2330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8863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52448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50514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048588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67323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96347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53506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22393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598642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53279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35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534390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11794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12536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621714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7792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2295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597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6873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9008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58385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96043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15585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001776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1754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998720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409169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103578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46270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0345576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34763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70427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156442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70683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74806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098121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53780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29629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42297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284178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07980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1421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19001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0050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69356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4772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045515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2044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794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78053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54429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204152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87048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93518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6219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899554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1570788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115913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.png"/><Relationship Id="rId7" Type="http://schemas.openxmlformats.org/officeDocument/2006/relationships/image" Target="../media/image3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0131616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5035344" name="TextBox 3"/>
          <p:cNvSpPr txBox="1"/>
          <p:nvPr/>
        </p:nvSpPr>
        <p:spPr bwMode="auto">
          <a:xfrm>
            <a:off x="3304130" y="3081808"/>
            <a:ext cx="5162306" cy="613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  <a:defRPr/>
            </a:pPr>
            <a:r>
              <a:rPr sz="4200" b="1" i="1" u="none">
                <a:solidFill>
                  <a:schemeClr val="accent1"/>
                </a:solidFill>
                <a:latin typeface="Plus Jakarta Sans"/>
              </a:rPr>
              <a:t>Sistem Mühendisliği</a:t>
            </a:r>
            <a:endParaRPr i="1">
              <a:solidFill>
                <a:schemeClr val="accent1"/>
              </a:solidFill>
            </a:endParaRPr>
          </a:p>
        </p:txBody>
      </p:sp>
      <p:sp>
        <p:nvSpPr>
          <p:cNvPr id="1467026176" name="TextBox 4"/>
          <p:cNvSpPr txBox="1"/>
          <p:nvPr/>
        </p:nvSpPr>
        <p:spPr bwMode="auto">
          <a:xfrm>
            <a:off x="2431140" y="4278741"/>
            <a:ext cx="7512734" cy="286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  <a:defRPr/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Hazırlayan : Mehmet Akif Seçkin </a:t>
            </a:r>
            <a:endParaRPr sz="1800"/>
          </a:p>
        </p:txBody>
      </p:sp>
      <p:pic>
        <p:nvPicPr>
          <p:cNvPr id="390677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387" y="276365"/>
            <a:ext cx="4541504" cy="1281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008807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26323027" name="Picture 2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2066925"/>
            <a:ext cx="5448300" cy="552450"/>
          </a:xfrm>
          <a:prstGeom prst="rect">
            <a:avLst/>
          </a:prstGeom>
        </p:spPr>
      </p:pic>
      <p:pic>
        <p:nvPicPr>
          <p:cNvPr id="3576177" name="Picture 3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72200" y="2066925"/>
            <a:ext cx="5448300" cy="552450"/>
          </a:xfrm>
          <a:prstGeom prst="rect">
            <a:avLst/>
          </a:prstGeom>
        </p:spPr>
      </p:pic>
      <p:pic>
        <p:nvPicPr>
          <p:cNvPr id="2090872542" name="Picture 4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2771775"/>
            <a:ext cx="5448300" cy="552450"/>
          </a:xfrm>
          <a:prstGeom prst="rect">
            <a:avLst/>
          </a:prstGeom>
        </p:spPr>
      </p:pic>
      <p:pic>
        <p:nvPicPr>
          <p:cNvPr id="1825213376" name="Picture 5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72200" y="2771775"/>
            <a:ext cx="5448300" cy="552450"/>
          </a:xfrm>
          <a:prstGeom prst="rect">
            <a:avLst/>
          </a:prstGeom>
        </p:spPr>
      </p:pic>
      <p:pic>
        <p:nvPicPr>
          <p:cNvPr id="1250864486" name="Picture 6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3476625"/>
            <a:ext cx="5448300" cy="552450"/>
          </a:xfrm>
          <a:prstGeom prst="rect">
            <a:avLst/>
          </a:prstGeom>
        </p:spPr>
      </p:pic>
      <p:pic>
        <p:nvPicPr>
          <p:cNvPr id="368670959" name="Picture 7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72200" y="3476625"/>
            <a:ext cx="5448300" cy="552450"/>
          </a:xfrm>
          <a:prstGeom prst="rect">
            <a:avLst/>
          </a:prstGeom>
        </p:spPr>
      </p:pic>
      <p:pic>
        <p:nvPicPr>
          <p:cNvPr id="791212766" name="Picture 9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72200" y="4181475"/>
            <a:ext cx="5448300" cy="552450"/>
          </a:xfrm>
          <a:prstGeom prst="rect">
            <a:avLst/>
          </a:prstGeom>
        </p:spPr>
      </p:pic>
      <p:pic>
        <p:nvPicPr>
          <p:cNvPr id="1054774566" name="Picture 10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4192756"/>
            <a:ext cx="5448300" cy="552450"/>
          </a:xfrm>
          <a:prstGeom prst="rect">
            <a:avLst/>
          </a:prstGeom>
        </p:spPr>
      </p:pic>
      <p:pic>
        <p:nvPicPr>
          <p:cNvPr id="1750754667" name="Picture 12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81050" y="2209800"/>
            <a:ext cx="266700" cy="266700"/>
          </a:xfrm>
          <a:prstGeom prst="rect">
            <a:avLst/>
          </a:prstGeom>
        </p:spPr>
      </p:pic>
      <p:pic>
        <p:nvPicPr>
          <p:cNvPr id="1927728977" name="Picture 13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381750" y="2209800"/>
            <a:ext cx="266700" cy="266700"/>
          </a:xfrm>
          <a:prstGeom prst="rect">
            <a:avLst/>
          </a:prstGeom>
        </p:spPr>
      </p:pic>
      <p:pic>
        <p:nvPicPr>
          <p:cNvPr id="1485404945" name="Picture 14" descr="image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81050" y="2914650"/>
            <a:ext cx="266700" cy="266700"/>
          </a:xfrm>
          <a:prstGeom prst="rect">
            <a:avLst/>
          </a:prstGeom>
        </p:spPr>
      </p:pic>
      <p:pic>
        <p:nvPicPr>
          <p:cNvPr id="1314220752" name="Picture 15" descr="image.png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6381750" y="2914650"/>
            <a:ext cx="266700" cy="266700"/>
          </a:xfrm>
          <a:prstGeom prst="rect">
            <a:avLst/>
          </a:prstGeom>
        </p:spPr>
      </p:pic>
      <p:pic>
        <p:nvPicPr>
          <p:cNvPr id="1481554770" name="Picture 16" descr="image.png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781050" y="3619500"/>
            <a:ext cx="266700" cy="266700"/>
          </a:xfrm>
          <a:prstGeom prst="rect">
            <a:avLst/>
          </a:prstGeom>
        </p:spPr>
      </p:pic>
      <p:pic>
        <p:nvPicPr>
          <p:cNvPr id="1656260400" name="Picture 17" descr="image.png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6381750" y="3619500"/>
            <a:ext cx="266700" cy="266700"/>
          </a:xfrm>
          <a:prstGeom prst="rect">
            <a:avLst/>
          </a:prstGeom>
        </p:spPr>
      </p:pic>
      <p:pic>
        <p:nvPicPr>
          <p:cNvPr id="887224520" name="Picture 18" descr="image.png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781049" y="4335631"/>
            <a:ext cx="266700" cy="266700"/>
          </a:xfrm>
          <a:prstGeom prst="rect">
            <a:avLst/>
          </a:prstGeom>
        </p:spPr>
      </p:pic>
      <p:pic>
        <p:nvPicPr>
          <p:cNvPr id="620944741" name="Picture 19" descr="image.png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6381750" y="4324350"/>
            <a:ext cx="266700" cy="266700"/>
          </a:xfrm>
          <a:prstGeom prst="rect">
            <a:avLst/>
          </a:prstGeom>
        </p:spPr>
      </p:pic>
      <p:sp>
        <p:nvSpPr>
          <p:cNvPr id="687997742" name="TextBox 22"/>
          <p:cNvSpPr txBox="1"/>
          <p:nvPr/>
        </p:nvSpPr>
        <p:spPr bwMode="auto">
          <a:xfrm>
            <a:off x="1190625" y="2252662"/>
            <a:ext cx="32099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Sistem Mühendisliği Nedir &amp; Neden Gereklidir?</a:t>
            </a:r>
            <a:endParaRPr/>
          </a:p>
        </p:txBody>
      </p:sp>
      <p:sp>
        <p:nvSpPr>
          <p:cNvPr id="426470022" name="TextBox 23"/>
          <p:cNvSpPr txBox="1"/>
          <p:nvPr/>
        </p:nvSpPr>
        <p:spPr bwMode="auto">
          <a:xfrm>
            <a:off x="6791325" y="2252662"/>
            <a:ext cx="2286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INCOSE ve SE Handbook Rehberi</a:t>
            </a:r>
            <a:endParaRPr/>
          </a:p>
        </p:txBody>
      </p:sp>
      <p:sp>
        <p:nvSpPr>
          <p:cNvPr id="1677728925" name="TextBox 24"/>
          <p:cNvSpPr txBox="1"/>
          <p:nvPr/>
        </p:nvSpPr>
        <p:spPr bwMode="auto">
          <a:xfrm>
            <a:off x="1190625" y="2957512"/>
            <a:ext cx="2705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Sistem Mühendisliği Uygulama Alanları</a:t>
            </a:r>
            <a:endParaRPr/>
          </a:p>
        </p:txBody>
      </p:sp>
      <p:sp>
        <p:nvSpPr>
          <p:cNvPr id="179846759" name="TextBox 25"/>
          <p:cNvSpPr txBox="1"/>
          <p:nvPr/>
        </p:nvSpPr>
        <p:spPr bwMode="auto">
          <a:xfrm>
            <a:off x="6791325" y="2957512"/>
            <a:ext cx="3124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Sistemler Sistemi (System of Systems - SoS)</a:t>
            </a:r>
            <a:endParaRPr/>
          </a:p>
        </p:txBody>
      </p:sp>
      <p:sp>
        <p:nvSpPr>
          <p:cNvPr id="1887359294" name="TextBox 26"/>
          <p:cNvSpPr txBox="1"/>
          <p:nvPr/>
        </p:nvSpPr>
        <p:spPr bwMode="auto">
          <a:xfrm>
            <a:off x="1190625" y="3662362"/>
            <a:ext cx="2733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Sistem Ömür Yaşam Döngüsü Süreçleri</a:t>
            </a:r>
            <a:endParaRPr/>
          </a:p>
        </p:txBody>
      </p:sp>
      <p:sp>
        <p:nvSpPr>
          <p:cNvPr id="1850545261" name="TextBox 27"/>
          <p:cNvSpPr txBox="1"/>
          <p:nvPr/>
        </p:nvSpPr>
        <p:spPr bwMode="auto">
          <a:xfrm flipH="0" flipV="0">
            <a:off x="6791324" y="3662360"/>
            <a:ext cx="3410414" cy="175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Sistem Geliştirme Modelleri (Şelale, Spiral, V Model)</a:t>
            </a:r>
            <a:endParaRPr/>
          </a:p>
        </p:txBody>
      </p:sp>
      <p:sp>
        <p:nvSpPr>
          <p:cNvPr id="1388539840" name="TextBox 29"/>
          <p:cNvSpPr txBox="1"/>
          <p:nvPr/>
        </p:nvSpPr>
        <p:spPr bwMode="auto">
          <a:xfrm>
            <a:off x="6791325" y="4367212"/>
            <a:ext cx="2962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Model Tabanlı Sistem Mühendisliği (MBSE)</a:t>
            </a:r>
            <a:endParaRPr/>
          </a:p>
        </p:txBody>
      </p:sp>
      <p:sp>
        <p:nvSpPr>
          <p:cNvPr id="419979581" name="TextBox 30"/>
          <p:cNvSpPr txBox="1"/>
          <p:nvPr/>
        </p:nvSpPr>
        <p:spPr bwMode="auto">
          <a:xfrm>
            <a:off x="1190624" y="4378493"/>
            <a:ext cx="25622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0" i="0" u="none">
                <a:solidFill>
                  <a:srgbClr val="1E293B"/>
                </a:solidFill>
                <a:latin typeface="Inter SemiBold"/>
              </a:rPr>
              <a:t>Gereksinim Mühendisliği ve Yönetimi</a:t>
            </a:r>
            <a:endParaRPr/>
          </a:p>
        </p:txBody>
      </p:sp>
      <p:sp>
        <p:nvSpPr>
          <p:cNvPr id="1957182261" name="TextBox 32"/>
          <p:cNvSpPr txBox="1"/>
          <p:nvPr/>
        </p:nvSpPr>
        <p:spPr bwMode="auto"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İçindekiler</a:t>
            </a:r>
            <a:endParaRPr/>
          </a:p>
        </p:txBody>
      </p:sp>
      <p:sp>
        <p:nvSpPr>
          <p:cNvPr id="1950233598" name="Rounded Rectangle 33"/>
          <p:cNvSpPr/>
          <p:nvPr/>
        </p:nvSpPr>
        <p:spPr bwMode="auto">
          <a:xfrm>
            <a:off x="447674" y="518228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79942732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8760179" y="93482"/>
            <a:ext cx="3348037" cy="944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6158625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94213651" name="Picture 2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2438400"/>
            <a:ext cx="5381625" cy="2628900"/>
          </a:xfrm>
          <a:prstGeom prst="rect">
            <a:avLst/>
          </a:prstGeom>
        </p:spPr>
      </p:pic>
      <p:pic>
        <p:nvPicPr>
          <p:cNvPr id="1095559615" name="Picture 3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38875" y="2438400"/>
            <a:ext cx="5381625" cy="2628900"/>
          </a:xfrm>
          <a:prstGeom prst="rect">
            <a:avLst/>
          </a:prstGeom>
        </p:spPr>
      </p:pic>
      <p:sp>
        <p:nvSpPr>
          <p:cNvPr id="1080035934" name="TextBox 4"/>
          <p:cNvSpPr txBox="1"/>
          <p:nvPr/>
        </p:nvSpPr>
        <p:spPr bwMode="auto">
          <a:xfrm>
            <a:off x="1162050" y="2714625"/>
            <a:ext cx="474059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Sistem Mühendisliği Nedir?</a:t>
            </a:r>
            <a:endParaRPr/>
          </a:p>
        </p:txBody>
      </p:sp>
      <p:sp>
        <p:nvSpPr>
          <p:cNvPr id="2029674403" name="TextBox 5"/>
          <p:cNvSpPr txBox="1"/>
          <p:nvPr/>
        </p:nvSpPr>
        <p:spPr bwMode="auto">
          <a:xfrm>
            <a:off x="847725" y="3076574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Sistem Mühendisliği, karmaşık sistemlerin tüm yaşam döngüsü boyunca başarılı bir şekilde tasarlanmasını, entegre edilmesini ve yönetilmesini sağlayan disiplinlerarası bütünsel bir yaklaşımdır.</a:t>
            </a:r>
            <a:endParaRPr/>
          </a:p>
        </p:txBody>
      </p:sp>
      <p:sp>
        <p:nvSpPr>
          <p:cNvPr id="302766195" name="TextBox 6"/>
          <p:cNvSpPr txBox="1"/>
          <p:nvPr/>
        </p:nvSpPr>
        <p:spPr bwMode="auto">
          <a:xfrm>
            <a:off x="847725" y="3876675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Müşteri ihtiyaçlarını ve teknik gereksinimleri tanımlayarak; donanım, yazılım, insan faktörü ve süreçleri bir bütün olarak ele alır.</a:t>
            </a:r>
            <a:endParaRPr/>
          </a:p>
        </p:txBody>
      </p:sp>
      <p:sp>
        <p:nvSpPr>
          <p:cNvPr id="1979259822" name="TextBox 7"/>
          <p:cNvSpPr txBox="1"/>
          <p:nvPr/>
        </p:nvSpPr>
        <p:spPr bwMode="auto">
          <a:xfrm>
            <a:off x="6800850" y="2714625"/>
            <a:ext cx="4770596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Neden Gereklidir?</a:t>
            </a:r>
            <a:endParaRPr/>
          </a:p>
        </p:txBody>
      </p:sp>
      <p:sp>
        <p:nvSpPr>
          <p:cNvPr id="1156010041" name="TextBox 8"/>
          <p:cNvSpPr txBox="1"/>
          <p:nvPr/>
        </p:nvSpPr>
        <p:spPr bwMode="auto">
          <a:xfrm>
            <a:off x="6515100" y="3076574"/>
            <a:ext cx="4829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Artan Karmaşıklık Yönetimi: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Günümüz teknolojik ürünleri binlerce alt bileşenden oluşur. Bu bileşenlerin uyumunu garanti eder.</a:t>
            </a:r>
            <a:endParaRPr/>
          </a:p>
        </p:txBody>
      </p:sp>
      <p:sp>
        <p:nvSpPr>
          <p:cNvPr id="1342242426" name="TextBox 9"/>
          <p:cNvSpPr txBox="1"/>
          <p:nvPr/>
        </p:nvSpPr>
        <p:spPr bwMode="auto">
          <a:xfrm>
            <a:off x="6515100" y="3648074"/>
            <a:ext cx="4829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Maliyet ve Risk Reddi: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Hataları tasarım aşamasında tespit ederek geç aşamalarda çıkacak yıkıcı maliyetlerin önüne geçer.</a:t>
            </a:r>
            <a:endParaRPr/>
          </a:p>
        </p:txBody>
      </p:sp>
      <p:sp>
        <p:nvSpPr>
          <p:cNvPr id="1708152719" name="TextBox 10"/>
          <p:cNvSpPr txBox="1"/>
          <p:nvPr/>
        </p:nvSpPr>
        <p:spPr bwMode="auto">
          <a:xfrm>
            <a:off x="6515100" y="4219575"/>
            <a:ext cx="4829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Paydaş Hizalaması: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Müşteri beklentileri ile mühendislik çıktıları arasında köprü kurar.</a:t>
            </a:r>
            <a:endParaRPr/>
          </a:p>
        </p:txBody>
      </p:sp>
      <p:pic>
        <p:nvPicPr>
          <p:cNvPr id="263130568" name="Picture 11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47725" y="2752725"/>
            <a:ext cx="219074" cy="190500"/>
          </a:xfrm>
          <a:prstGeom prst="rect">
            <a:avLst/>
          </a:prstGeom>
        </p:spPr>
      </p:pic>
      <p:pic>
        <p:nvPicPr>
          <p:cNvPr id="442173380" name="Picture 12" descr="image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515100" y="2752725"/>
            <a:ext cx="190500" cy="190500"/>
          </a:xfrm>
          <a:prstGeom prst="rect">
            <a:avLst/>
          </a:prstGeom>
        </p:spPr>
      </p:pic>
      <p:sp>
        <p:nvSpPr>
          <p:cNvPr id="632581419" name="TextBox 13"/>
          <p:cNvSpPr txBox="1"/>
          <p:nvPr/>
        </p:nvSpPr>
        <p:spPr bwMode="auto"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Sistem Mühendisliği Nedir?</a:t>
            </a:r>
            <a:endParaRPr/>
          </a:p>
        </p:txBody>
      </p:sp>
      <p:sp>
        <p:nvSpPr>
          <p:cNvPr id="1913622631" name="Rounded Rectangle 14"/>
          <p:cNvSpPr/>
          <p:nvPr/>
        </p:nvSpPr>
        <p:spPr bwMode="auto">
          <a:xfrm>
            <a:off x="428625" y="55244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9103809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8760178" y="93481"/>
            <a:ext cx="3348036" cy="944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2028859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9569389" name="TextBox 3"/>
          <p:cNvSpPr txBox="1"/>
          <p:nvPr/>
        </p:nvSpPr>
        <p:spPr bwMode="auto">
          <a:xfrm>
            <a:off x="571500" y="1943100"/>
            <a:ext cx="565070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INCOSE Nedir?</a:t>
            </a:r>
            <a:endParaRPr/>
          </a:p>
        </p:txBody>
      </p:sp>
      <p:sp>
        <p:nvSpPr>
          <p:cNvPr id="798885424" name="TextBox 4"/>
          <p:cNvSpPr txBox="1"/>
          <p:nvPr/>
        </p:nvSpPr>
        <p:spPr bwMode="auto">
          <a:xfrm>
            <a:off x="571500" y="2305050"/>
            <a:ext cx="5381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INCOSE (International Council on Systems Engineering)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, sistem mühendisliği disiplinini geliştirmek ve standartlaştırmak amacıyla kurulmuş küresel bir uluslararası kuruluştur.</a:t>
            </a:r>
            <a:endParaRPr/>
          </a:p>
        </p:txBody>
      </p:sp>
      <p:sp>
        <p:nvSpPr>
          <p:cNvPr id="277957718" name="TextBox 5"/>
          <p:cNvSpPr txBox="1"/>
          <p:nvPr/>
        </p:nvSpPr>
        <p:spPr bwMode="auto">
          <a:xfrm>
            <a:off x="571500" y="3105150"/>
            <a:ext cx="5381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1" u="none">
                <a:solidFill>
                  <a:srgbClr val="475569"/>
                </a:solidFill>
                <a:latin typeface="Inter"/>
              </a:rPr>
              <a:t>Örnek: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Bir savunma sanayi projesinde farklı disiplinlerin (yazılım, mekanik, elektronik) ortak bir dil ve standart adımlarla çalışmasını INCOSE kılavuzları düzenler.</a:t>
            </a:r>
            <a:endParaRPr/>
          </a:p>
        </p:txBody>
      </p:sp>
      <p:sp>
        <p:nvSpPr>
          <p:cNvPr id="990271523" name="TextBox 6"/>
          <p:cNvSpPr txBox="1"/>
          <p:nvPr/>
        </p:nvSpPr>
        <p:spPr bwMode="auto">
          <a:xfrm>
            <a:off x="571500" y="3933824"/>
            <a:ext cx="565070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System Engineering Handbook</a:t>
            </a:r>
            <a:endParaRPr/>
          </a:p>
        </p:txBody>
      </p:sp>
      <p:sp>
        <p:nvSpPr>
          <p:cNvPr id="476201624" name="TextBox 7"/>
          <p:cNvSpPr txBox="1"/>
          <p:nvPr/>
        </p:nvSpPr>
        <p:spPr bwMode="auto">
          <a:xfrm>
            <a:off x="571500" y="4295775"/>
            <a:ext cx="5381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INCOSE tarafından yayımlanan bu rehber, ISO/IEC/IEEE 15288 standardına dayanır. Sistem yaşam döngüsü süreçlerini, teknik analiz yöntemlerini ve en iyi mühendislik uygulamalarını içeren temel başvuru kaynağıdır.</a:t>
            </a:r>
            <a:endParaRPr/>
          </a:p>
        </p:txBody>
      </p:sp>
      <p:sp>
        <p:nvSpPr>
          <p:cNvPr id="325781261" name="TextBox 9"/>
          <p:cNvSpPr txBox="1"/>
          <p:nvPr/>
        </p:nvSpPr>
        <p:spPr bwMode="auto"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INCOSE ve SE Handbook</a:t>
            </a:r>
            <a:endParaRPr/>
          </a:p>
        </p:txBody>
      </p:sp>
      <p:sp>
        <p:nvSpPr>
          <p:cNvPr id="347611369" name="Rounded Rectangle 10"/>
          <p:cNvSpPr/>
          <p:nvPr/>
        </p:nvSpPr>
        <p:spPr bwMode="auto">
          <a:xfrm>
            <a:off x="428625" y="504824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6008021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46504" y="1887614"/>
            <a:ext cx="4945718" cy="3268095"/>
          </a:xfrm>
          <a:prstGeom prst="rect">
            <a:avLst/>
          </a:prstGeom>
        </p:spPr>
      </p:pic>
      <p:pic>
        <p:nvPicPr>
          <p:cNvPr id="54317771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760178" y="93481"/>
            <a:ext cx="3348036" cy="944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236854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23192556" name="Picture 5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47699" y="1952624"/>
            <a:ext cx="457200" cy="457200"/>
          </a:xfrm>
          <a:prstGeom prst="rect">
            <a:avLst/>
          </a:prstGeom>
        </p:spPr>
      </p:pic>
      <p:sp>
        <p:nvSpPr>
          <p:cNvPr id="31336109" name="TextBox 6"/>
          <p:cNvSpPr txBox="1"/>
          <p:nvPr/>
        </p:nvSpPr>
        <p:spPr bwMode="auto">
          <a:xfrm>
            <a:off x="1170280" y="2019299"/>
            <a:ext cx="323368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Havacılık ve Savunma</a:t>
            </a:r>
            <a:endParaRPr/>
          </a:p>
        </p:txBody>
      </p:sp>
      <p:sp>
        <p:nvSpPr>
          <p:cNvPr id="1309495744" name="TextBox 7"/>
          <p:cNvSpPr txBox="1"/>
          <p:nvPr/>
        </p:nvSpPr>
        <p:spPr bwMode="auto">
          <a:xfrm>
            <a:off x="647699" y="5139153"/>
            <a:ext cx="3079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Savaş uçakları, insansız hava araçları (İHA) ve füze sistemleri gibi sıfır hata toleranslı ve yüksek güvenlik gerektiren projelerde kritik rol oynar.</a:t>
            </a:r>
            <a:endParaRPr/>
          </a:p>
        </p:txBody>
      </p:sp>
      <p:sp>
        <p:nvSpPr>
          <p:cNvPr id="1759698369" name="TextBox 9"/>
          <p:cNvSpPr txBox="1"/>
          <p:nvPr/>
        </p:nvSpPr>
        <p:spPr bwMode="auto">
          <a:xfrm>
            <a:off x="4830714" y="2019299"/>
            <a:ext cx="323368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Otomotiv ve Mobilite</a:t>
            </a:r>
            <a:endParaRPr/>
          </a:p>
        </p:txBody>
      </p:sp>
      <p:sp>
        <p:nvSpPr>
          <p:cNvPr id="218854551" name="TextBox 10"/>
          <p:cNvSpPr txBox="1"/>
          <p:nvPr/>
        </p:nvSpPr>
        <p:spPr bwMode="auto">
          <a:xfrm>
            <a:off x="4500589" y="5139153"/>
            <a:ext cx="3079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Otonom sürüş sistemleri, elektrikli araç batarya yönetim sistemleri ve karmaşık araç içi haberleşme mimarilerinin geliştirilmesinde uygulanır.</a:t>
            </a:r>
            <a:endParaRPr/>
          </a:p>
        </p:txBody>
      </p:sp>
      <p:pic>
        <p:nvPicPr>
          <p:cNvPr id="1301687257" name="Picture 11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302524" y="1952624"/>
            <a:ext cx="457200" cy="457200"/>
          </a:xfrm>
          <a:prstGeom prst="rect">
            <a:avLst/>
          </a:prstGeom>
        </p:spPr>
      </p:pic>
      <p:sp>
        <p:nvSpPr>
          <p:cNvPr id="1632910901" name="TextBox 12"/>
          <p:cNvSpPr txBox="1"/>
          <p:nvPr/>
        </p:nvSpPr>
        <p:spPr bwMode="auto">
          <a:xfrm>
            <a:off x="8817354" y="2019299"/>
            <a:ext cx="323368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Sağlık ve Biyotıp</a:t>
            </a:r>
            <a:endParaRPr/>
          </a:p>
        </p:txBody>
      </p:sp>
      <p:sp>
        <p:nvSpPr>
          <p:cNvPr id="1788456781" name="TextBox 13"/>
          <p:cNvSpPr txBox="1"/>
          <p:nvPr/>
        </p:nvSpPr>
        <p:spPr bwMode="auto">
          <a:xfrm>
            <a:off x="8302524" y="5139153"/>
            <a:ext cx="3079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Cerrahi robotlar, MR cihazları ve hasta takip altyapıları gibi kritik tıbbi cihazların donanım-yazılım entegrasyonu ve onay süreçlerinde kullanılır.</a:t>
            </a:r>
            <a:endParaRPr/>
          </a:p>
        </p:txBody>
      </p:sp>
      <p:pic>
        <p:nvPicPr>
          <p:cNvPr id="1098886317" name="Picture 14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71525" y="2076449"/>
            <a:ext cx="209550" cy="209550"/>
          </a:xfrm>
          <a:prstGeom prst="rect">
            <a:avLst/>
          </a:prstGeom>
        </p:spPr>
      </p:pic>
      <p:pic>
        <p:nvPicPr>
          <p:cNvPr id="263194319" name="Picture 16" descr="image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8426349" y="2076449"/>
            <a:ext cx="209550" cy="209550"/>
          </a:xfrm>
          <a:prstGeom prst="rect">
            <a:avLst/>
          </a:prstGeom>
        </p:spPr>
      </p:pic>
      <p:sp>
        <p:nvSpPr>
          <p:cNvPr id="1766141" name="TextBox 17"/>
          <p:cNvSpPr txBox="1"/>
          <p:nvPr/>
        </p:nvSpPr>
        <p:spPr bwMode="auto">
          <a:xfrm>
            <a:off x="571500" y="490867"/>
            <a:ext cx="11610088" cy="38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Sistem Mühendisliği Uygulama Alanları</a:t>
            </a:r>
            <a:endParaRPr/>
          </a:p>
        </p:txBody>
      </p:sp>
      <p:sp>
        <p:nvSpPr>
          <p:cNvPr id="196163112" name="Rounded Rectangle 18"/>
          <p:cNvSpPr/>
          <p:nvPr/>
        </p:nvSpPr>
        <p:spPr bwMode="auto">
          <a:xfrm>
            <a:off x="476249" y="55244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95944077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8760178" y="93481"/>
            <a:ext cx="3348036" cy="944741"/>
          </a:xfrm>
          <a:prstGeom prst="rect">
            <a:avLst/>
          </a:prstGeom>
        </p:spPr>
      </p:pic>
      <p:pic>
        <p:nvPicPr>
          <p:cNvPr id="2009420172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flipH="0" flipV="0">
            <a:off x="520072" y="2514599"/>
            <a:ext cx="3574374" cy="2299559"/>
          </a:xfrm>
          <a:prstGeom prst="rect">
            <a:avLst/>
          </a:prstGeom>
        </p:spPr>
      </p:pic>
      <p:pic>
        <p:nvPicPr>
          <p:cNvPr id="1763002771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4251740" y="2514599"/>
            <a:ext cx="3581900" cy="2299559"/>
          </a:xfrm>
          <a:prstGeom prst="rect">
            <a:avLst/>
          </a:prstGeom>
        </p:spPr>
      </p:pic>
      <p:pic>
        <p:nvPicPr>
          <p:cNvPr id="988177214" name="Picture 8" descr="image.png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4343400" y="1924049"/>
            <a:ext cx="457200" cy="457200"/>
          </a:xfrm>
          <a:prstGeom prst="rect">
            <a:avLst/>
          </a:prstGeom>
        </p:spPr>
      </p:pic>
      <p:pic>
        <p:nvPicPr>
          <p:cNvPr id="199720073" name="Picture 15" descr="image.png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4467224" y="2047874"/>
            <a:ext cx="209549" cy="209549"/>
          </a:xfrm>
          <a:prstGeom prst="rect">
            <a:avLst/>
          </a:prstGeom>
        </p:spPr>
      </p:pic>
      <p:pic>
        <p:nvPicPr>
          <p:cNvPr id="283513925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8189164" y="2514599"/>
            <a:ext cx="3679959" cy="2354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0534176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91054150" name="TextBox 3"/>
          <p:cNvSpPr txBox="1"/>
          <p:nvPr/>
        </p:nvSpPr>
        <p:spPr bwMode="auto">
          <a:xfrm>
            <a:off x="761999" y="3271836"/>
            <a:ext cx="5000985" cy="68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  <a:defRPr/>
            </a:pPr>
            <a:r>
              <a:rPr sz="5400" b="0" i="0" u="none">
                <a:solidFill>
                  <a:srgbClr val="FFFFFF"/>
                </a:solidFill>
                <a:latin typeface="Plus Jakarta Sans ExtraBold"/>
              </a:rPr>
              <a:t>So</a:t>
            </a:r>
            <a:endParaRPr/>
          </a:p>
        </p:txBody>
      </p:sp>
      <p:sp>
        <p:nvSpPr>
          <p:cNvPr id="1059593717" name="TextBox 5"/>
          <p:cNvSpPr txBox="1"/>
          <p:nvPr/>
        </p:nvSpPr>
        <p:spPr bwMode="auto">
          <a:xfrm>
            <a:off x="6238875" y="2428875"/>
            <a:ext cx="565070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1E293B"/>
                </a:solidFill>
                <a:latin typeface="Plus Jakarta Sans SemiBold"/>
              </a:rPr>
              <a:t>Nedir ve Neler Dikkat Edilmeli?</a:t>
            </a:r>
            <a:endParaRPr/>
          </a:p>
        </p:txBody>
      </p:sp>
      <p:sp>
        <p:nvSpPr>
          <p:cNvPr id="1832797283" name="TextBox 6"/>
          <p:cNvSpPr txBox="1"/>
          <p:nvPr/>
        </p:nvSpPr>
        <p:spPr bwMode="auto">
          <a:xfrm>
            <a:off x="6238875" y="2790824"/>
            <a:ext cx="5381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Tanım: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Kendi başına bağımsız çalışan birden fazla karmaşık sistemin, daha büyük ve benzersiz bir amacı gerçekleştirmek üzere bir araya gelmesiyle oluşan yapıdır. (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Örn: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Akıllı Şehirler, Ağ Merkezli Savunma Sistemleri).</a:t>
            </a:r>
            <a:endParaRPr/>
          </a:p>
        </p:txBody>
      </p:sp>
      <p:sp>
        <p:nvSpPr>
          <p:cNvPr id="1602577446" name="TextBox 7"/>
          <p:cNvSpPr txBox="1"/>
          <p:nvPr/>
        </p:nvSpPr>
        <p:spPr bwMode="auto">
          <a:xfrm>
            <a:off x="6238875" y="3590925"/>
            <a:ext cx="5381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Geliştirirken Dikkat Edilecek Hususlar:</a:t>
            </a:r>
            <a:endParaRPr/>
          </a:p>
        </p:txBody>
      </p:sp>
      <p:sp>
        <p:nvSpPr>
          <p:cNvPr id="1125229220" name="TextBox 8"/>
          <p:cNvSpPr txBox="1"/>
          <p:nvPr/>
        </p:nvSpPr>
        <p:spPr bwMode="auto">
          <a:xfrm>
            <a:off x="6343650" y="3933824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691972944" name="TextBox 9"/>
          <p:cNvSpPr txBox="1"/>
          <p:nvPr/>
        </p:nvSpPr>
        <p:spPr bwMode="auto">
          <a:xfrm>
            <a:off x="6429375" y="3933824"/>
            <a:ext cx="51911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Bağımsız Operasyon: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Alt sistemler ana sistemden bağımsız da çalışabilmelidir.</a:t>
            </a:r>
            <a:endParaRPr/>
          </a:p>
        </p:txBody>
      </p:sp>
      <p:sp>
        <p:nvSpPr>
          <p:cNvPr id="712021412" name="TextBox 10"/>
          <p:cNvSpPr txBox="1"/>
          <p:nvPr/>
        </p:nvSpPr>
        <p:spPr bwMode="auto">
          <a:xfrm>
            <a:off x="6343650" y="439102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823282056" name="TextBox 11"/>
          <p:cNvSpPr txBox="1"/>
          <p:nvPr/>
        </p:nvSpPr>
        <p:spPr bwMode="auto">
          <a:xfrm>
            <a:off x="6429375" y="4391025"/>
            <a:ext cx="51911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Birlikte Çalışabilirlik (Interoperability):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Ortak protokoller ve standart arayüzler şarttır.</a:t>
            </a:r>
            <a:endParaRPr/>
          </a:p>
        </p:txBody>
      </p:sp>
      <p:sp>
        <p:nvSpPr>
          <p:cNvPr id="573043269" name="TextBox 12"/>
          <p:cNvSpPr txBox="1"/>
          <p:nvPr/>
        </p:nvSpPr>
        <p:spPr bwMode="auto">
          <a:xfrm>
            <a:off x="6343650" y="484822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751707949" name="TextBox 13"/>
          <p:cNvSpPr txBox="1"/>
          <p:nvPr/>
        </p:nvSpPr>
        <p:spPr bwMode="auto">
          <a:xfrm>
            <a:off x="6429375" y="4848225"/>
            <a:ext cx="51911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Evrimsel Gelişim: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Yapı sürekli değişir; esnek mimari tasarlanmalıdır.</a:t>
            </a:r>
            <a:endParaRPr/>
          </a:p>
        </p:txBody>
      </p:sp>
      <p:sp>
        <p:nvSpPr>
          <p:cNvPr id="1192624140" name="TextBox 14"/>
          <p:cNvSpPr txBox="1"/>
          <p:nvPr/>
        </p:nvSpPr>
        <p:spPr bwMode="auto"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Sistemler Sistemi (SoS)</a:t>
            </a:r>
            <a:endParaRPr/>
          </a:p>
        </p:txBody>
      </p:sp>
      <p:sp>
        <p:nvSpPr>
          <p:cNvPr id="997251845" name="Rounded Rectangle 15"/>
          <p:cNvSpPr/>
          <p:nvPr/>
        </p:nvSpPr>
        <p:spPr bwMode="auto">
          <a:xfrm>
            <a:off x="476249" y="55244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1737508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760178" y="93481"/>
            <a:ext cx="3348036" cy="944741"/>
          </a:xfrm>
          <a:prstGeom prst="rect">
            <a:avLst/>
          </a:prstGeom>
        </p:spPr>
      </p:pic>
      <p:pic>
        <p:nvPicPr>
          <p:cNvPr id="71898913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85800" y="2376487"/>
            <a:ext cx="4858724" cy="2975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96043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97946759" name="TextBox 2"/>
          <p:cNvSpPr txBox="1"/>
          <p:nvPr/>
        </p:nvSpPr>
        <p:spPr bwMode="auto">
          <a:xfrm>
            <a:off x="571500" y="476250"/>
            <a:ext cx="56007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Sistem Ömür Yaşam Döngüsü</a:t>
            </a:r>
            <a:endParaRPr/>
          </a:p>
        </p:txBody>
      </p:sp>
      <p:sp>
        <p:nvSpPr>
          <p:cNvPr id="973049413" name="Rounded Rectangle 4"/>
          <p:cNvSpPr/>
          <p:nvPr/>
        </p:nvSpPr>
        <p:spPr bwMode="auto">
          <a:xfrm>
            <a:off x="476249" y="55244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5010155" name="TextBox 6"/>
          <p:cNvSpPr txBox="1"/>
          <p:nvPr/>
        </p:nvSpPr>
        <p:spPr bwMode="auto">
          <a:xfrm>
            <a:off x="571500" y="2576511"/>
            <a:ext cx="5340479" cy="428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475569"/>
                </a:solidFill>
                <a:latin typeface="Inter"/>
              </a:rPr>
              <a:t>1. Planning (Planlama):</a:t>
            </a:r>
            <a:r>
              <a:rPr sz="1150" b="0" i="0" u="none">
                <a:solidFill>
                  <a:srgbClr val="475569"/>
                </a:solidFill>
                <a:latin typeface="Inter"/>
              </a:rPr>
              <a:t> İhtiyaçların belirlenmesi, fizibilite çalışmaları ve konsept mimarinin oluşturulması.</a:t>
            </a:r>
            <a:endParaRPr/>
          </a:p>
        </p:txBody>
      </p:sp>
      <p:sp>
        <p:nvSpPr>
          <p:cNvPr id="364091700" name="TextBox 7"/>
          <p:cNvSpPr txBox="1"/>
          <p:nvPr/>
        </p:nvSpPr>
        <p:spPr bwMode="auto">
          <a:xfrm>
            <a:off x="571500" y="3119436"/>
            <a:ext cx="5373599" cy="428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475569"/>
                </a:solidFill>
                <a:latin typeface="Inter"/>
              </a:rPr>
              <a:t>2. Analysis (Analiz):</a:t>
            </a:r>
            <a:r>
              <a:rPr sz="1150" b="0" i="0" u="none">
                <a:solidFill>
                  <a:srgbClr val="475569"/>
                </a:solidFill>
                <a:latin typeface="Inter"/>
              </a:rPr>
              <a:t> Kullanıcı ve sistem ihtiyaçları (gereksinimleri) detaylıca toplanır</a:t>
            </a:r>
            <a:endParaRPr/>
          </a:p>
        </p:txBody>
      </p:sp>
      <p:sp>
        <p:nvSpPr>
          <p:cNvPr id="75347586" name="TextBox 8"/>
          <p:cNvSpPr txBox="1"/>
          <p:nvPr/>
        </p:nvSpPr>
        <p:spPr bwMode="auto">
          <a:xfrm>
            <a:off x="571500" y="3662360"/>
            <a:ext cx="5372879" cy="428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475569"/>
                </a:solidFill>
                <a:latin typeface="Inter"/>
              </a:rPr>
              <a:t>3. Design (Tasarım):</a:t>
            </a:r>
            <a:r>
              <a:rPr sz="1150" b="0" i="0" u="none">
                <a:solidFill>
                  <a:srgbClr val="475569"/>
                </a:solidFill>
                <a:latin typeface="Inter"/>
              </a:rPr>
              <a:t> Sistem mimarisi, veritabanı yapısı ve ekran/arayüz tasarımları hazırlanır.</a:t>
            </a:r>
            <a:endParaRPr sz="11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4115622" name="TextBox 9"/>
          <p:cNvSpPr txBox="1"/>
          <p:nvPr/>
        </p:nvSpPr>
        <p:spPr bwMode="auto">
          <a:xfrm>
            <a:off x="571500" y="4205286"/>
            <a:ext cx="5372519" cy="428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475569"/>
                </a:solidFill>
                <a:latin typeface="Inter"/>
              </a:rPr>
              <a:t>4. Implementation (Ugulama/Kodlama):</a:t>
            </a:r>
            <a:r>
              <a:rPr sz="1150" b="0" i="0" u="none">
                <a:solidFill>
                  <a:srgbClr val="475569"/>
                </a:solidFill>
                <a:latin typeface="Inter"/>
              </a:rPr>
              <a:t> Tasarıma uygun olarak kodlar yazılır,bileşenler üretir. </a:t>
            </a:r>
            <a:endParaRPr/>
          </a:p>
        </p:txBody>
      </p:sp>
      <p:sp>
        <p:nvSpPr>
          <p:cNvPr id="503364241" name="TextBox 10"/>
          <p:cNvSpPr txBox="1"/>
          <p:nvPr/>
        </p:nvSpPr>
        <p:spPr bwMode="auto">
          <a:xfrm>
            <a:off x="571500" y="4748211"/>
            <a:ext cx="5390879" cy="428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475569"/>
                </a:solidFill>
                <a:latin typeface="Inter"/>
              </a:rPr>
              <a:t>5. Testing &amp; Integration (Test ve Entegrasyon):</a:t>
            </a:r>
            <a:r>
              <a:rPr sz="1150" b="0" i="0" u="none">
                <a:solidFill>
                  <a:srgbClr val="475569"/>
                </a:solidFill>
                <a:latin typeface="Inter"/>
              </a:rPr>
              <a:t> Yazılan parçalar birleştirir, hatalar (bug) bulunup düzeltilir.</a:t>
            </a:r>
            <a:endParaRPr/>
          </a:p>
        </p:txBody>
      </p:sp>
      <p:pic>
        <p:nvPicPr>
          <p:cNvPr id="10096617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760178" y="80078"/>
            <a:ext cx="3348036" cy="944741"/>
          </a:xfrm>
          <a:prstGeom prst="rect">
            <a:avLst/>
          </a:prstGeom>
        </p:spPr>
      </p:pic>
      <p:pic>
        <p:nvPicPr>
          <p:cNvPr id="50075540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381874" y="1752599"/>
            <a:ext cx="4158410" cy="4124324"/>
          </a:xfrm>
          <a:prstGeom prst="rect">
            <a:avLst/>
          </a:prstGeom>
        </p:spPr>
      </p:pic>
      <p:sp>
        <p:nvSpPr>
          <p:cNvPr id="1317065236" name="TextBox 10"/>
          <p:cNvSpPr txBox="1"/>
          <p:nvPr/>
        </p:nvSpPr>
        <p:spPr bwMode="auto">
          <a:xfrm>
            <a:off x="571500" y="5348286"/>
            <a:ext cx="5371079" cy="428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1" i="0" u="none">
                <a:solidFill>
                  <a:srgbClr val="475569"/>
                </a:solidFill>
                <a:latin typeface="Inter"/>
              </a:rPr>
              <a:t>6. Maintenance (Bakım):</a:t>
            </a:r>
            <a:r>
              <a:rPr sz="1150" b="0" i="0" u="none">
                <a:solidFill>
                  <a:srgbClr val="475569"/>
                </a:solidFill>
                <a:latin typeface="Inter"/>
              </a:rPr>
              <a:t> Sistem canlıya alındıktan sonra çıkan hatalar çözülür , güncellemeler yapılır.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4044553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55598776" name="Picture 2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2381250"/>
            <a:ext cx="5381625" cy="2743200"/>
          </a:xfrm>
          <a:prstGeom prst="rect">
            <a:avLst/>
          </a:prstGeom>
        </p:spPr>
      </p:pic>
      <p:sp>
        <p:nvSpPr>
          <p:cNvPr id="2096490229" name="TextBox 4"/>
          <p:cNvSpPr txBox="1"/>
          <p:nvPr/>
        </p:nvSpPr>
        <p:spPr bwMode="auto">
          <a:xfrm>
            <a:off x="1162050" y="2657475"/>
            <a:ext cx="474059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Şelale (Waterfall) Modeli</a:t>
            </a:r>
            <a:endParaRPr/>
          </a:p>
        </p:txBody>
      </p:sp>
      <p:sp>
        <p:nvSpPr>
          <p:cNvPr id="1870314668" name="TextBox 5"/>
          <p:cNvSpPr txBox="1"/>
          <p:nvPr/>
        </p:nvSpPr>
        <p:spPr bwMode="auto">
          <a:xfrm>
            <a:off x="847725" y="3019425"/>
            <a:ext cx="4829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Açıklama: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Doğrusal ve ardışık ilerleyen geleneksel modeldir. Bir faz tamamlanmadan diğerine geçilmez.</a:t>
            </a:r>
            <a:endParaRPr/>
          </a:p>
        </p:txBody>
      </p:sp>
      <p:sp>
        <p:nvSpPr>
          <p:cNvPr id="1935662831" name="TextBox 6"/>
          <p:cNvSpPr txBox="1"/>
          <p:nvPr/>
        </p:nvSpPr>
        <p:spPr bwMode="auto">
          <a:xfrm>
            <a:off x="847725" y="3590925"/>
            <a:ext cx="48291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Avantajı: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Yapısı net, dokümantasyonu güçlü ve yönetimi kolaydır.</a:t>
            </a:r>
            <a:endParaRPr/>
          </a:p>
        </p:txBody>
      </p:sp>
      <p:sp>
        <p:nvSpPr>
          <p:cNvPr id="685407666" name="TextBox 7"/>
          <p:cNvSpPr txBox="1"/>
          <p:nvPr/>
        </p:nvSpPr>
        <p:spPr bwMode="auto">
          <a:xfrm>
            <a:off x="847725" y="3933824"/>
            <a:ext cx="4829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Dezavantajı: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Değişikliklere karşı esnek değildir; testler en sonda yapıldığı için risk yüksektir.</a:t>
            </a:r>
            <a:endParaRPr/>
          </a:p>
        </p:txBody>
      </p:sp>
      <p:sp>
        <p:nvSpPr>
          <p:cNvPr id="1628254356" name="TextBox 8"/>
          <p:cNvSpPr txBox="1"/>
          <p:nvPr/>
        </p:nvSpPr>
        <p:spPr bwMode="auto">
          <a:xfrm>
            <a:off x="847725" y="4505325"/>
            <a:ext cx="48291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0" i="1" u="none">
                <a:solidFill>
                  <a:srgbClr val="475569"/>
                </a:solidFill>
                <a:latin typeface="Inter"/>
              </a:rPr>
              <a:t>Örnek: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Gereksinimleri kesinleşmiş küçük ölçekli donanım imalatları.</a:t>
            </a:r>
            <a:endParaRPr/>
          </a:p>
        </p:txBody>
      </p:sp>
      <p:pic>
        <p:nvPicPr>
          <p:cNvPr id="986269210" name="Picture 14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47725" y="2695575"/>
            <a:ext cx="219074" cy="190500"/>
          </a:xfrm>
          <a:prstGeom prst="rect">
            <a:avLst/>
          </a:prstGeom>
        </p:spPr>
      </p:pic>
      <p:sp>
        <p:nvSpPr>
          <p:cNvPr id="706531124" name="TextBox 16"/>
          <p:cNvSpPr txBox="1"/>
          <p:nvPr/>
        </p:nvSpPr>
        <p:spPr bwMode="auto"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Geliştirme Modelleri</a:t>
            </a:r>
            <a:endParaRPr/>
          </a:p>
        </p:txBody>
      </p:sp>
      <p:sp>
        <p:nvSpPr>
          <p:cNvPr id="1457843089" name="Rounded Rectangle 17"/>
          <p:cNvSpPr/>
          <p:nvPr/>
        </p:nvSpPr>
        <p:spPr bwMode="auto">
          <a:xfrm>
            <a:off x="476249" y="55244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7032800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  <p:pic>
        <p:nvPicPr>
          <p:cNvPr id="891048918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7705724" y="1960891"/>
            <a:ext cx="3553799" cy="3583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366905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04424386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  <p:sp>
        <p:nvSpPr>
          <p:cNvPr id="1797520726" name="TextBox 16"/>
          <p:cNvSpPr txBox="1"/>
          <p:nvPr/>
        </p:nvSpPr>
        <p:spPr bwMode="auto">
          <a:xfrm>
            <a:off x="590189" y="552448"/>
            <a:ext cx="11601809" cy="38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Geliştirme Modelleri</a:t>
            </a:r>
            <a:endParaRPr/>
          </a:p>
        </p:txBody>
      </p:sp>
      <p:sp>
        <p:nvSpPr>
          <p:cNvPr id="1905483168" name="Rounded Rectangle 17"/>
          <p:cNvSpPr/>
          <p:nvPr/>
        </p:nvSpPr>
        <p:spPr bwMode="auto">
          <a:xfrm>
            <a:off x="476249" y="552448"/>
            <a:ext cx="76199" cy="304799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93045463" name="Picture 3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76249" y="2351128"/>
            <a:ext cx="5381624" cy="2743200"/>
          </a:xfrm>
          <a:prstGeom prst="rect">
            <a:avLst/>
          </a:prstGeom>
        </p:spPr>
      </p:pic>
      <p:sp>
        <p:nvSpPr>
          <p:cNvPr id="484353625" name="TextBox 9"/>
          <p:cNvSpPr txBox="1"/>
          <p:nvPr/>
        </p:nvSpPr>
        <p:spPr bwMode="auto">
          <a:xfrm>
            <a:off x="1038224" y="2635331"/>
            <a:ext cx="4771674" cy="2518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Spiral (Sarmal) Model</a:t>
            </a:r>
            <a:endParaRPr/>
          </a:p>
        </p:txBody>
      </p:sp>
      <p:sp>
        <p:nvSpPr>
          <p:cNvPr id="1305743120" name="TextBox 10"/>
          <p:cNvSpPr txBox="1"/>
          <p:nvPr/>
        </p:nvSpPr>
        <p:spPr bwMode="auto">
          <a:xfrm>
            <a:off x="752474" y="2989303"/>
            <a:ext cx="483025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Açıklama: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Risk analizini merkeze alan, yinelemeli (iterative) bir geliştirme modelidir. Her sarmal bir risk değerlendirmesi ile başlar.</a:t>
            </a:r>
            <a:endParaRPr/>
          </a:p>
        </p:txBody>
      </p:sp>
      <p:sp>
        <p:nvSpPr>
          <p:cNvPr id="1869467546" name="TextBox 11"/>
          <p:cNvSpPr txBox="1"/>
          <p:nvPr/>
        </p:nvSpPr>
        <p:spPr bwMode="auto">
          <a:xfrm>
            <a:off x="752474" y="3560803"/>
            <a:ext cx="4830254" cy="22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Avantajı: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Yüksek riskli projelerde erken müdahale imkanı sunar.</a:t>
            </a:r>
            <a:endParaRPr/>
          </a:p>
        </p:txBody>
      </p:sp>
      <p:sp>
        <p:nvSpPr>
          <p:cNvPr id="36120381" name="TextBox 12"/>
          <p:cNvSpPr txBox="1"/>
          <p:nvPr/>
        </p:nvSpPr>
        <p:spPr bwMode="auto">
          <a:xfrm>
            <a:off x="752474" y="3903702"/>
            <a:ext cx="483025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Dezavantajı: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Karmaşıktır, maliyetli olabilir ve uzman risk analisti gerektirir.</a:t>
            </a:r>
            <a:endParaRPr/>
          </a:p>
        </p:txBody>
      </p:sp>
      <p:sp>
        <p:nvSpPr>
          <p:cNvPr id="68045128" name="TextBox 13"/>
          <p:cNvSpPr txBox="1"/>
          <p:nvPr/>
        </p:nvSpPr>
        <p:spPr bwMode="auto">
          <a:xfrm>
            <a:off x="752474" y="4475203"/>
            <a:ext cx="4830254" cy="22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0" i="1" u="none">
                <a:solidFill>
                  <a:srgbClr val="475569"/>
                </a:solidFill>
                <a:latin typeface="Inter"/>
              </a:rPr>
              <a:t>Örnek: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Karmaşık ve yüksek bütçeli savunma yazılım projeleri.</a:t>
            </a:r>
            <a:endParaRPr/>
          </a:p>
        </p:txBody>
      </p:sp>
      <p:pic>
        <p:nvPicPr>
          <p:cNvPr id="937405762" name="Picture 15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52474" y="2665453"/>
            <a:ext cx="190499" cy="190499"/>
          </a:xfrm>
          <a:prstGeom prst="rect">
            <a:avLst/>
          </a:prstGeom>
        </p:spPr>
      </p:pic>
      <p:pic>
        <p:nvPicPr>
          <p:cNvPr id="1425934364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7038974" y="1701837"/>
            <a:ext cx="4801574" cy="4403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743454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9420234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  <p:sp>
        <p:nvSpPr>
          <p:cNvPr id="1705239184" name="TextBox 16"/>
          <p:cNvSpPr txBox="1"/>
          <p:nvPr/>
        </p:nvSpPr>
        <p:spPr bwMode="auto">
          <a:xfrm>
            <a:off x="590189" y="486906"/>
            <a:ext cx="11602169" cy="38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Geliştirme Modelleri</a:t>
            </a:r>
            <a:endParaRPr/>
          </a:p>
        </p:txBody>
      </p:sp>
      <p:sp>
        <p:nvSpPr>
          <p:cNvPr id="2006681549" name="Rounded Rectangle 17"/>
          <p:cNvSpPr/>
          <p:nvPr/>
        </p:nvSpPr>
        <p:spPr bwMode="auto">
          <a:xfrm>
            <a:off x="494939" y="552448"/>
            <a:ext cx="76199" cy="304799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44921374" name="Picture 3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94939" y="2351127"/>
            <a:ext cx="5381624" cy="3668671"/>
          </a:xfrm>
          <a:prstGeom prst="rect">
            <a:avLst/>
          </a:prstGeom>
        </p:spPr>
      </p:pic>
      <p:sp>
        <p:nvSpPr>
          <p:cNvPr id="1448973232" name=""/>
          <p:cNvSpPr txBox="1"/>
          <p:nvPr/>
        </p:nvSpPr>
        <p:spPr bwMode="auto">
          <a:xfrm rot="0" flipH="0" flipV="0">
            <a:off x="660726" y="2493644"/>
            <a:ext cx="239365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0369A1"/>
                </a:solidFill>
                <a:latin typeface="Plus Jakarta Sans SemiBold"/>
              </a:rPr>
              <a:t>V Model</a:t>
            </a:r>
            <a:endParaRPr/>
          </a:p>
        </p:txBody>
      </p:sp>
      <p:pic>
        <p:nvPicPr>
          <p:cNvPr id="182464394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981824" y="1990766"/>
            <a:ext cx="4896824" cy="4029032"/>
          </a:xfrm>
          <a:prstGeom prst="rect">
            <a:avLst/>
          </a:prstGeom>
        </p:spPr>
      </p:pic>
      <p:sp>
        <p:nvSpPr>
          <p:cNvPr id="534447094" name="TextBox 10"/>
          <p:cNvSpPr txBox="1"/>
          <p:nvPr/>
        </p:nvSpPr>
        <p:spPr bwMode="auto">
          <a:xfrm>
            <a:off x="752474" y="2989302"/>
            <a:ext cx="4878852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Çift Yönlü Yaklaşım: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Geliştirme (SDLC) ve Test (STLC) süreçlerinin paralel yürütüldüğü disiplinli bir modeldir.</a:t>
            </a:r>
            <a:endParaRPr/>
          </a:p>
        </p:txBody>
      </p:sp>
      <p:sp>
        <p:nvSpPr>
          <p:cNvPr id="515728181" name="TextBox 10"/>
          <p:cNvSpPr txBox="1"/>
          <p:nvPr/>
        </p:nvSpPr>
        <p:spPr bwMode="auto">
          <a:xfrm>
            <a:off x="752474" y="3823333"/>
            <a:ext cx="4944372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Erken Test Planlaması: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Test adımları projenin sonunda değil, sol bacaktaki tasarım adımları yürütülürken planlanır. </a:t>
            </a:r>
            <a:endParaRPr/>
          </a:p>
        </p:txBody>
      </p:sp>
      <p:sp>
        <p:nvSpPr>
          <p:cNvPr id="1875531035" name="TextBox 10"/>
          <p:cNvSpPr txBox="1"/>
          <p:nvPr/>
        </p:nvSpPr>
        <p:spPr bwMode="auto">
          <a:xfrm>
            <a:off x="752473" y="4597238"/>
            <a:ext cx="5004490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Disiplin ve Doğrulama: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Her bir tasarım aşamasının sağ bacakta birebir karşılığı olan bir test aşamasıdır.</a:t>
            </a:r>
            <a:endParaRPr/>
          </a:p>
        </p:txBody>
      </p:sp>
      <p:sp>
        <p:nvSpPr>
          <p:cNvPr id="351251443" name="TextBox 10"/>
          <p:cNvSpPr txBox="1"/>
          <p:nvPr/>
        </p:nvSpPr>
        <p:spPr bwMode="auto">
          <a:xfrm>
            <a:off x="752474" y="5297326"/>
            <a:ext cx="5086930" cy="68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Örnek: 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Uçuş esnasında oluşabilecek tek bir yazılım hatası cihazın düşmesine yol açacağı için, riski sıfıra indirmek ve her bileşeni ayrı ayrı doğrulayarak yukarı çıkmak kritk önem taşır.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6870553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673" y="-15611"/>
            <a:ext cx="12192000" cy="6858000"/>
          </a:xfrm>
          <a:prstGeom prst="rect">
            <a:avLst/>
          </a:prstGeom>
        </p:spPr>
      </p:pic>
      <p:sp>
        <p:nvSpPr>
          <p:cNvPr id="1583345603" name="TextBox 8"/>
          <p:cNvSpPr txBox="1"/>
          <p:nvPr/>
        </p:nvSpPr>
        <p:spPr bwMode="auto"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Detaylı İnceleme: V-Modeli</a:t>
            </a:r>
            <a:endParaRPr/>
          </a:p>
        </p:txBody>
      </p:sp>
      <p:sp>
        <p:nvSpPr>
          <p:cNvPr id="861155819" name="Rounded Rectangle 9"/>
          <p:cNvSpPr/>
          <p:nvPr/>
        </p:nvSpPr>
        <p:spPr bwMode="auto">
          <a:xfrm>
            <a:off x="476249" y="552449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129706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  <p:pic>
        <p:nvPicPr>
          <p:cNvPr id="171578207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401603" y="3367148"/>
            <a:ext cx="3831783" cy="3152733"/>
          </a:xfrm>
          <a:prstGeom prst="rect">
            <a:avLst/>
          </a:prstGeom>
        </p:spPr>
      </p:pic>
      <p:cxnSp>
        <p:nvCxnSpPr>
          <p:cNvPr id="1759842851" name="Line 1869727349"/>
          <p:cNvCxnSpPr/>
          <p:nvPr/>
        </p:nvCxnSpPr>
        <p:spPr bwMode="auto">
          <a:xfrm rot="0" flipH="1" flipV="1">
            <a:off x="4039574" y="4862532"/>
            <a:ext cx="773945" cy="952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pic>
        <p:nvPicPr>
          <p:cNvPr id="467198472" name="Picture 3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11114" y="2619374"/>
            <a:ext cx="3704140" cy="3971210"/>
          </a:xfrm>
          <a:prstGeom prst="rect">
            <a:avLst/>
          </a:prstGeom>
        </p:spPr>
      </p:pic>
      <p:cxnSp>
        <p:nvCxnSpPr>
          <p:cNvPr id="1922611625" name="Line 1869727349"/>
          <p:cNvCxnSpPr/>
          <p:nvPr/>
        </p:nvCxnSpPr>
        <p:spPr bwMode="auto">
          <a:xfrm rot="0" flipH="0" flipV="1">
            <a:off x="7667859" y="4881582"/>
            <a:ext cx="86751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pic>
        <p:nvPicPr>
          <p:cNvPr id="1003874013" name="Picture 3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8687774" y="2571749"/>
            <a:ext cx="3420441" cy="4090293"/>
          </a:xfrm>
          <a:prstGeom prst="rect">
            <a:avLst/>
          </a:prstGeom>
        </p:spPr>
      </p:pic>
      <p:pic>
        <p:nvPicPr>
          <p:cNvPr id="1921896193" name="Picture 3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83277" y="1331179"/>
            <a:ext cx="3468435" cy="1650252"/>
          </a:xfrm>
          <a:prstGeom prst="rect">
            <a:avLst/>
          </a:prstGeom>
        </p:spPr>
      </p:pic>
      <p:cxnSp>
        <p:nvCxnSpPr>
          <p:cNvPr id="721594043" name="Line 1869727349"/>
          <p:cNvCxnSpPr/>
          <p:nvPr/>
        </p:nvCxnSpPr>
        <p:spPr bwMode="auto">
          <a:xfrm rot="0" flipH="0" flipV="1">
            <a:off x="6256479" y="2905017"/>
            <a:ext cx="0" cy="52398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710543611" name=""/>
          <p:cNvSpPr txBox="1"/>
          <p:nvPr/>
        </p:nvSpPr>
        <p:spPr bwMode="auto">
          <a:xfrm rot="0" flipH="0" flipV="0">
            <a:off x="476249" y="2813611"/>
            <a:ext cx="305957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600" b="0" i="0" u="none">
                <a:solidFill>
                  <a:srgbClr val="0369A1"/>
                </a:solidFill>
                <a:latin typeface="Plus Jakarta Sans SemiBold"/>
              </a:rPr>
              <a:t>Sol Bacak (Geliştirme/SDLC)</a:t>
            </a:r>
            <a:endParaRPr sz="1600"/>
          </a:p>
        </p:txBody>
      </p:sp>
      <p:sp>
        <p:nvSpPr>
          <p:cNvPr id="709716992" name=""/>
          <p:cNvSpPr txBox="1"/>
          <p:nvPr/>
        </p:nvSpPr>
        <p:spPr bwMode="auto">
          <a:xfrm rot="0" flipH="0" flipV="0">
            <a:off x="8904226" y="2737196"/>
            <a:ext cx="3063538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600" b="0" i="0" u="none">
                <a:solidFill>
                  <a:srgbClr val="0369A1"/>
                </a:solidFill>
                <a:latin typeface="Plus Jakarta Sans SemiBold"/>
              </a:rPr>
              <a:t>Sağ Bacak (Test/STLC)</a:t>
            </a:r>
            <a:endParaRPr sz="1600"/>
          </a:p>
        </p:txBody>
      </p:sp>
      <p:sp>
        <p:nvSpPr>
          <p:cNvPr id="1825648538" name=""/>
          <p:cNvSpPr txBox="1"/>
          <p:nvPr/>
        </p:nvSpPr>
        <p:spPr bwMode="auto">
          <a:xfrm rot="0" flipH="0" flipV="0">
            <a:off x="4900273" y="1519642"/>
            <a:ext cx="3067137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600" b="0" i="0" u="none">
                <a:solidFill>
                  <a:srgbClr val="0369A1"/>
                </a:solidFill>
                <a:latin typeface="Plus Jakarta Sans SemiBold"/>
              </a:rPr>
              <a:t>Orta </a:t>
            </a:r>
            <a:endParaRPr sz="1600"/>
          </a:p>
        </p:txBody>
      </p:sp>
      <p:sp>
        <p:nvSpPr>
          <p:cNvPr id="29156270" name="TextBox 10"/>
          <p:cNvSpPr txBox="1"/>
          <p:nvPr/>
        </p:nvSpPr>
        <p:spPr bwMode="auto">
          <a:xfrm flipH="0" flipV="0">
            <a:off x="514349" y="3224988"/>
            <a:ext cx="321328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3" indent="-217793" algn="l">
              <a:lnSpc>
                <a:spcPts val="1799"/>
              </a:lnSpc>
              <a:buFont typeface="Arial"/>
              <a:buChar char="•"/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Genel sistemin ihtiyaçlarından başlayıp detaylı kodlamaya doğru gider. </a:t>
            </a:r>
            <a:endParaRPr/>
          </a:p>
        </p:txBody>
      </p:sp>
      <p:sp>
        <p:nvSpPr>
          <p:cNvPr id="1705942522" name="TextBox 10"/>
          <p:cNvSpPr txBox="1"/>
          <p:nvPr/>
        </p:nvSpPr>
        <p:spPr bwMode="auto">
          <a:xfrm flipH="0" flipV="0">
            <a:off x="514349" y="3764639"/>
            <a:ext cx="337354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İhtiyaç Analizi 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Müşterinin veya sistemin neye ihtiyacı olduğu belirlenir.</a:t>
            </a:r>
            <a:endParaRPr/>
          </a:p>
        </p:txBody>
      </p:sp>
      <p:sp>
        <p:nvSpPr>
          <p:cNvPr id="1412703524" name="TextBox 10"/>
          <p:cNvSpPr txBox="1"/>
          <p:nvPr/>
        </p:nvSpPr>
        <p:spPr bwMode="auto">
          <a:xfrm flipH="0" flipV="0">
            <a:off x="514350" y="4309525"/>
            <a:ext cx="340090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Fonksiyonel Tarif 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Sistemin hangi işlevleri yapacağı tanımlanır.</a:t>
            </a:r>
            <a:endParaRPr/>
          </a:p>
        </p:txBody>
      </p:sp>
      <p:sp>
        <p:nvSpPr>
          <p:cNvPr id="1262396852" name="TextBox 10"/>
          <p:cNvSpPr txBox="1"/>
          <p:nvPr/>
        </p:nvSpPr>
        <p:spPr bwMode="auto">
          <a:xfrm flipH="0" flipV="0">
            <a:off x="476249" y="4867295"/>
            <a:ext cx="343366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Üst Seviye Tasarım: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Sistem mimarisi ve modüller arası ilişkiler çizilir.</a:t>
            </a:r>
            <a:endParaRPr/>
          </a:p>
        </p:txBody>
      </p:sp>
      <p:sp>
        <p:nvSpPr>
          <p:cNvPr id="1853847709" name="TextBox 10"/>
          <p:cNvSpPr txBox="1"/>
          <p:nvPr/>
        </p:nvSpPr>
        <p:spPr bwMode="auto">
          <a:xfrm flipH="0" flipV="0">
            <a:off x="476249" y="5423948"/>
            <a:ext cx="345850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Detaylı Tasarım: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 Modüller içindeki algoritmalar, sürücüler ve veri yapıları detaylandırır.</a:t>
            </a:r>
            <a:endParaRPr/>
          </a:p>
        </p:txBody>
      </p:sp>
      <p:sp>
        <p:nvSpPr>
          <p:cNvPr id="674979459" name="TextBox 10"/>
          <p:cNvSpPr txBox="1"/>
          <p:nvPr/>
        </p:nvSpPr>
        <p:spPr bwMode="auto">
          <a:xfrm flipH="0" flipV="0">
            <a:off x="476249" y="5928774"/>
            <a:ext cx="343150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Kod 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Tasarlanan yapının somut olarak yazıldığı/üretildiği aşamadır.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434347239" name="TextBox 10"/>
          <p:cNvSpPr txBox="1"/>
          <p:nvPr/>
        </p:nvSpPr>
        <p:spPr bwMode="auto">
          <a:xfrm flipH="0" flipV="0">
            <a:off x="8734311" y="3072837"/>
            <a:ext cx="324676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Test ve doğrulama (bütünleştirme) sürecidir.</a:t>
            </a:r>
            <a:endParaRPr/>
          </a:p>
        </p:txBody>
      </p:sp>
      <p:sp>
        <p:nvSpPr>
          <p:cNvPr id="853395881" name="TextBox 10"/>
          <p:cNvSpPr txBox="1"/>
          <p:nvPr/>
        </p:nvSpPr>
        <p:spPr bwMode="auto">
          <a:xfrm flipH="0" flipV="0">
            <a:off x="8734311" y="3607297"/>
            <a:ext cx="341566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Unit Testi 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Yazılan en küçük kod parçasının veya sürücünün doğru çalışıp çalışmadığı test edilir.</a:t>
            </a:r>
            <a:endParaRPr/>
          </a:p>
        </p:txBody>
      </p:sp>
      <p:sp>
        <p:nvSpPr>
          <p:cNvPr id="386366170" name="TextBox 10"/>
          <p:cNvSpPr txBox="1"/>
          <p:nvPr/>
        </p:nvSpPr>
        <p:spPr bwMode="auto">
          <a:xfrm flipH="0" flipV="0">
            <a:off x="8734311" y="4159336"/>
            <a:ext cx="3474704" cy="68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Entegrasyon Testi 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Birbirine bağlanan modüllerin (örneğin iki ayrı kartın veya yazılım bloğunun) birbiriyle uyumu test edilir.</a:t>
            </a:r>
            <a:endParaRPr/>
          </a:p>
        </p:txBody>
      </p:sp>
      <p:sp>
        <p:nvSpPr>
          <p:cNvPr id="2117725784" name="TextBox 10"/>
          <p:cNvSpPr txBox="1"/>
          <p:nvPr/>
        </p:nvSpPr>
        <p:spPr bwMode="auto">
          <a:xfrm flipH="0" flipV="0">
            <a:off x="8734311" y="4943515"/>
            <a:ext cx="3512144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Sistem Testi 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Tüm sistem bir araya getirilerek bütünüyle doğru çalışıp çalışmadığı test edilir.</a:t>
            </a:r>
            <a:endParaRPr/>
          </a:p>
        </p:txBody>
      </p:sp>
      <p:sp>
        <p:nvSpPr>
          <p:cNvPr id="472614907" name="TextBox 10"/>
          <p:cNvSpPr txBox="1"/>
          <p:nvPr/>
        </p:nvSpPr>
        <p:spPr bwMode="auto">
          <a:xfrm flipH="0" flipV="0">
            <a:off x="8696511" y="5652729"/>
            <a:ext cx="3560384" cy="68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100" b="1" i="0" u="none">
                <a:solidFill>
                  <a:srgbClr val="475569"/>
                </a:solidFill>
                <a:latin typeface="Inter"/>
              </a:rPr>
              <a:t>Kullanıcı Testi :</a:t>
            </a:r>
            <a:r>
              <a:rPr sz="1100" b="1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Sistemin müşterinin/kullanıcının en baştaki ihtiyacını karşılayıp karşılamadığı kontrol edilir.</a:t>
            </a:r>
            <a:endParaRPr/>
          </a:p>
        </p:txBody>
      </p:sp>
      <p:sp>
        <p:nvSpPr>
          <p:cNvPr id="759520746" name="TextBox 10"/>
          <p:cNvSpPr txBox="1"/>
          <p:nvPr/>
        </p:nvSpPr>
        <p:spPr bwMode="auto">
          <a:xfrm flipH="0" flipV="0">
            <a:off x="4725082" y="1933214"/>
            <a:ext cx="3294284" cy="68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7792" indent="-217792" algn="l">
              <a:lnSpc>
                <a:spcPts val="1799"/>
              </a:lnSpc>
              <a:buFont typeface="Arial"/>
              <a:buChar char="•"/>
              <a:defRPr/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Sol bacaktaki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tasarım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aşamaları ile sağ bacaktaki test aşamlarını birbirine bağlayan hizalama mekanizmadır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298211" name="TextBox 2"/>
          <p:cNvSpPr txBox="1"/>
          <p:nvPr/>
        </p:nvSpPr>
        <p:spPr bwMode="auto">
          <a:xfrm flipH="0" flipV="0">
            <a:off x="309562" y="3021081"/>
            <a:ext cx="5337134" cy="114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3879" indent="-283879" algn="l">
              <a:lnSpc>
                <a:spcPts val="1799"/>
              </a:lnSpc>
              <a:buFont typeface="Arial"/>
              <a:buChar char="•"/>
              <a:defRPr/>
            </a:pPr>
            <a:r>
              <a:rPr sz="1800" b="1"/>
              <a:t>MBSE</a:t>
            </a:r>
            <a:r>
              <a:rPr sz="1800"/>
              <a:t>, binlerce sayfalık karmaşık belgeler yerine </a:t>
            </a:r>
            <a:r>
              <a:rPr sz="1800" b="1"/>
              <a:t>sistemin tüm yaşam döngüsünü tek bir dijital ve görsel model üzerinden yönetme</a:t>
            </a:r>
            <a:r>
              <a:rPr sz="1800"/>
              <a:t> yaklaşımıdır. Kalın klasörlerin yerini, </a:t>
            </a:r>
            <a:r>
              <a:rPr sz="1800"/>
              <a:t>tüm disiplinlerin ortak konuştuğu dinamik modeller alır.</a:t>
            </a:r>
            <a:endParaRPr sz="1800"/>
          </a:p>
        </p:txBody>
      </p:sp>
      <p:sp>
        <p:nvSpPr>
          <p:cNvPr id="2142550259" name="TextBox 19"/>
          <p:cNvSpPr txBox="1"/>
          <p:nvPr/>
        </p:nvSpPr>
        <p:spPr bwMode="auto">
          <a:xfrm>
            <a:off x="571500" y="495547"/>
            <a:ext cx="11619449" cy="38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Model Tabanlı Sistem Mühendisliği (MBSE)</a:t>
            </a:r>
            <a:endParaRPr/>
          </a:p>
        </p:txBody>
      </p:sp>
      <p:sp>
        <p:nvSpPr>
          <p:cNvPr id="1127007216" name="Rounded Rectangle 20"/>
          <p:cNvSpPr/>
          <p:nvPr/>
        </p:nvSpPr>
        <p:spPr bwMode="auto">
          <a:xfrm>
            <a:off x="452437" y="528637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08785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  <p:pic>
        <p:nvPicPr>
          <p:cNvPr id="2628322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929312" y="2137273"/>
            <a:ext cx="6071596" cy="2910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602850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-15809" y="0"/>
            <a:ext cx="12191999" cy="6858000"/>
          </a:xfrm>
          <a:prstGeom prst="rect">
            <a:avLst/>
          </a:prstGeom>
        </p:spPr>
      </p:pic>
      <p:pic>
        <p:nvPicPr>
          <p:cNvPr id="12220482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  <p:sp>
        <p:nvSpPr>
          <p:cNvPr id="1192649732" name="TextBox 19"/>
          <p:cNvSpPr txBox="1"/>
          <p:nvPr/>
        </p:nvSpPr>
        <p:spPr bwMode="auto">
          <a:xfrm>
            <a:off x="571500" y="488167"/>
            <a:ext cx="11604689" cy="38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Modelleme Dilleri</a:t>
            </a:r>
            <a:endParaRPr/>
          </a:p>
        </p:txBody>
      </p:sp>
      <p:sp>
        <p:nvSpPr>
          <p:cNvPr id="486658991" name="Rounded Rectangle 20"/>
          <p:cNvSpPr/>
          <p:nvPr/>
        </p:nvSpPr>
        <p:spPr bwMode="auto">
          <a:xfrm>
            <a:off x="452436" y="528636"/>
            <a:ext cx="76199" cy="304799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9310877" name="TextBox 9"/>
          <p:cNvSpPr txBox="1"/>
          <p:nvPr/>
        </p:nvSpPr>
        <p:spPr bwMode="auto">
          <a:xfrm flipH="0" flipV="0">
            <a:off x="345280" y="1107036"/>
            <a:ext cx="5811213" cy="2518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UML (Undefined Modeling Language - Birleşik Modelleme Dili)</a:t>
            </a:r>
            <a:endParaRPr/>
          </a:p>
        </p:txBody>
      </p:sp>
      <p:sp>
        <p:nvSpPr>
          <p:cNvPr id="1168527275" name="TextBox 10"/>
          <p:cNvSpPr txBox="1"/>
          <p:nvPr/>
        </p:nvSpPr>
        <p:spPr bwMode="auto">
          <a:xfrm flipH="0" flipV="0">
            <a:off x="345280" y="1446427"/>
            <a:ext cx="12338939" cy="22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600" b="1" i="0" u="none">
                <a:solidFill>
                  <a:srgbClr val="475569"/>
                </a:solidFill>
                <a:latin typeface="Inter"/>
              </a:rPr>
              <a:t>Aslen yazılım sistemlerini tasarlamak, </a:t>
            </a:r>
            <a:r>
              <a:rPr sz="1600" b="1" i="0" u="none">
                <a:solidFill>
                  <a:srgbClr val="475569"/>
                </a:solidFill>
                <a:latin typeface="Inter"/>
              </a:rPr>
              <a:t>görselleştirmek ve dökümante etmek için geliştirilmiş standart bir modelleme dilidir.</a:t>
            </a:r>
            <a:endParaRPr sz="1600" b="1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57402370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848099" y="2158606"/>
            <a:ext cx="4774649" cy="4432411"/>
          </a:xfrm>
          <a:prstGeom prst="rect">
            <a:avLst/>
          </a:prstGeom>
        </p:spPr>
      </p:pic>
      <p:sp>
        <p:nvSpPr>
          <p:cNvPr id="240076992" name="TextBox 10"/>
          <p:cNvSpPr txBox="1"/>
          <p:nvPr/>
        </p:nvSpPr>
        <p:spPr bwMode="auto">
          <a:xfrm flipH="0" flipV="0">
            <a:off x="295272" y="1827784"/>
            <a:ext cx="12444057" cy="228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600" b="1" i="0" u="none">
                <a:solidFill>
                  <a:srgbClr val="475569"/>
                </a:solidFill>
                <a:latin typeface="Inter"/>
              </a:rPr>
              <a:t>Örnek : </a:t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>Bir füzenin hedef kilitleme yazılımının iç mimarisi ve karar algoritması,koda dökülmeden önce UML ile modellenir.</a:t>
            </a:r>
            <a:endParaRPr sz="160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4231299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-15808" y="-86590"/>
            <a:ext cx="12191999" cy="6858000"/>
          </a:xfrm>
          <a:prstGeom prst="rect">
            <a:avLst/>
          </a:prstGeom>
        </p:spPr>
      </p:pic>
      <p:pic>
        <p:nvPicPr>
          <p:cNvPr id="19435955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  <p:sp>
        <p:nvSpPr>
          <p:cNvPr id="492542122" name="TextBox 19"/>
          <p:cNvSpPr txBox="1"/>
          <p:nvPr/>
        </p:nvSpPr>
        <p:spPr bwMode="auto">
          <a:xfrm>
            <a:off x="571500" y="488346"/>
            <a:ext cx="11605048" cy="38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Modelleme Dilleri</a:t>
            </a:r>
            <a:endParaRPr/>
          </a:p>
        </p:txBody>
      </p:sp>
      <p:sp>
        <p:nvSpPr>
          <p:cNvPr id="1290268878" name="Rounded Rectangle 20"/>
          <p:cNvSpPr/>
          <p:nvPr/>
        </p:nvSpPr>
        <p:spPr bwMode="auto">
          <a:xfrm>
            <a:off x="452436" y="528636"/>
            <a:ext cx="76199" cy="304799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2966827" name="TextBox 9"/>
          <p:cNvSpPr txBox="1"/>
          <p:nvPr/>
        </p:nvSpPr>
        <p:spPr bwMode="auto">
          <a:xfrm flipH="0" flipV="0">
            <a:off x="490536" y="1137621"/>
            <a:ext cx="7978818" cy="2518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SysML (System Modeling Language - Sistem Modelleme Dili)</a:t>
            </a:r>
            <a:endParaRPr/>
          </a:p>
        </p:txBody>
      </p:sp>
      <p:sp>
        <p:nvSpPr>
          <p:cNvPr id="266593822" name="TextBox 10"/>
          <p:cNvSpPr txBox="1"/>
          <p:nvPr/>
        </p:nvSpPr>
        <p:spPr bwMode="auto">
          <a:xfrm flipH="0" flipV="0">
            <a:off x="490536" y="1501374"/>
            <a:ext cx="12407337" cy="457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600" b="1" i="0" u="none">
                <a:solidFill>
                  <a:srgbClr val="475569"/>
                </a:solidFill>
                <a:latin typeface="Inter"/>
              </a:rPr>
              <a:t>UML’nin</a:t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> genişletip adapte edilmiş halidir. Yalnızca yazılım değil; </a:t>
            </a:r>
            <a:r>
              <a:rPr sz="1600" b="1" i="0" u="none">
                <a:solidFill>
                  <a:srgbClr val="475569"/>
                </a:solidFill>
                <a:latin typeface="Inter"/>
              </a:rPr>
              <a:t>yazılım,donanım,mekanik,insan,veri ve süreç içeren </a:t>
            </a:r>
            <a:endParaRPr sz="1600" b="1" i="0" u="none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799"/>
              </a:lnSpc>
              <a:defRPr/>
            </a:pPr>
            <a:r>
              <a:rPr sz="1600" b="1" i="0" u="none">
                <a:solidFill>
                  <a:srgbClr val="475569"/>
                </a:solidFill>
                <a:latin typeface="Inter"/>
              </a:rPr>
              <a:t>karmaşık “tüm sistemi”</a:t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> modellemek için kullanılır.</a:t>
            </a:r>
            <a:endParaRPr sz="1600" b="1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70545303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629017" y="2833686"/>
            <a:ext cx="6902341" cy="3762374"/>
          </a:xfrm>
          <a:prstGeom prst="rect">
            <a:avLst/>
          </a:prstGeom>
        </p:spPr>
      </p:pic>
      <p:sp>
        <p:nvSpPr>
          <p:cNvPr id="270264121" name="TextBox 10"/>
          <p:cNvSpPr txBox="1"/>
          <p:nvPr/>
        </p:nvSpPr>
        <p:spPr bwMode="auto">
          <a:xfrm flipH="0" flipV="0">
            <a:off x="452435" y="2155029"/>
            <a:ext cx="12575456" cy="685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sz="1600" b="1" i="0" u="none">
                <a:solidFill>
                  <a:srgbClr val="475569"/>
                </a:solidFill>
                <a:latin typeface="Inter"/>
              </a:rPr>
              <a:t>Örnek : </a:t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>Bir İHA’nın tamamı SysML ile modellenir. Motorun güç tüketimi,radar sensörünün donanım bağlantıları, kanatçık</a:t>
            </a:r>
            <a:endParaRPr sz="1600" b="0" i="0" u="none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798"/>
              </a:lnSpc>
              <a:defRPr/>
            </a:pPr>
            <a:r>
              <a:rPr sz="1600" b="0" i="0" u="none">
                <a:solidFill>
                  <a:srgbClr val="475569"/>
                </a:solidFill>
                <a:latin typeface="Inter"/>
              </a:rPr>
              <a:t>mekanizmasının fiziksel limitleri ve yazılımın verdiği kararları tek bir modelde birlikte gösterili</a:t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>r</a:t>
            </a:r>
            <a:r>
              <a:rPr sz="1600" b="1" i="0" u="none">
                <a:solidFill>
                  <a:srgbClr val="475569"/>
                </a:solidFill>
                <a:latin typeface="Inter"/>
              </a:rPr>
              <a:t>. </a:t>
            </a:r>
            <a:endParaRPr sz="1600" b="1" i="0" u="none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798"/>
              </a:lnSpc>
              <a:defRPr/>
            </a:pPr>
            <a:endParaRPr sz="160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1278760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93647077" name="TextBox 2"/>
          <p:cNvSpPr txBox="1"/>
          <p:nvPr/>
        </p:nvSpPr>
        <p:spPr bwMode="auto">
          <a:xfrm>
            <a:off x="971550" y="2838450"/>
            <a:ext cx="1064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Uygun Bir Gereksinim Nasıl Olmalı?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Net (Açık), Ölçülebilir/Test Edilebilir, Anlaşılır, Çelişkisiz, Gerçekleştirilebilir ve Doğrulanabilir olmalıdır.</a:t>
            </a:r>
            <a:endParaRPr/>
          </a:p>
        </p:txBody>
      </p:sp>
      <p:sp>
        <p:nvSpPr>
          <p:cNvPr id="690788872" name="TextBox 3"/>
          <p:cNvSpPr txBox="1"/>
          <p:nvPr/>
        </p:nvSpPr>
        <p:spPr bwMode="auto">
          <a:xfrm>
            <a:off x="971550" y="3238500"/>
            <a:ext cx="1064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Gereksinim Tipleri: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Fonksiyonel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(Sistem ne yapmalı?),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Fonksiyonel Olmayan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(Performans, Güvenilirlik, Güvenlik),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Arayüz Gereksinimleri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ve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Kısıtlar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353574737" name="TextBox 4"/>
          <p:cNvSpPr txBox="1"/>
          <p:nvPr/>
        </p:nvSpPr>
        <p:spPr bwMode="auto">
          <a:xfrm>
            <a:off x="971550" y="3638550"/>
            <a:ext cx="1064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Geliştirme Adımları: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Toplama (Elicitation) → Analiz (Analysis) → Şartnameleştirme (Specification) → Doğrulama (Validation).</a:t>
            </a:r>
            <a:endParaRPr/>
          </a:p>
        </p:txBody>
      </p:sp>
      <p:sp>
        <p:nvSpPr>
          <p:cNvPr id="1966702229" name="TextBox 5"/>
          <p:cNvSpPr txBox="1"/>
          <p:nvPr/>
        </p:nvSpPr>
        <p:spPr bwMode="auto">
          <a:xfrm>
            <a:off x="971550" y="4038600"/>
            <a:ext cx="10648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Gereksinim Yönetimi: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İzlenebilirlik (Traceability) matrisleri ile bir gereksinimin tasarıma ve teste nasıl dönüştüğünün yaşam döngüsü boyunca takibidir.</a:t>
            </a:r>
            <a:endParaRPr/>
          </a:p>
        </p:txBody>
      </p:sp>
      <p:pic>
        <p:nvPicPr>
          <p:cNvPr id="2145535484" name="Picture 6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2852737"/>
            <a:ext cx="209550" cy="219074"/>
          </a:xfrm>
          <a:prstGeom prst="rect">
            <a:avLst/>
          </a:prstGeom>
        </p:spPr>
      </p:pic>
      <p:pic>
        <p:nvPicPr>
          <p:cNvPr id="1632694731" name="Picture 7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71500" y="3252787"/>
            <a:ext cx="209550" cy="219074"/>
          </a:xfrm>
          <a:prstGeom prst="rect">
            <a:avLst/>
          </a:prstGeom>
        </p:spPr>
      </p:pic>
      <p:pic>
        <p:nvPicPr>
          <p:cNvPr id="1349658878" name="Picture 8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71500" y="3652837"/>
            <a:ext cx="238125" cy="219074"/>
          </a:xfrm>
          <a:prstGeom prst="rect">
            <a:avLst/>
          </a:prstGeom>
        </p:spPr>
      </p:pic>
      <p:pic>
        <p:nvPicPr>
          <p:cNvPr id="775774195" name="Picture 9" descr="image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71500" y="4052887"/>
            <a:ext cx="209550" cy="219074"/>
          </a:xfrm>
          <a:prstGeom prst="rect">
            <a:avLst/>
          </a:prstGeom>
        </p:spPr>
      </p:pic>
      <p:sp>
        <p:nvSpPr>
          <p:cNvPr id="2116059649" name="TextBox 10"/>
          <p:cNvSpPr txBox="1"/>
          <p:nvPr/>
        </p:nvSpPr>
        <p:spPr bwMode="auto"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Gereksinim Mühendisliği</a:t>
            </a:r>
            <a:endParaRPr/>
          </a:p>
        </p:txBody>
      </p:sp>
      <p:sp>
        <p:nvSpPr>
          <p:cNvPr id="1234302041" name="Rounded Rectangle 11"/>
          <p:cNvSpPr/>
          <p:nvPr/>
        </p:nvSpPr>
        <p:spPr bwMode="auto">
          <a:xfrm>
            <a:off x="452437" y="528637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03414439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8760178" y="80077"/>
            <a:ext cx="3348036" cy="944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7391215" name="Picture 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4127455" name="TextBox 3"/>
          <p:cNvSpPr txBox="1"/>
          <p:nvPr/>
        </p:nvSpPr>
        <p:spPr bwMode="auto">
          <a:xfrm>
            <a:off x="4682124" y="3703679"/>
            <a:ext cx="30003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4050" b="1" i="0" u="none">
                <a:solidFill>
                  <a:srgbClr val="0F172A"/>
                </a:solidFill>
                <a:latin typeface="Plus Jakarta Sans"/>
              </a:rPr>
              <a:t>Teşekkürler</a:t>
            </a:r>
            <a:endParaRPr/>
          </a:p>
        </p:txBody>
      </p:sp>
      <p:sp>
        <p:nvSpPr>
          <p:cNvPr id="272005346" name="TextBox 4"/>
          <p:cNvSpPr txBox="1"/>
          <p:nvPr/>
        </p:nvSpPr>
        <p:spPr bwMode="auto">
          <a:xfrm>
            <a:off x="3067049" y="3243261"/>
            <a:ext cx="6058260" cy="274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7920019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71459" y="734921"/>
            <a:ext cx="4821703" cy="1360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6</cp:revision>
  <dcterms:created xsi:type="dcterms:W3CDTF">2013-01-27T09:14:16Z</dcterms:created>
  <dcterms:modified xsi:type="dcterms:W3CDTF">2026-07-29T06:09:41Z</dcterms:modified>
  <cp:category/>
</cp:coreProperties>
</file>