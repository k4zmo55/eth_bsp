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44D3A2-8415-99EA-41FB-870E827D93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01B6D-9CBE-0C30-C99B-7D358A2BB7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1E85F-DC35-B9A3-F1FE-67EE6AD07C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BD4A6C-2519-6BA6-4D8E-802AE1AAC6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053EFA-F24B-A34E-D9AC-F6A3169533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462A46-FC0B-505C-0CB1-1655160C8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1EDB7-60C4-CC52-B54B-FC8AC73F7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6245D6-17EA-37D1-ED37-C1FC2044B9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E5E42-851E-17E5-43B6-E84B34BC18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3CA051-1176-DADD-11CB-EE4D60AFE7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5A0EF5-B4E8-5055-85CC-04F41040A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43756B-570D-2C75-3FDF-A39C9D4A8C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F5F57F-B14B-D31C-4F66-20AB5EA757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1741D3-6FB2-E280-6486-FD249ECE4C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72E471-8F5D-2682-18CF-1014986799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2710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220301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470354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53129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91367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8503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24388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7942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3188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86834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0505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84026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86367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0957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0837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7860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566433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47230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95683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511138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38501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10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48955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22236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36620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43953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0300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219918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6394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4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81392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542738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50111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1068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143275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98505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81685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286801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907403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17417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051336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9718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77969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135484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911882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99889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01820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17195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7230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12617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02209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16769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28910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26976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986900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74196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1764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94748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25337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1760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22469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4566339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502561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621385" name="Picture 1" descr="sunum_kapak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3207636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78785179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01 · PROBLEM</a:t>
            </a:r>
            <a:endParaRPr/>
          </a:p>
        </p:txBody>
      </p:sp>
      <p:sp>
        <p:nvSpPr>
          <p:cNvPr id="1235835663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Her elektronik cihazın bir "ağ dili" konuşması gerekir</a:t>
            </a:r>
            <a:endParaRPr/>
          </a:p>
        </p:txBody>
      </p:sp>
      <p:sp>
        <p:nvSpPr>
          <p:cNvPr id="38932801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Bir kart ağa bağlanacaksa, veriyi doğru biçimde gönderip almasını sağlayan bir yazılım katmanına ihtiyacı vardır — buna **Ethernet sürücüsü** denir.</a:t>
            </a:r>
            <a:endParaRPr/>
          </a:p>
        </p:txBody>
      </p:sp>
      <p:sp>
        <p:nvSpPr>
          <p:cNvPr id="563548706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2004998819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02 / 15</a:t>
            </a:r>
            <a:endParaRPr/>
          </a:p>
        </p:txBody>
      </p:sp>
      <p:sp>
        <p:nvSpPr>
          <p:cNvPr id="783302617" name="Rounded Rectangle 7"/>
          <p:cNvSpPr/>
          <p:nvPr/>
        </p:nvSpPr>
        <p:spPr bwMode="auto">
          <a:xfrm>
            <a:off x="502920" y="2350008"/>
            <a:ext cx="11185855" cy="2148840"/>
          </a:xfrm>
          <a:prstGeom prst="roundRect">
            <a:avLst>
              <a:gd name="adj" fmla="val 3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40092" name="TextBox 8"/>
          <p:cNvSpPr txBox="1"/>
          <p:nvPr/>
        </p:nvSpPr>
        <p:spPr bwMode="auto">
          <a:xfrm>
            <a:off x="758952" y="253288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50" b="1" i="0">
                <a:solidFill>
                  <a:srgbClr val="0E93B4"/>
                </a:solidFill>
                <a:latin typeface="Consolas"/>
              </a:rPr>
              <a:t>AĞ İLETİŞİM ZİNCİRİ</a:t>
            </a:r>
            <a:endParaRPr/>
          </a:p>
        </p:txBody>
      </p:sp>
      <p:sp>
        <p:nvSpPr>
          <p:cNvPr id="1980971229" name="Rounded Rectangle 9"/>
          <p:cNvSpPr/>
          <p:nvPr/>
        </p:nvSpPr>
        <p:spPr bwMode="auto">
          <a:xfrm>
            <a:off x="758952" y="2916936"/>
            <a:ext cx="3344570" cy="1325880"/>
          </a:xfrm>
          <a:prstGeom prst="roundRect">
            <a:avLst>
              <a:gd name="adj" fmla="val 8000"/>
            </a:avLst>
          </a:prstGeom>
          <a:solidFill>
            <a:srgbClr val="10233F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Calibri"/>
              </a:rPr>
              <a:t>Mikrodenetleyici</a:t>
            </a:r>
            <a:endParaRPr/>
          </a:p>
          <a:p>
            <a:pPr algn="ctr">
              <a:defRPr/>
            </a:pPr>
            <a:r>
              <a:rPr sz="950" b="0" i="0">
                <a:solidFill>
                  <a:srgbClr val="B9C6DE"/>
                </a:solidFill>
                <a:latin typeface="Calibri"/>
              </a:rPr>
              <a:t>sensör · motor · kamera…</a:t>
            </a:r>
            <a:endParaRPr/>
          </a:p>
        </p:txBody>
      </p:sp>
      <p:sp>
        <p:nvSpPr>
          <p:cNvPr id="383012567" name="Right Arrow 10"/>
          <p:cNvSpPr/>
          <p:nvPr/>
        </p:nvSpPr>
        <p:spPr bwMode="auto">
          <a:xfrm>
            <a:off x="4130954" y="3497580"/>
            <a:ext cx="26517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186109" name="Rounded Rectangle 11"/>
          <p:cNvSpPr/>
          <p:nvPr/>
        </p:nvSpPr>
        <p:spPr bwMode="auto">
          <a:xfrm>
            <a:off x="4423562" y="2916936"/>
            <a:ext cx="3344570" cy="1325880"/>
          </a:xfrm>
          <a:prstGeom prst="roundRect">
            <a:avLst>
              <a:gd name="adj" fmla="val 8000"/>
            </a:avLst>
          </a:prstGeom>
          <a:solidFill>
            <a:srgbClr val="DFF1F5"/>
          </a:solidFill>
          <a:ln w="19050">
            <a:solidFill>
              <a:srgbClr val="0E9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/>
            </a:pPr>
            <a:r>
              <a:rPr sz="1350" b="1" i="0">
                <a:solidFill>
                  <a:srgbClr val="101826"/>
                </a:solidFill>
                <a:latin typeface="Calibri"/>
              </a:rPr>
              <a:t>Ethernet Sürücüsü</a:t>
            </a:r>
            <a:endParaRPr/>
          </a:p>
          <a:p>
            <a:pPr algn="ctr">
              <a:defRPr/>
            </a:pPr>
            <a:r>
              <a:rPr sz="950" b="0" i="0">
                <a:solidFill>
                  <a:srgbClr val="5B6B80"/>
                </a:solidFill>
                <a:latin typeface="Calibri"/>
              </a:rPr>
              <a:t>"veriyi ağın anlayacağı pakete çeviren katman"</a:t>
            </a:r>
            <a:endParaRPr/>
          </a:p>
        </p:txBody>
      </p:sp>
      <p:sp>
        <p:nvSpPr>
          <p:cNvPr id="453196310" name="Right Arrow 12"/>
          <p:cNvSpPr/>
          <p:nvPr/>
        </p:nvSpPr>
        <p:spPr bwMode="auto">
          <a:xfrm>
            <a:off x="7795564" y="3497580"/>
            <a:ext cx="26517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6805739" name="Rounded Rectangle 13"/>
          <p:cNvSpPr/>
          <p:nvPr/>
        </p:nvSpPr>
        <p:spPr bwMode="auto">
          <a:xfrm>
            <a:off x="8088172" y="2916936"/>
            <a:ext cx="3344570" cy="1325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/>
            </a:pPr>
            <a:r>
              <a:rPr sz="1350" b="1" i="0">
                <a:solidFill>
                  <a:srgbClr val="101826"/>
                </a:solidFill>
                <a:latin typeface="Calibri"/>
              </a:rPr>
              <a:t>Ağ / İnternet</a:t>
            </a:r>
            <a:endParaRPr/>
          </a:p>
        </p:txBody>
      </p:sp>
      <p:sp>
        <p:nvSpPr>
          <p:cNvPr id="666864373" name="Rectangle 14"/>
          <p:cNvSpPr/>
          <p:nvPr/>
        </p:nvSpPr>
        <p:spPr bwMode="auto">
          <a:xfrm>
            <a:off x="502920" y="4700016"/>
            <a:ext cx="45720" cy="566928"/>
          </a:xfrm>
          <a:prstGeom prst="rect">
            <a:avLst/>
          </a:prstGeom>
          <a:solidFill>
            <a:srgbClr val="004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2090898" name="TextBox 15"/>
          <p:cNvSpPr txBox="1"/>
          <p:nvPr/>
        </p:nvSpPr>
        <p:spPr bwMode="auto">
          <a:xfrm>
            <a:off x="704088" y="4700016"/>
            <a:ext cx="10984687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5B6B80"/>
                </a:solidFill>
                <a:latin typeface="Calibri"/>
              </a:rPr>
              <a:t>Hazır çözümler (işletim sistemi + ağ kütüphanesi) genelde ağırdır ve her karta doğrudan taşınmaz. Görevim: hafif, taşınabilir bir sürücüyü </a:t>
            </a:r>
            <a:r>
              <a:rPr sz="1300" b="1" i="0">
                <a:solidFill>
                  <a:srgbClr val="5B6B80"/>
                </a:solidFill>
                <a:latin typeface="Calibri"/>
              </a:rPr>
              <a:t>sıfırdan</a:t>
            </a:r>
            <a:r>
              <a:rPr sz="1300" b="0" i="0">
                <a:solidFill>
                  <a:srgbClr val="5B6B80"/>
                </a:solidFill>
                <a:latin typeface="Calibri"/>
              </a:rPr>
              <a:t> yazmak.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4343141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68395720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02 · NE YAPTIM</a:t>
            </a:r>
            <a:endParaRPr/>
          </a:p>
        </p:txBody>
      </p:sp>
      <p:sp>
        <p:nvSpPr>
          <p:cNvPr id="1327339462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İki parçadan oluşan bir sistem geliştirdim</a:t>
            </a:r>
            <a:endParaRPr/>
          </a:p>
        </p:txBody>
      </p:sp>
      <p:sp>
        <p:nvSpPr>
          <p:cNvPr id="532261765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Kartın içine gömülen bir kütüphane ve bilgisayardan o kartı test eden bir arayüz — ikisi aynı "dil" (E-AETIS protokolü) ile konuşuyor.</a:t>
            </a:r>
            <a:endParaRPr/>
          </a:p>
        </p:txBody>
      </p:sp>
      <p:sp>
        <p:nvSpPr>
          <p:cNvPr id="946514917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658569168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03 / 15</a:t>
            </a:r>
            <a:endParaRPr/>
          </a:p>
        </p:txBody>
      </p:sp>
      <p:sp>
        <p:nvSpPr>
          <p:cNvPr id="609813854" name="Rounded Rectangle 7"/>
          <p:cNvSpPr/>
          <p:nvPr/>
        </p:nvSpPr>
        <p:spPr bwMode="auto">
          <a:xfrm>
            <a:off x="502920" y="2103120"/>
            <a:ext cx="5455767" cy="329184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8438138" name="TextBox 8"/>
          <p:cNvSpPr txBox="1"/>
          <p:nvPr/>
        </p:nvSpPr>
        <p:spPr bwMode="auto">
          <a:xfrm>
            <a:off x="704088" y="2304288"/>
            <a:ext cx="505343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GÖMÜLÜ TARAF</a:t>
            </a:r>
            <a:endParaRPr/>
          </a:p>
        </p:txBody>
      </p:sp>
      <p:sp>
        <p:nvSpPr>
          <p:cNvPr id="1285982259" name="TextBox 9"/>
          <p:cNvSpPr txBox="1"/>
          <p:nvPr/>
        </p:nvSpPr>
        <p:spPr bwMode="auto">
          <a:xfrm>
            <a:off x="704088" y="2578608"/>
            <a:ext cx="50534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Ethernet_BSP  (C)</a:t>
            </a:r>
            <a:endParaRPr/>
          </a:p>
        </p:txBody>
      </p:sp>
      <p:sp>
        <p:nvSpPr>
          <p:cNvPr id="783690736" name="TextBox 10"/>
          <p:cNvSpPr txBox="1"/>
          <p:nvPr/>
        </p:nvSpPr>
        <p:spPr bwMode="auto">
          <a:xfrm>
            <a:off x="704088" y="2962656"/>
            <a:ext cx="5053431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Register seviyesi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MAC / DMA / PHY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erişimi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RTOS yok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·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LwIP yok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ARP / ICMP / UDP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elle yazılmış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İsteğe bağlı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IAP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bootloader</a:t>
            </a:r>
            <a:endParaRPr/>
          </a:p>
        </p:txBody>
      </p:sp>
      <p:sp>
        <p:nvSpPr>
          <p:cNvPr id="724344214" name="Rounded Rectangle 11"/>
          <p:cNvSpPr/>
          <p:nvPr/>
        </p:nvSpPr>
        <p:spPr bwMode="auto">
          <a:xfrm>
            <a:off x="6233007" y="2103120"/>
            <a:ext cx="5455767" cy="329184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934359" name="TextBox 12"/>
          <p:cNvSpPr txBox="1"/>
          <p:nvPr/>
        </p:nvSpPr>
        <p:spPr bwMode="auto">
          <a:xfrm>
            <a:off x="6434175" y="2304288"/>
            <a:ext cx="505343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MASAÜSTÜ TARAF</a:t>
            </a:r>
            <a:endParaRPr/>
          </a:p>
        </p:txBody>
      </p:sp>
      <p:sp>
        <p:nvSpPr>
          <p:cNvPr id="88122230" name="TextBox 13"/>
          <p:cNvSpPr txBox="1"/>
          <p:nvPr/>
        </p:nvSpPr>
        <p:spPr bwMode="auto">
          <a:xfrm>
            <a:off x="6434175" y="2578608"/>
            <a:ext cx="50534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E-AETIS GUI  (Python / PyQt5)</a:t>
            </a:r>
            <a:endParaRPr/>
          </a:p>
        </p:txBody>
      </p:sp>
      <p:sp>
        <p:nvSpPr>
          <p:cNvPr id="2108199627" name="TextBox 14"/>
          <p:cNvSpPr txBox="1"/>
          <p:nvPr/>
        </p:nvSpPr>
        <p:spPr bwMode="auto">
          <a:xfrm>
            <a:off x="6434175" y="2962656"/>
            <a:ext cx="5053431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UDP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üzerinden kartla konuşur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Telemetri, performans/jitter ölçümü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Hata enjeksiyonu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(fuzz testi)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– 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Ağdan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firmware güncelleme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84610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34651236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03 · TASARIM FELSEFESI</a:t>
            </a:r>
            <a:endParaRPr/>
          </a:p>
        </p:txBody>
      </p:sp>
      <p:sp>
        <p:nvSpPr>
          <p:cNvPr id="1471565025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HAL_ETH, LwIP, FreeRTOS — bilinçli olarak yok</a:t>
            </a:r>
            <a:endParaRPr/>
          </a:p>
        </p:txBody>
      </p:sp>
      <p:sp>
        <p:nvSpPr>
          <p:cNvPr id="1647177239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Amaç ürünü hızlıca çıkarmak değildi; MAC / PHY / DMA seviyesinde ne olup bittiğini görebileceğim, öngörülebilir bir sistem kurmaktı.</a:t>
            </a:r>
            <a:endParaRPr/>
          </a:p>
        </p:txBody>
      </p:sp>
      <p:sp>
        <p:nvSpPr>
          <p:cNvPr id="1647111904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737236347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04 / 15</a:t>
            </a:r>
            <a:endParaRPr/>
          </a:p>
        </p:txBody>
      </p:sp>
      <p:graphicFrame>
        <p:nvGraphicFramePr>
          <p:cNvPr id="1607475462" name="Table 7"/>
          <p:cNvGraphicFramePr>
            <a:graphicFrameLocks xmlns:a="http://schemas.openxmlformats.org/drawingml/2006/main" noGrp="1"/>
          </p:cNvGraphicFramePr>
          <p:nvPr/>
        </p:nvGraphicFramePr>
        <p:xfrm>
          <a:off x="502920" y="2057400"/>
          <a:ext cx="11185853" cy="31089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13453"/>
                <a:gridCol w="4586200"/>
                <a:gridCol w="4586200"/>
              </a:tblGrid>
              <a:tr h="5181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BU PROJE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HAZIR YIĞIN (HAL + LWIP + FREERTOS)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Şeffaflık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17936B"/>
                          </a:solidFill>
                          <a:latin typeface="Calibri"/>
                        </a:rPr>
                        <a:t>Her register erişimi görünür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B6720F"/>
                          </a:solidFill>
                          <a:latin typeface="Calibri"/>
                        </a:rPr>
                        <a:t>Üç kütüphanenin içine inmeden bilinmez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Bellek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17936B"/>
                          </a:solidFill>
                          <a:latin typeface="Calibri"/>
                        </a:rPr>
                        <a:t>Statik, malloc yok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B6720F"/>
                          </a:solidFill>
                          <a:latin typeface="Calibri"/>
                        </a:rPr>
                        <a:t>Dinamik pbuf havuzu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Zamanlama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17936B"/>
                          </a:solidFill>
                          <a:latin typeface="Calibri"/>
                        </a:rPr>
                        <a:t>Tek bağlam, deterministik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B6720F"/>
                          </a:solidFill>
                          <a:latin typeface="Calibri"/>
                        </a:rPr>
                        <a:t>Context-switch jitter'ı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Taşınabilirlik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17936B"/>
                          </a:solidFill>
                          <a:latin typeface="Calibri"/>
                        </a:rPr>
                        <a:t>Tek config, 4 MCU × 3 PHY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B6720F"/>
                          </a:solidFill>
                          <a:latin typeface="Calibri"/>
                        </a:rPr>
                        <a:t>HAL ailelerde farklı API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Kapsam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B6720F"/>
                          </a:solidFill>
                          <a:latin typeface="Calibri"/>
                        </a:rPr>
                        <a:t>Yalnızca ARP/ICMP/UDP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>
                          <a:solidFill>
                            <a:srgbClr val="17936B"/>
                          </a:solidFill>
                          <a:latin typeface="Calibri"/>
                        </a:rPr>
                        <a:t>TCP/DHCP/DNS hazır gelir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529575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5349" y="0"/>
            <a:ext cx="12191695" cy="6858000"/>
          </a:xfrm>
          <a:prstGeom prst="rect">
            <a:avLst/>
          </a:prstGeom>
        </p:spPr>
      </p:pic>
      <p:sp>
        <p:nvSpPr>
          <p:cNvPr id="2024575203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04 · MIMARI</a:t>
            </a:r>
            <a:endParaRPr/>
          </a:p>
        </p:txBody>
      </p:sp>
      <p:sp>
        <p:nvSpPr>
          <p:cNvPr id="1924710329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400" b="1" i="0">
                <a:solidFill>
                  <a:srgbClr val="101826"/>
                </a:solidFill>
                <a:latin typeface="Calibri"/>
              </a:rPr>
              <a:t>Üç bağımsız eksen</a:t>
            </a:r>
            <a:endParaRPr/>
          </a:p>
        </p:txBody>
      </p:sp>
      <p:sp>
        <p:nvSpPr>
          <p:cNvPr id="1636548376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Bir eksende yapılan değişiklik diğerlerini etkilemez — bu, yeni bir karta geçişi tek dosyalık bir işe indirir.</a:t>
            </a:r>
            <a:endParaRPr/>
          </a:p>
        </p:txBody>
      </p:sp>
      <p:sp>
        <p:nvSpPr>
          <p:cNvPr id="806037955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307328339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05 / 15</a:t>
            </a:r>
            <a:endParaRPr/>
          </a:p>
        </p:txBody>
      </p:sp>
      <p:sp>
        <p:nvSpPr>
          <p:cNvPr id="936841893" name="Rounded Rectangle 7"/>
          <p:cNvSpPr/>
          <p:nvPr/>
        </p:nvSpPr>
        <p:spPr bwMode="auto">
          <a:xfrm>
            <a:off x="3211830" y="2022395"/>
            <a:ext cx="1805940" cy="248316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eth_config.h</a:t>
            </a:r>
            <a:endParaRPr/>
          </a:p>
        </p:txBody>
      </p:sp>
      <p:cxnSp>
        <p:nvCxnSpPr>
          <p:cNvPr id="570694036" name="Connector 8"/>
          <p:cNvCxnSpPr/>
          <p:nvPr/>
        </p:nvCxnSpPr>
        <p:spPr bwMode="auto">
          <a:xfrm>
            <a:off x="4114800" y="2270712"/>
            <a:ext cx="0" cy="169307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414188" name="Isosceles Triangle 9"/>
          <p:cNvSpPr/>
          <p:nvPr/>
        </p:nvSpPr>
        <p:spPr bwMode="auto">
          <a:xfrm rot="10800000">
            <a:off x="4082796" y="2408015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7131537" name="Rounded Rectangle 10"/>
          <p:cNvSpPr/>
          <p:nvPr/>
        </p:nvSpPr>
        <p:spPr bwMode="auto">
          <a:xfrm>
            <a:off x="3211830" y="2451305"/>
            <a:ext cx="1805940" cy="282178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eth_device.h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MCU → yetenek eşlemesi</a:t>
            </a:r>
            <a:endParaRPr/>
          </a:p>
        </p:txBody>
      </p:sp>
      <p:cxnSp>
        <p:nvCxnSpPr>
          <p:cNvPr id="1341391950" name="Connector 11"/>
          <p:cNvCxnSpPr/>
          <p:nvPr/>
        </p:nvCxnSpPr>
        <p:spPr bwMode="auto">
          <a:xfrm flipH="1">
            <a:off x="2320147" y="2733484"/>
            <a:ext cx="1794653" cy="180594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433620" name="Isosceles Triangle 12"/>
          <p:cNvSpPr/>
          <p:nvPr/>
        </p:nvSpPr>
        <p:spPr bwMode="auto">
          <a:xfrm rot="15855223">
            <a:off x="2288143" y="2882074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11644121" name="Connector 13"/>
          <p:cNvCxnSpPr/>
          <p:nvPr/>
        </p:nvCxnSpPr>
        <p:spPr bwMode="auto">
          <a:xfrm>
            <a:off x="4114800" y="2733484"/>
            <a:ext cx="1794652" cy="180594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075536" name="Isosceles Triangle 14"/>
          <p:cNvSpPr/>
          <p:nvPr/>
        </p:nvSpPr>
        <p:spPr bwMode="auto">
          <a:xfrm rot="5744776">
            <a:off x="5877448" y="2882074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5046934" name="Rounded Rectangle 17"/>
          <p:cNvSpPr/>
          <p:nvPr/>
        </p:nvSpPr>
        <p:spPr bwMode="auto">
          <a:xfrm>
            <a:off x="728662" y="2925365"/>
            <a:ext cx="3160394" cy="1072276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9465263" name="TextBox 18"/>
          <p:cNvSpPr txBox="1"/>
          <p:nvPr/>
        </p:nvSpPr>
        <p:spPr bwMode="auto">
          <a:xfrm>
            <a:off x="820102" y="2961941"/>
            <a:ext cx="29775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800" b="1" i="0">
                <a:solidFill>
                  <a:srgbClr val="0E93B4"/>
                </a:solidFill>
                <a:latin typeface="Consolas"/>
              </a:rPr>
              <a:t>MAC PORT EKSENI</a:t>
            </a:r>
            <a:endParaRPr/>
          </a:p>
        </p:txBody>
      </p:sp>
      <p:sp>
        <p:nvSpPr>
          <p:cNvPr id="1329387361" name="Rounded Rectangle 20"/>
          <p:cNvSpPr/>
          <p:nvPr/>
        </p:nvSpPr>
        <p:spPr bwMode="auto">
          <a:xfrm>
            <a:off x="4340542" y="2925365"/>
            <a:ext cx="3160394" cy="1072276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223008" name="TextBox 21"/>
          <p:cNvSpPr txBox="1"/>
          <p:nvPr/>
        </p:nvSpPr>
        <p:spPr bwMode="auto">
          <a:xfrm>
            <a:off x="4431982" y="2961941"/>
            <a:ext cx="29775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800" b="1" i="0">
                <a:solidFill>
                  <a:srgbClr val="0E93B4"/>
                </a:solidFill>
                <a:latin typeface="Consolas"/>
              </a:rPr>
              <a:t>PHY EKSENI</a:t>
            </a:r>
            <a:endParaRPr/>
          </a:p>
        </p:txBody>
      </p:sp>
      <p:sp>
        <p:nvSpPr>
          <p:cNvPr id="561793625" name="Rounded Rectangle 23"/>
          <p:cNvSpPr/>
          <p:nvPr/>
        </p:nvSpPr>
        <p:spPr bwMode="auto">
          <a:xfrm>
            <a:off x="897969" y="3173682"/>
            <a:ext cx="1185148" cy="304752"/>
          </a:xfrm>
          <a:prstGeom prst="roundRect">
            <a:avLst>
              <a:gd name="adj" fmla="val 14000"/>
            </a:avLst>
          </a:prstGeom>
          <a:solidFill>
            <a:srgbClr val="DFF1F5"/>
          </a:solidFill>
          <a:ln w="19050">
            <a:solidFill>
              <a:srgbClr val="0E9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eth_port_eqos.c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H5 / H7</a:t>
            </a:r>
            <a:endParaRPr/>
          </a:p>
        </p:txBody>
      </p:sp>
      <p:sp>
        <p:nvSpPr>
          <p:cNvPr id="1721959228" name="Rounded Rectangle 24"/>
          <p:cNvSpPr/>
          <p:nvPr/>
        </p:nvSpPr>
        <p:spPr bwMode="auto">
          <a:xfrm>
            <a:off x="2534602" y="3173682"/>
            <a:ext cx="1185148" cy="304752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eth_port_gmac.c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F4 / F7</a:t>
            </a:r>
            <a:endParaRPr/>
          </a:p>
        </p:txBody>
      </p:sp>
      <p:sp>
        <p:nvSpPr>
          <p:cNvPr id="1421374307" name="TextBox 25"/>
          <p:cNvSpPr txBox="1"/>
          <p:nvPr/>
        </p:nvSpPr>
        <p:spPr bwMode="auto">
          <a:xfrm>
            <a:off x="1211580" y="32480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1">
                <a:solidFill>
                  <a:srgbClr val="5B6B80"/>
                </a:solidFill>
                <a:latin typeface="Calibri"/>
              </a:rPr>
              <a:t>veya</a:t>
            </a:r>
            <a:endParaRPr/>
          </a:p>
        </p:txBody>
      </p:sp>
      <p:sp>
        <p:nvSpPr>
          <p:cNvPr id="1065046718" name="Rounded Rectangle 26"/>
          <p:cNvSpPr/>
          <p:nvPr/>
        </p:nvSpPr>
        <p:spPr bwMode="auto">
          <a:xfrm>
            <a:off x="4509849" y="3173682"/>
            <a:ext cx="1185148" cy="304752"/>
          </a:xfrm>
          <a:prstGeom prst="roundRect">
            <a:avLst>
              <a:gd name="adj" fmla="val 14000"/>
            </a:avLst>
          </a:prstGeom>
          <a:solidFill>
            <a:srgbClr val="DFF1F5"/>
          </a:solidFill>
          <a:ln w="19050">
            <a:solidFill>
              <a:srgbClr val="0E9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eth_phy_lan87xx.c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LAN8720A / 8742A</a:t>
            </a:r>
            <a:endParaRPr/>
          </a:p>
        </p:txBody>
      </p:sp>
      <p:sp>
        <p:nvSpPr>
          <p:cNvPr id="285422275" name="Rounded Rectangle 27"/>
          <p:cNvSpPr/>
          <p:nvPr/>
        </p:nvSpPr>
        <p:spPr bwMode="auto">
          <a:xfrm>
            <a:off x="6146481" y="3173682"/>
            <a:ext cx="1185148" cy="304752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eth_phy_ksz80xx.c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KSZ8081</a:t>
            </a:r>
            <a:endParaRPr/>
          </a:p>
        </p:txBody>
      </p:sp>
      <p:sp>
        <p:nvSpPr>
          <p:cNvPr id="1500949588" name="TextBox 28"/>
          <p:cNvSpPr txBox="1"/>
          <p:nvPr/>
        </p:nvSpPr>
        <p:spPr bwMode="auto">
          <a:xfrm>
            <a:off x="4823460" y="32480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1">
                <a:solidFill>
                  <a:srgbClr val="5B6B80"/>
                </a:solidFill>
                <a:latin typeface="Calibri"/>
              </a:rPr>
              <a:t>veya</a:t>
            </a:r>
            <a:endParaRPr/>
          </a:p>
        </p:txBody>
      </p:sp>
      <p:cxnSp>
        <p:nvCxnSpPr>
          <p:cNvPr id="1630701335" name="Connector 29"/>
          <p:cNvCxnSpPr/>
          <p:nvPr/>
        </p:nvCxnSpPr>
        <p:spPr bwMode="auto">
          <a:xfrm>
            <a:off x="1490543" y="3478434"/>
            <a:ext cx="479703" cy="191881"/>
          </a:xfrm>
          <a:prstGeom prst="line">
            <a:avLst/>
          </a:prstGeom>
          <a:ln w="13970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676899" name="Isosceles Triangle 30"/>
          <p:cNvSpPr/>
          <p:nvPr/>
        </p:nvSpPr>
        <p:spPr bwMode="auto">
          <a:xfrm rot="6708085">
            <a:off x="1938242" y="3638311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60931179" name="Connector 31"/>
          <p:cNvCxnSpPr/>
          <p:nvPr/>
        </p:nvCxnSpPr>
        <p:spPr bwMode="auto">
          <a:xfrm flipH="1">
            <a:off x="2647473" y="3478434"/>
            <a:ext cx="479703" cy="191881"/>
          </a:xfrm>
          <a:prstGeom prst="line">
            <a:avLst/>
          </a:prstGeom>
          <a:ln w="13970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2541810" name="Isosceles Triangle 32"/>
          <p:cNvSpPr/>
          <p:nvPr/>
        </p:nvSpPr>
        <p:spPr bwMode="auto">
          <a:xfrm rot="14891915">
            <a:off x="2615469" y="3638311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93413993" name="Connector 33"/>
          <p:cNvCxnSpPr/>
          <p:nvPr/>
        </p:nvCxnSpPr>
        <p:spPr bwMode="auto">
          <a:xfrm>
            <a:off x="5102423" y="3478434"/>
            <a:ext cx="479703" cy="191881"/>
          </a:xfrm>
          <a:prstGeom prst="line">
            <a:avLst/>
          </a:prstGeom>
          <a:ln w="13970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0296184" name="Isosceles Triangle 34"/>
          <p:cNvSpPr/>
          <p:nvPr/>
        </p:nvSpPr>
        <p:spPr bwMode="auto">
          <a:xfrm rot="6708085">
            <a:off x="5550122" y="3638311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1813558" name="Connector 35"/>
          <p:cNvCxnSpPr/>
          <p:nvPr/>
        </p:nvCxnSpPr>
        <p:spPr bwMode="auto">
          <a:xfrm flipH="1">
            <a:off x="6259353" y="3478434"/>
            <a:ext cx="479703" cy="191881"/>
          </a:xfrm>
          <a:prstGeom prst="line">
            <a:avLst/>
          </a:prstGeom>
          <a:ln w="13970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3138575" name="Isosceles Triangle 36"/>
          <p:cNvSpPr/>
          <p:nvPr/>
        </p:nvSpPr>
        <p:spPr bwMode="auto">
          <a:xfrm rot="14891915">
            <a:off x="6227349" y="3638311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450793" name="Rounded Rectangle 37"/>
          <p:cNvSpPr/>
          <p:nvPr/>
        </p:nvSpPr>
        <p:spPr bwMode="auto">
          <a:xfrm>
            <a:off x="1744503" y="3670315"/>
            <a:ext cx="1128712" cy="270891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eth_port.h</a:t>
            </a:r>
            <a:endParaRPr/>
          </a:p>
        </p:txBody>
      </p:sp>
      <p:sp>
        <p:nvSpPr>
          <p:cNvPr id="235391384" name="Rounded Rectangle 38"/>
          <p:cNvSpPr/>
          <p:nvPr/>
        </p:nvSpPr>
        <p:spPr bwMode="auto">
          <a:xfrm>
            <a:off x="5356383" y="3670315"/>
            <a:ext cx="1128712" cy="270891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eth_phy.h</a:t>
            </a:r>
            <a:endParaRPr/>
          </a:p>
        </p:txBody>
      </p:sp>
      <p:cxnSp>
        <p:nvCxnSpPr>
          <p:cNvPr id="1369035978" name="Connector 39"/>
          <p:cNvCxnSpPr/>
          <p:nvPr/>
        </p:nvCxnSpPr>
        <p:spPr bwMode="auto">
          <a:xfrm>
            <a:off x="2308860" y="3941206"/>
            <a:ext cx="0" cy="225743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835940" name="Connector 40"/>
          <p:cNvCxnSpPr/>
          <p:nvPr/>
        </p:nvCxnSpPr>
        <p:spPr bwMode="auto">
          <a:xfrm>
            <a:off x="5920740" y="3941206"/>
            <a:ext cx="0" cy="225743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790814" name="Connector 41"/>
          <p:cNvCxnSpPr/>
          <p:nvPr/>
        </p:nvCxnSpPr>
        <p:spPr bwMode="auto">
          <a:xfrm>
            <a:off x="2195988" y="4166949"/>
            <a:ext cx="3724752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453308" name="Connector 42"/>
          <p:cNvCxnSpPr/>
          <p:nvPr/>
        </p:nvCxnSpPr>
        <p:spPr bwMode="auto">
          <a:xfrm>
            <a:off x="2195988" y="4166949"/>
            <a:ext cx="0" cy="225742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2052736" name="Isosceles Triangle 43"/>
          <p:cNvSpPr/>
          <p:nvPr/>
        </p:nvSpPr>
        <p:spPr bwMode="auto">
          <a:xfrm rot="10800000">
            <a:off x="2163984" y="4360687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258917" name="Rounded Rectangle 44"/>
          <p:cNvSpPr/>
          <p:nvPr/>
        </p:nvSpPr>
        <p:spPr bwMode="auto">
          <a:xfrm>
            <a:off x="728662" y="4336256"/>
            <a:ext cx="6772275" cy="1467326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785191" name="TextBox 45"/>
          <p:cNvSpPr txBox="1"/>
          <p:nvPr/>
        </p:nvSpPr>
        <p:spPr bwMode="auto">
          <a:xfrm>
            <a:off x="962976" y="4468081"/>
            <a:ext cx="65893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800" b="1" i="0">
                <a:solidFill>
                  <a:srgbClr val="0E93B4"/>
                </a:solidFill>
                <a:latin typeface="Consolas"/>
              </a:rPr>
              <a:t>ÇEKIRDEK — DONANIMDAN BAĞIMSIZ</a:t>
            </a:r>
            <a:endParaRPr/>
          </a:p>
        </p:txBody>
      </p:sp>
      <p:sp>
        <p:nvSpPr>
          <p:cNvPr id="2062484194" name="Rounded Rectangle 46"/>
          <p:cNvSpPr/>
          <p:nvPr/>
        </p:nvSpPr>
        <p:spPr bwMode="auto">
          <a:xfrm>
            <a:off x="1028460" y="4934187"/>
            <a:ext cx="2144553" cy="361188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1000" b="1" i="0">
                <a:solidFill>
                  <a:srgbClr val="101826"/>
                </a:solidFill>
                <a:latin typeface="Calibri"/>
              </a:rPr>
              <a:t>eth_driver.c</a:t>
            </a:r>
            <a:endParaRPr/>
          </a:p>
          <a:p>
            <a:pPr algn="ctr">
              <a:defRPr/>
            </a:pPr>
            <a:r>
              <a:rPr sz="800" b="0" i="0">
                <a:solidFill>
                  <a:srgbClr val="5B6B80"/>
                </a:solidFill>
                <a:latin typeface="Calibri"/>
              </a:rPr>
              <a:t>ring + sahiplik protokolü</a:t>
            </a:r>
            <a:endParaRPr/>
          </a:p>
        </p:txBody>
      </p:sp>
      <p:cxnSp>
        <p:nvCxnSpPr>
          <p:cNvPr id="1219071199" name="Connector 47"/>
          <p:cNvCxnSpPr/>
          <p:nvPr/>
        </p:nvCxnSpPr>
        <p:spPr bwMode="auto">
          <a:xfrm>
            <a:off x="3173014" y="5114781"/>
            <a:ext cx="395050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277701" name="Isosceles Triangle 48"/>
          <p:cNvSpPr/>
          <p:nvPr/>
        </p:nvSpPr>
        <p:spPr bwMode="auto">
          <a:xfrm rot="5400000">
            <a:off x="3488435" y="5082777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4171334" name="Rounded Rectangle 49"/>
          <p:cNvSpPr/>
          <p:nvPr/>
        </p:nvSpPr>
        <p:spPr bwMode="auto">
          <a:xfrm>
            <a:off x="3568064" y="4934187"/>
            <a:ext cx="2144553" cy="361188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1000" b="1" i="0">
                <a:solidFill>
                  <a:srgbClr val="101826"/>
                </a:solidFill>
                <a:latin typeface="Calibri"/>
              </a:rPr>
              <a:t>eth_app.c</a:t>
            </a:r>
            <a:endParaRPr/>
          </a:p>
          <a:p>
            <a:pPr algn="ctr">
              <a:defRPr/>
            </a:pPr>
            <a:r>
              <a:rPr sz="800" b="0" i="0">
                <a:solidFill>
                  <a:srgbClr val="5B6B80"/>
                </a:solidFill>
                <a:latin typeface="Calibri"/>
              </a:rPr>
              <a:t>ARP / ICMP / UDP</a:t>
            </a:r>
            <a:endParaRPr/>
          </a:p>
        </p:txBody>
      </p:sp>
      <p:cxnSp>
        <p:nvCxnSpPr>
          <p:cNvPr id="2047381140" name="Connector 50"/>
          <p:cNvCxnSpPr/>
          <p:nvPr/>
        </p:nvCxnSpPr>
        <p:spPr bwMode="auto">
          <a:xfrm>
            <a:off x="5712617" y="5114781"/>
            <a:ext cx="395050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628321" name="Isosceles Triangle 51"/>
          <p:cNvSpPr/>
          <p:nvPr/>
        </p:nvSpPr>
        <p:spPr bwMode="auto">
          <a:xfrm rot="5400000">
            <a:off x="6058494" y="5082777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2087326" name="Rounded Rectangle 52"/>
          <p:cNvSpPr/>
          <p:nvPr/>
        </p:nvSpPr>
        <p:spPr bwMode="auto">
          <a:xfrm>
            <a:off x="6107667" y="4934187"/>
            <a:ext cx="1185148" cy="361188"/>
          </a:xfrm>
          <a:prstGeom prst="roundRect">
            <a:avLst>
              <a:gd name="adj" fmla="val 14000"/>
            </a:avLst>
          </a:prstGeom>
          <a:solidFill>
            <a:srgbClr val="F7ECD9"/>
          </a:solidFill>
          <a:ln w="15240">
            <a:solidFill>
              <a:srgbClr val="B6720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1000" b="1" i="0">
                <a:solidFill>
                  <a:srgbClr val="101826"/>
                </a:solidFill>
                <a:latin typeface="Calibri"/>
              </a:rPr>
              <a:t>eth_iap.c</a:t>
            </a:r>
            <a:endParaRPr/>
          </a:p>
          <a:p>
            <a:pPr algn="ctr">
              <a:defRPr/>
            </a:pPr>
            <a:r>
              <a:rPr sz="800" b="0" i="0">
                <a:solidFill>
                  <a:srgbClr val="5B6B80"/>
                </a:solidFill>
                <a:latin typeface="Calibri"/>
              </a:rPr>
              <a:t>opsiyonel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664665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90707097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05 · TAŞINABILIRLIK</a:t>
            </a:r>
            <a:endParaRPr/>
          </a:p>
        </p:txBody>
      </p:sp>
      <p:sp>
        <p:nvSpPr>
          <p:cNvPr id="799464844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Tek config dosyası, dört farklı işlemci</a:t>
            </a:r>
            <a:endParaRPr/>
          </a:p>
        </p:txBody>
      </p:sp>
      <p:sp>
        <p:nvSpPr>
          <p:cNvPr id="5484405" name="TextBox 4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084699854" name="TextBox 5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06 / 15</a:t>
            </a:r>
            <a:endParaRPr/>
          </a:p>
        </p:txBody>
      </p:sp>
      <p:graphicFrame>
        <p:nvGraphicFramePr>
          <p:cNvPr id="202815918" name="Table 6"/>
          <p:cNvGraphicFramePr>
            <a:graphicFrameLocks xmlns:a="http://schemas.openxmlformats.org/drawingml/2006/main" noGrp="1"/>
          </p:cNvGraphicFramePr>
          <p:nvPr/>
        </p:nvGraphicFramePr>
        <p:xfrm>
          <a:off x="502920" y="1508759"/>
          <a:ext cx="11185853" cy="2194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589318"/>
                <a:gridCol w="2589318"/>
                <a:gridCol w="2900036"/>
                <a:gridCol w="3107180"/>
              </a:tblGrid>
              <a:tr h="438912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MCU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ÇEKIRDEK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MAC AILESI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 i="0">
                          <a:solidFill>
                            <a:srgbClr val="5B6B80"/>
                          </a:solidFill>
                          <a:latin typeface="Consolas"/>
                        </a:rPr>
                        <a:t>PORT DOSYASI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STM32H563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Cortex-M33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Synopsys EQOS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eth_port_eqos.c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STM32H743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Cortex-M7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Synopsys EQOS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eth_port_eqos.c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STM32F407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Cortex-M4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Klasik GMAC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eth_port_gmac.c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STM32F767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Cortex-M7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Klasik GMAC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rgbClr val="101826"/>
                          </a:solidFill>
                          <a:latin typeface="Calibri"/>
                        </a:rPr>
                        <a:t>eth_port_gmac.c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4617874" name="Rounded Rectangle 7"/>
          <p:cNvSpPr/>
          <p:nvPr/>
        </p:nvSpPr>
        <p:spPr bwMode="auto">
          <a:xfrm>
            <a:off x="502920" y="3931920"/>
            <a:ext cx="1435607" cy="310896"/>
          </a:xfrm>
          <a:prstGeom prst="roundRect">
            <a:avLst>
              <a:gd name="adj" fmla="val 50000"/>
            </a:avLst>
          </a:prstGeom>
          <a:solidFill>
            <a:srgbClr val="DFF2EA"/>
          </a:solidFill>
          <a:ln w="9525">
            <a:solidFill>
              <a:srgbClr val="179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50" b="1" i="0">
                <a:solidFill>
                  <a:srgbClr val="17936B"/>
                </a:solidFill>
                <a:latin typeface="Consolas"/>
              </a:rPr>
              <a:t>PHY: LAN8720A</a:t>
            </a:r>
            <a:endParaRPr/>
          </a:p>
        </p:txBody>
      </p:sp>
      <p:sp>
        <p:nvSpPr>
          <p:cNvPr id="843088991" name="Rounded Rectangle 8"/>
          <p:cNvSpPr/>
          <p:nvPr/>
        </p:nvSpPr>
        <p:spPr bwMode="auto">
          <a:xfrm>
            <a:off x="2066543" y="3931920"/>
            <a:ext cx="1435607" cy="310896"/>
          </a:xfrm>
          <a:prstGeom prst="roundRect">
            <a:avLst>
              <a:gd name="adj" fmla="val 50000"/>
            </a:avLst>
          </a:prstGeom>
          <a:solidFill>
            <a:srgbClr val="DFF2EA"/>
          </a:solidFill>
          <a:ln w="9525">
            <a:solidFill>
              <a:srgbClr val="179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50" b="1" i="0">
                <a:solidFill>
                  <a:srgbClr val="17936B"/>
                </a:solidFill>
                <a:latin typeface="Consolas"/>
              </a:rPr>
              <a:t>PHY: LAN8742A</a:t>
            </a:r>
            <a:endParaRPr/>
          </a:p>
        </p:txBody>
      </p:sp>
      <p:sp>
        <p:nvSpPr>
          <p:cNvPr id="820430108" name="Rounded Rectangle 9"/>
          <p:cNvSpPr/>
          <p:nvPr/>
        </p:nvSpPr>
        <p:spPr bwMode="auto">
          <a:xfrm>
            <a:off x="3630166" y="393192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DFF2EA"/>
          </a:solidFill>
          <a:ln w="9525">
            <a:solidFill>
              <a:srgbClr val="179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50" b="1" i="0">
                <a:solidFill>
                  <a:srgbClr val="17936B"/>
                </a:solidFill>
                <a:latin typeface="Consolas"/>
              </a:rPr>
              <a:t>PHY: KSZ8081</a:t>
            </a:r>
            <a:endParaRPr/>
          </a:p>
        </p:txBody>
      </p:sp>
      <p:sp>
        <p:nvSpPr>
          <p:cNvPr id="1064340945" name="TextBox 10"/>
          <p:cNvSpPr txBox="1"/>
          <p:nvPr/>
        </p:nvSpPr>
        <p:spPr bwMode="auto">
          <a:xfrm>
            <a:off x="502920" y="448056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50" b="0" i="1">
                <a:solidFill>
                  <a:srgbClr val="5B6B80"/>
                </a:solidFill>
                <a:latin typeface="Calibri"/>
              </a:rPr>
              <a:t>Yeni bir MCU eklemek = </a:t>
            </a:r>
            <a:r>
              <a:rPr sz="1150" b="1" i="1">
                <a:solidFill>
                  <a:srgbClr val="5B6B80"/>
                </a:solidFill>
                <a:latin typeface="Calibri"/>
              </a:rPr>
              <a:t>eth_device.h</a:t>
            </a:r>
            <a:r>
              <a:rPr sz="1150" b="0" i="1">
                <a:solidFill>
                  <a:srgbClr val="5B6B80"/>
                </a:solidFill>
                <a:latin typeface="Calibri"/>
              </a:rPr>
              <a:t> içine birkaç satır. Port ve PHY dosyalarına </a:t>
            </a:r>
            <a:r>
              <a:rPr sz="1150" b="1" i="1">
                <a:solidFill>
                  <a:srgbClr val="5B6B80"/>
                </a:solidFill>
                <a:latin typeface="Calibri"/>
              </a:rPr>
              <a:t>hiç dokunulmaz.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7986097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89602936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06 · ÇEKIRDEK SÜRÜCÜ</a:t>
            </a:r>
            <a:endParaRPr/>
          </a:p>
        </p:txBody>
      </p:sp>
      <p:sp>
        <p:nvSpPr>
          <p:cNvPr id="1549273764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Paylaşılan halka, net kurallar</a:t>
            </a:r>
            <a:endParaRPr/>
          </a:p>
        </p:txBody>
      </p:sp>
      <p:sp>
        <p:nvSpPr>
          <p:cNvPr id="33688046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8 elemanlı RX descriptor halkası (ring) — her eleman ya DMA'nın ya CPU'nun sahipliğindedir, ikisi asla aynı anda değil.</a:t>
            </a:r>
            <a:endParaRPr/>
          </a:p>
        </p:txBody>
      </p:sp>
      <p:sp>
        <p:nvSpPr>
          <p:cNvPr id="731962150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925137489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07 / 15</a:t>
            </a:r>
            <a:endParaRPr/>
          </a:p>
        </p:txBody>
      </p:sp>
      <p:sp>
        <p:nvSpPr>
          <p:cNvPr id="825456305" name="Rounded Rectangle 7"/>
          <p:cNvSpPr/>
          <p:nvPr/>
        </p:nvSpPr>
        <p:spPr bwMode="auto">
          <a:xfrm>
            <a:off x="502920" y="2148840"/>
            <a:ext cx="3545738" cy="320040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9916362" name="TextBox 8"/>
          <p:cNvSpPr txBox="1"/>
          <p:nvPr/>
        </p:nvSpPr>
        <p:spPr bwMode="auto">
          <a:xfrm>
            <a:off x="704088" y="2350008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01  Zero-copy</a:t>
            </a:r>
            <a:endParaRPr/>
          </a:p>
        </p:txBody>
      </p:sp>
      <p:sp>
        <p:nvSpPr>
          <p:cNvPr id="1737789223" name="TextBox 9"/>
          <p:cNvSpPr txBox="1"/>
          <p:nvPr/>
        </p:nvSpPr>
        <p:spPr bwMode="auto">
          <a:xfrm>
            <a:off x="704088" y="2734056"/>
            <a:ext cx="3143402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DMA'nın tamponuna doğrudan yazılır — aradan </a:t>
            </a:r>
            <a:r>
              <a:rPr sz="1250" b="1" i="0">
                <a:solidFill>
                  <a:srgbClr val="5B6B80"/>
                </a:solidFill>
                <a:latin typeface="Calibri"/>
              </a:rPr>
              <a:t>memcpy</a:t>
            </a:r>
            <a:r>
              <a:rPr sz="1250" b="0" i="0">
                <a:solidFill>
                  <a:srgbClr val="5B6B80"/>
                </a:solidFill>
                <a:latin typeface="Calibri"/>
              </a:rPr>
              <a:t> geçmez.</a:t>
            </a:r>
            <a:endParaRPr/>
          </a:p>
        </p:txBody>
      </p:sp>
      <p:sp>
        <p:nvSpPr>
          <p:cNvPr id="576301691" name="Rounded Rectangle 10"/>
          <p:cNvSpPr/>
          <p:nvPr/>
        </p:nvSpPr>
        <p:spPr bwMode="auto">
          <a:xfrm>
            <a:off x="4322978" y="2148840"/>
            <a:ext cx="3545738" cy="320040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1171055" name="TextBox 11"/>
          <p:cNvSpPr txBox="1"/>
          <p:nvPr/>
        </p:nvSpPr>
        <p:spPr bwMode="auto">
          <a:xfrm>
            <a:off x="4524146" y="2350008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02  OWN biti</a:t>
            </a:r>
            <a:endParaRPr/>
          </a:p>
        </p:txBody>
      </p:sp>
      <p:sp>
        <p:nvSpPr>
          <p:cNvPr id="1313441716" name="TextBox 12"/>
          <p:cNvSpPr txBox="1"/>
          <p:nvPr/>
        </p:nvSpPr>
        <p:spPr bwMode="auto">
          <a:xfrm>
            <a:off x="4524146" y="2734056"/>
            <a:ext cx="3143402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CPU ve DMA aynı descriptor dizisini tek bir sahiplik bitiyle paylaşır — kesme olmadan bile veri yarışı oluşmaz.</a:t>
            </a:r>
            <a:endParaRPr/>
          </a:p>
        </p:txBody>
      </p:sp>
      <p:sp>
        <p:nvSpPr>
          <p:cNvPr id="1150742834" name="Rounded Rectangle 13"/>
          <p:cNvSpPr/>
          <p:nvPr/>
        </p:nvSpPr>
        <p:spPr bwMode="auto">
          <a:xfrm>
            <a:off x="8143036" y="2148840"/>
            <a:ext cx="3545738" cy="320040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901123" name="TextBox 14"/>
          <p:cNvSpPr txBox="1"/>
          <p:nvPr/>
        </p:nvSpPr>
        <p:spPr bwMode="auto">
          <a:xfrm>
            <a:off x="8344204" y="2350008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03  MPU + non-cacheable</a:t>
            </a:r>
            <a:endParaRPr/>
          </a:p>
        </p:txBody>
      </p:sp>
      <p:sp>
        <p:nvSpPr>
          <p:cNvPr id="1164134617" name="TextBox 15"/>
          <p:cNvSpPr txBox="1"/>
          <p:nvPr/>
        </p:nvSpPr>
        <p:spPr bwMode="auto">
          <a:xfrm>
            <a:off x="8344204" y="2734056"/>
            <a:ext cx="3143402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DMA'nın yazdığı veri CPU cache'ten değil, doğrudan bellekten okunur.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9830550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44478232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07 · UYGULAMA KATMANI</a:t>
            </a:r>
            <a:endParaRPr/>
          </a:p>
        </p:txBody>
      </p:sp>
      <p:sp>
        <p:nvSpPr>
          <p:cNvPr id="82701931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Paket işleme akışı</a:t>
            </a:r>
            <a:endParaRPr/>
          </a:p>
        </p:txBody>
      </p:sp>
      <p:sp>
        <p:nvSpPr>
          <p:cNvPr id="1131642172" name="TextBox 4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625872298" name="TextBox 5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08 / 15</a:t>
            </a:r>
            <a:endParaRPr/>
          </a:p>
        </p:txBody>
      </p:sp>
      <p:sp>
        <p:nvSpPr>
          <p:cNvPr id="38293022" name="Rounded Rectangle 6"/>
          <p:cNvSpPr/>
          <p:nvPr/>
        </p:nvSpPr>
        <p:spPr bwMode="auto">
          <a:xfrm>
            <a:off x="615791" y="3762613"/>
            <a:ext cx="1015840" cy="316039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Gelen çerçeve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zero-copy (DMA)</a:t>
            </a:r>
            <a:endParaRPr/>
          </a:p>
        </p:txBody>
      </p:sp>
      <p:cxnSp>
        <p:nvCxnSpPr>
          <p:cNvPr id="1039331813" name="Connector 7"/>
          <p:cNvCxnSpPr/>
          <p:nvPr/>
        </p:nvCxnSpPr>
        <p:spPr bwMode="auto">
          <a:xfrm>
            <a:off x="1631632" y="3920632"/>
            <a:ext cx="225743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387023" name="Isosceles Triangle 8"/>
          <p:cNvSpPr/>
          <p:nvPr/>
        </p:nvSpPr>
        <p:spPr bwMode="auto">
          <a:xfrm rot="5400000">
            <a:off x="1825371" y="3888628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345417" name="Rounded Rectangle 9"/>
          <p:cNvSpPr/>
          <p:nvPr/>
        </p:nvSpPr>
        <p:spPr bwMode="auto">
          <a:xfrm>
            <a:off x="1857375" y="3762613"/>
            <a:ext cx="846534" cy="316039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EtherType?</a:t>
            </a:r>
            <a:endParaRPr/>
          </a:p>
        </p:txBody>
      </p:sp>
      <p:cxnSp>
        <p:nvCxnSpPr>
          <p:cNvPr id="1144957103" name="Connector 10"/>
          <p:cNvCxnSpPr/>
          <p:nvPr/>
        </p:nvCxnSpPr>
        <p:spPr bwMode="auto">
          <a:xfrm flipV="1">
            <a:off x="2703909" y="3028950"/>
            <a:ext cx="620792" cy="801385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5713420" name="Isosceles Triangle 11"/>
          <p:cNvSpPr/>
          <p:nvPr/>
        </p:nvSpPr>
        <p:spPr bwMode="auto">
          <a:xfrm rot="2265785">
            <a:off x="3292697" y="2996946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968061" name="TextBox 12"/>
          <p:cNvSpPr txBox="1"/>
          <p:nvPr/>
        </p:nvSpPr>
        <p:spPr bwMode="auto">
          <a:xfrm>
            <a:off x="1775936" y="3238761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ARP</a:t>
            </a:r>
            <a:endParaRPr/>
          </a:p>
        </p:txBody>
      </p:sp>
      <p:sp>
        <p:nvSpPr>
          <p:cNvPr id="802519643" name="Rounded Rectangle 13"/>
          <p:cNvSpPr/>
          <p:nvPr/>
        </p:nvSpPr>
        <p:spPr bwMode="auto">
          <a:xfrm>
            <a:off x="3324701" y="2859643"/>
            <a:ext cx="1467326" cy="327326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arp_handle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cache güncelle + yanıt</a:t>
            </a:r>
            <a:endParaRPr/>
          </a:p>
        </p:txBody>
      </p:sp>
      <p:cxnSp>
        <p:nvCxnSpPr>
          <p:cNvPr id="697277687" name="Connector 14"/>
          <p:cNvCxnSpPr/>
          <p:nvPr/>
        </p:nvCxnSpPr>
        <p:spPr bwMode="auto">
          <a:xfrm>
            <a:off x="2703909" y="4010929"/>
            <a:ext cx="620792" cy="598218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5843170" name="Isosceles Triangle 15"/>
          <p:cNvSpPr/>
          <p:nvPr/>
        </p:nvSpPr>
        <p:spPr bwMode="auto">
          <a:xfrm rot="8036345">
            <a:off x="3292697" y="4577143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444758" name="TextBox 16"/>
          <p:cNvSpPr txBox="1"/>
          <p:nvPr/>
        </p:nvSpPr>
        <p:spPr bwMode="auto">
          <a:xfrm>
            <a:off x="1804154" y="4282821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IPv4</a:t>
            </a:r>
            <a:endParaRPr/>
          </a:p>
        </p:txBody>
      </p:sp>
      <p:sp>
        <p:nvSpPr>
          <p:cNvPr id="432962527" name="Rounded Rectangle 17"/>
          <p:cNvSpPr/>
          <p:nvPr/>
        </p:nvSpPr>
        <p:spPr bwMode="auto">
          <a:xfrm>
            <a:off x="3324701" y="4439840"/>
            <a:ext cx="846534" cy="316039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IP proto?</a:t>
            </a:r>
            <a:endParaRPr/>
          </a:p>
        </p:txBody>
      </p:sp>
      <p:cxnSp>
        <p:nvCxnSpPr>
          <p:cNvPr id="2607590" name="Connector 18"/>
          <p:cNvCxnSpPr/>
          <p:nvPr/>
        </p:nvCxnSpPr>
        <p:spPr bwMode="auto">
          <a:xfrm flipV="1">
            <a:off x="3747968" y="4101226"/>
            <a:ext cx="0" cy="338614"/>
          </a:xfrm>
          <a:prstGeom prst="line">
            <a:avLst/>
          </a:prstGeom>
          <a:ln w="13970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776156" name="Isosceles Triangle 19"/>
          <p:cNvSpPr/>
          <p:nvPr/>
        </p:nvSpPr>
        <p:spPr bwMode="auto">
          <a:xfrm>
            <a:off x="3715964" y="4069222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339556" name="TextBox 20"/>
          <p:cNvSpPr txBox="1"/>
          <p:nvPr/>
        </p:nvSpPr>
        <p:spPr bwMode="auto">
          <a:xfrm>
            <a:off x="3089814" y="4141731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650" b="0" i="0">
                <a:solidFill>
                  <a:srgbClr val="5B6B80"/>
                </a:solidFill>
                <a:latin typeface="Consolas"/>
              </a:rPr>
              <a:t>MF=1 / offset≠0</a:t>
            </a:r>
            <a:endParaRPr/>
          </a:p>
        </p:txBody>
      </p:sp>
      <p:sp>
        <p:nvSpPr>
          <p:cNvPr id="253822265" name="Rounded Rectangle 21"/>
          <p:cNvSpPr/>
          <p:nvPr/>
        </p:nvSpPr>
        <p:spPr bwMode="auto">
          <a:xfrm>
            <a:off x="2986086" y="3819048"/>
            <a:ext cx="1523761" cy="259603"/>
          </a:xfrm>
          <a:prstGeom prst="roundRect">
            <a:avLst>
              <a:gd name="adj" fmla="val 14000"/>
            </a:avLst>
          </a:prstGeom>
          <a:solidFill>
            <a:srgbClr val="F7ECD9"/>
          </a:solidFill>
          <a:ln w="15240">
            <a:solidFill>
              <a:srgbClr val="B6720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800" b="1" i="0">
                <a:solidFill>
                  <a:srgbClr val="101826"/>
                </a:solidFill>
                <a:latin typeface="Calibri"/>
              </a:rPr>
              <a:t>sessizce düşür</a:t>
            </a:r>
            <a:endParaRPr/>
          </a:p>
          <a:p>
            <a:pPr algn="ctr">
              <a:defRPr/>
            </a:pPr>
            <a:r>
              <a:rPr sz="650" b="0" i="0">
                <a:solidFill>
                  <a:srgbClr val="5B6B80"/>
                </a:solidFill>
                <a:latin typeface="Calibri"/>
              </a:rPr>
              <a:t>reassembly yok — bilinçli kısıt</a:t>
            </a:r>
            <a:endParaRPr/>
          </a:p>
        </p:txBody>
      </p:sp>
      <p:cxnSp>
        <p:nvCxnSpPr>
          <p:cNvPr id="73374053" name="Connector 22"/>
          <p:cNvCxnSpPr/>
          <p:nvPr/>
        </p:nvCxnSpPr>
        <p:spPr bwMode="auto">
          <a:xfrm flipV="1">
            <a:off x="4171235" y="3762613"/>
            <a:ext cx="846534" cy="74495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143813" name="Isosceles Triangle 23"/>
          <p:cNvSpPr/>
          <p:nvPr/>
        </p:nvSpPr>
        <p:spPr bwMode="auto">
          <a:xfrm rot="2919133">
            <a:off x="4985766" y="3730609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213394" name="TextBox 24"/>
          <p:cNvSpPr txBox="1"/>
          <p:nvPr/>
        </p:nvSpPr>
        <p:spPr bwMode="auto">
          <a:xfrm>
            <a:off x="3553658" y="3972425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ICMP echo</a:t>
            </a:r>
            <a:endParaRPr/>
          </a:p>
        </p:txBody>
      </p:sp>
      <p:sp>
        <p:nvSpPr>
          <p:cNvPr id="841212683" name="Rounded Rectangle 25"/>
          <p:cNvSpPr/>
          <p:nvPr/>
        </p:nvSpPr>
        <p:spPr bwMode="auto">
          <a:xfrm>
            <a:off x="5017770" y="3593306"/>
            <a:ext cx="1354455" cy="316039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icmp_handle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yanıt hesapla</a:t>
            </a:r>
            <a:endParaRPr/>
          </a:p>
        </p:txBody>
      </p:sp>
      <p:cxnSp>
        <p:nvCxnSpPr>
          <p:cNvPr id="70080525" name="Connector 26"/>
          <p:cNvCxnSpPr/>
          <p:nvPr/>
        </p:nvCxnSpPr>
        <p:spPr bwMode="auto">
          <a:xfrm>
            <a:off x="4171235" y="4699444"/>
            <a:ext cx="846534" cy="248317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5755052" name="Isosceles Triangle 27"/>
          <p:cNvSpPr/>
          <p:nvPr/>
        </p:nvSpPr>
        <p:spPr bwMode="auto">
          <a:xfrm rot="6380890">
            <a:off x="4985766" y="4915757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031776" name="TextBox 28"/>
          <p:cNvSpPr txBox="1"/>
          <p:nvPr/>
        </p:nvSpPr>
        <p:spPr bwMode="auto">
          <a:xfrm>
            <a:off x="3553658" y="4790741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UDP</a:t>
            </a:r>
            <a:endParaRPr/>
          </a:p>
        </p:txBody>
      </p:sp>
      <p:sp>
        <p:nvSpPr>
          <p:cNvPr id="116696475" name="Rounded Rectangle 29"/>
          <p:cNvSpPr/>
          <p:nvPr/>
        </p:nvSpPr>
        <p:spPr bwMode="auto">
          <a:xfrm>
            <a:off x="5017770" y="4778454"/>
            <a:ext cx="846534" cy="316039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hedef port?</a:t>
            </a:r>
            <a:endParaRPr/>
          </a:p>
        </p:txBody>
      </p:sp>
      <p:cxnSp>
        <p:nvCxnSpPr>
          <p:cNvPr id="1590384795" name="Connector 30"/>
          <p:cNvCxnSpPr/>
          <p:nvPr/>
        </p:nvCxnSpPr>
        <p:spPr bwMode="auto">
          <a:xfrm flipV="1">
            <a:off x="5864304" y="4439840"/>
            <a:ext cx="620792" cy="417624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634117" name="Isosceles Triangle 31"/>
          <p:cNvSpPr/>
          <p:nvPr/>
        </p:nvSpPr>
        <p:spPr bwMode="auto">
          <a:xfrm rot="3364212">
            <a:off x="6453092" y="4407836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074459" name="TextBox 32"/>
          <p:cNvSpPr txBox="1"/>
          <p:nvPr/>
        </p:nvSpPr>
        <p:spPr bwMode="auto">
          <a:xfrm>
            <a:off x="5745718" y="4536781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B6B80"/>
                </a:solidFill>
                <a:latin typeface="Consolas"/>
              </a:rPr>
              <a:t>5000</a:t>
            </a:r>
            <a:endParaRPr/>
          </a:p>
        </p:txBody>
      </p:sp>
      <p:sp>
        <p:nvSpPr>
          <p:cNvPr id="585878670" name="Rounded Rectangle 33"/>
          <p:cNvSpPr/>
          <p:nvPr/>
        </p:nvSpPr>
        <p:spPr bwMode="auto">
          <a:xfrm>
            <a:off x="6485096" y="4270533"/>
            <a:ext cx="1128712" cy="316039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eaetis_handle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komut dağıtımı</a:t>
            </a:r>
            <a:endParaRPr/>
          </a:p>
        </p:txBody>
      </p:sp>
      <p:cxnSp>
        <p:nvCxnSpPr>
          <p:cNvPr id="547115005" name="Connector 34"/>
          <p:cNvCxnSpPr/>
          <p:nvPr/>
        </p:nvCxnSpPr>
        <p:spPr bwMode="auto">
          <a:xfrm>
            <a:off x="5864304" y="5015484"/>
            <a:ext cx="620792" cy="327326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894350" name="Isosceles Triangle 35"/>
          <p:cNvSpPr/>
          <p:nvPr/>
        </p:nvSpPr>
        <p:spPr bwMode="auto">
          <a:xfrm rot="7068088">
            <a:off x="6453092" y="5310806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946145" name="TextBox 36"/>
          <p:cNvSpPr txBox="1"/>
          <p:nvPr/>
        </p:nvSpPr>
        <p:spPr bwMode="auto">
          <a:xfrm>
            <a:off x="5745718" y="515757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00" b="0" i="0">
                <a:solidFill>
                  <a:srgbClr val="5B6B80"/>
                </a:solidFill>
                <a:latin typeface="Consolas"/>
              </a:rPr>
              <a:t>diğer</a:t>
            </a:r>
            <a:endParaRPr/>
          </a:p>
        </p:txBody>
      </p:sp>
      <p:sp>
        <p:nvSpPr>
          <p:cNvPr id="359705175" name="Rounded Rectangle 37"/>
          <p:cNvSpPr/>
          <p:nvPr/>
        </p:nvSpPr>
        <p:spPr bwMode="auto">
          <a:xfrm>
            <a:off x="6485096" y="5173503"/>
            <a:ext cx="1128712" cy="316039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900" b="1" i="0">
                <a:solidFill>
                  <a:srgbClr val="101826"/>
                </a:solidFill>
                <a:latin typeface="Calibri"/>
              </a:rPr>
              <a:t>kullanıcı callback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RegisterUDPCallback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901788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42610186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08 · IAP BOOTLOADER</a:t>
            </a:r>
            <a:endParaRPr/>
          </a:p>
        </p:txBody>
      </p:sp>
      <p:sp>
        <p:nvSpPr>
          <p:cNvPr id="917568466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Ağ üzerinden firmware güncelleme</a:t>
            </a:r>
            <a:endParaRPr/>
          </a:p>
        </p:txBody>
      </p:sp>
      <p:sp>
        <p:nvSpPr>
          <p:cNvPr id="1054393791" name="TextBox 4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750100809" name="TextBox 5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09 / 15</a:t>
            </a:r>
            <a:endParaRPr/>
          </a:p>
        </p:txBody>
      </p:sp>
      <p:sp>
        <p:nvSpPr>
          <p:cNvPr id="541683555" name="Rounded Rectangle 6"/>
          <p:cNvSpPr/>
          <p:nvPr/>
        </p:nvSpPr>
        <p:spPr bwMode="auto">
          <a:xfrm>
            <a:off x="1462325" y="2042398"/>
            <a:ext cx="1241583" cy="282178"/>
          </a:xfrm>
          <a:prstGeom prst="roundRect">
            <a:avLst>
              <a:gd name="adj" fmla="val 14000"/>
            </a:avLst>
          </a:prstGeom>
          <a:solidFill>
            <a:srgbClr val="DFF1F5"/>
          </a:solidFill>
          <a:ln w="19050">
            <a:solidFill>
              <a:srgbClr val="0E9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1100" b="1" i="0">
                <a:solidFill>
                  <a:srgbClr val="101826"/>
                </a:solidFill>
                <a:latin typeface="Calibri"/>
              </a:rPr>
              <a:t>E-AETIS GUI</a:t>
            </a:r>
            <a:endParaRPr/>
          </a:p>
        </p:txBody>
      </p:sp>
      <p:cxnSp>
        <p:nvCxnSpPr>
          <p:cNvPr id="384656572" name="Connector 7"/>
          <p:cNvCxnSpPr/>
          <p:nvPr/>
        </p:nvCxnSpPr>
        <p:spPr bwMode="auto">
          <a:xfrm>
            <a:off x="2083117" y="2324576"/>
            <a:ext cx="0" cy="2821781"/>
          </a:xfrm>
          <a:prstGeom prst="line">
            <a:avLst/>
          </a:prstGeom>
          <a:ln w="15240">
            <a:solidFill>
              <a:srgbClr val="DBE1E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6366287" name="Rounded Rectangle 8"/>
          <p:cNvSpPr/>
          <p:nvPr/>
        </p:nvSpPr>
        <p:spPr bwMode="auto">
          <a:xfrm>
            <a:off x="5525690" y="2042398"/>
            <a:ext cx="1241583" cy="282178"/>
          </a:xfrm>
          <a:prstGeom prst="roundRect">
            <a:avLst>
              <a:gd name="adj" fmla="val 14000"/>
            </a:avLst>
          </a:prstGeom>
          <a:solidFill>
            <a:srgbClr val="DFF1F5"/>
          </a:solidFill>
          <a:ln w="19050">
            <a:solidFill>
              <a:srgbClr val="0E9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1100" b="1" i="0">
                <a:solidFill>
                  <a:srgbClr val="101826"/>
                </a:solidFill>
                <a:latin typeface="Calibri"/>
              </a:rPr>
              <a:t>STM32 Kart</a:t>
            </a:r>
            <a:endParaRPr/>
          </a:p>
        </p:txBody>
      </p:sp>
      <p:cxnSp>
        <p:nvCxnSpPr>
          <p:cNvPr id="826912549" name="Connector 9"/>
          <p:cNvCxnSpPr/>
          <p:nvPr/>
        </p:nvCxnSpPr>
        <p:spPr bwMode="auto">
          <a:xfrm>
            <a:off x="6146481" y="2324576"/>
            <a:ext cx="0" cy="2821781"/>
          </a:xfrm>
          <a:prstGeom prst="line">
            <a:avLst/>
          </a:prstGeom>
          <a:ln w="15240">
            <a:solidFill>
              <a:srgbClr val="DBE1E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472246" name="Connector 10"/>
          <p:cNvCxnSpPr/>
          <p:nvPr/>
        </p:nvCxnSpPr>
        <p:spPr bwMode="auto">
          <a:xfrm>
            <a:off x="2083117" y="2606754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063099" name="Isosceles Triangle 11"/>
          <p:cNvSpPr/>
          <p:nvPr/>
        </p:nvSpPr>
        <p:spPr bwMode="auto">
          <a:xfrm rot="5400000">
            <a:off x="6114478" y="2574750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461243" name="TextBox 12"/>
          <p:cNvSpPr txBox="1"/>
          <p:nvPr/>
        </p:nvSpPr>
        <p:spPr bwMode="auto">
          <a:xfrm>
            <a:off x="2103120" y="2449733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START_IAP | SIZE:n | CRC:0x..</a:t>
            </a:r>
            <a:endParaRPr/>
          </a:p>
        </p:txBody>
      </p:sp>
      <p:cxnSp>
        <p:nvCxnSpPr>
          <p:cNvPr id="608901788" name="Connector 13"/>
          <p:cNvCxnSpPr/>
          <p:nvPr/>
        </p:nvCxnSpPr>
        <p:spPr bwMode="auto">
          <a:xfrm flipH="1">
            <a:off x="2083117" y="2888932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7878073" name="Isosceles Triangle 14"/>
          <p:cNvSpPr/>
          <p:nvPr/>
        </p:nvSpPr>
        <p:spPr bwMode="auto">
          <a:xfrm rot="16199999">
            <a:off x="2051113" y="2856928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2976718" name="TextBox 15"/>
          <p:cNvSpPr txBox="1"/>
          <p:nvPr/>
        </p:nvSpPr>
        <p:spPr bwMode="auto">
          <a:xfrm>
            <a:off x="3017519" y="273191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IAP_READY</a:t>
            </a:r>
            <a:endParaRPr/>
          </a:p>
        </p:txBody>
      </p:sp>
      <p:sp>
        <p:nvSpPr>
          <p:cNvPr id="156313543" name="Rounded Rectangle 16"/>
          <p:cNvSpPr/>
          <p:nvPr/>
        </p:nvSpPr>
        <p:spPr bwMode="auto">
          <a:xfrm>
            <a:off x="1800939" y="3058239"/>
            <a:ext cx="4627721" cy="846534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BE1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717904" name="TextBox 17"/>
          <p:cNvSpPr txBox="1"/>
          <p:nvPr/>
        </p:nvSpPr>
        <p:spPr bwMode="auto">
          <a:xfrm>
            <a:off x="1892379" y="3094815"/>
            <a:ext cx="444484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800" b="1" i="0">
                <a:solidFill>
                  <a:srgbClr val="0E93B4"/>
                </a:solidFill>
                <a:latin typeface="Consolas"/>
              </a:rPr>
              <a:t>DÖNGÜ · 512B PARÇA · EN FAZLA 3 DENEME</a:t>
            </a:r>
            <a:endParaRPr/>
          </a:p>
        </p:txBody>
      </p:sp>
      <p:cxnSp>
        <p:nvCxnSpPr>
          <p:cNvPr id="1704574622" name="Connector 18"/>
          <p:cNvCxnSpPr/>
          <p:nvPr/>
        </p:nvCxnSpPr>
        <p:spPr bwMode="auto">
          <a:xfrm>
            <a:off x="2083117" y="3453288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097713" name="Isosceles Triangle 19"/>
          <p:cNvSpPr/>
          <p:nvPr/>
        </p:nvSpPr>
        <p:spPr bwMode="auto">
          <a:xfrm rot="5400000">
            <a:off x="6114478" y="3421284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695423" name="TextBox 20"/>
          <p:cNvSpPr txBox="1"/>
          <p:nvPr/>
        </p:nvSpPr>
        <p:spPr bwMode="auto">
          <a:xfrm>
            <a:off x="2011680" y="3296269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FW_DATA | SEQ:i | LEN:n | &lt;binary&gt;</a:t>
            </a:r>
            <a:endParaRPr/>
          </a:p>
        </p:txBody>
      </p:sp>
      <p:cxnSp>
        <p:nvCxnSpPr>
          <p:cNvPr id="1269165229" name="Connector 21"/>
          <p:cNvCxnSpPr/>
          <p:nvPr/>
        </p:nvCxnSpPr>
        <p:spPr bwMode="auto">
          <a:xfrm flipH="1">
            <a:off x="2083117" y="3735466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3660505" name="Isosceles Triangle 22"/>
          <p:cNvSpPr/>
          <p:nvPr/>
        </p:nvSpPr>
        <p:spPr bwMode="auto">
          <a:xfrm rot="16199999">
            <a:off x="2051113" y="3703462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472819" name="TextBox 23"/>
          <p:cNvSpPr txBox="1"/>
          <p:nvPr/>
        </p:nvSpPr>
        <p:spPr bwMode="auto">
          <a:xfrm>
            <a:off x="3017519" y="3578447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ACK:i</a:t>
            </a:r>
            <a:endParaRPr/>
          </a:p>
        </p:txBody>
      </p:sp>
      <p:cxnSp>
        <p:nvCxnSpPr>
          <p:cNvPr id="1384944689" name="Connector 24"/>
          <p:cNvCxnSpPr/>
          <p:nvPr/>
        </p:nvCxnSpPr>
        <p:spPr bwMode="auto">
          <a:xfrm>
            <a:off x="2083117" y="4186951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604223" name="Isosceles Triangle 25"/>
          <p:cNvSpPr/>
          <p:nvPr/>
        </p:nvSpPr>
        <p:spPr bwMode="auto">
          <a:xfrm rot="5400000">
            <a:off x="6114478" y="4154947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881391" name="TextBox 26"/>
          <p:cNvSpPr txBox="1"/>
          <p:nvPr/>
        </p:nvSpPr>
        <p:spPr bwMode="auto">
          <a:xfrm>
            <a:off x="3017519" y="402993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END_IAP</a:t>
            </a:r>
            <a:endParaRPr/>
          </a:p>
        </p:txBody>
      </p:sp>
      <p:sp>
        <p:nvSpPr>
          <p:cNvPr id="352169687" name="Rounded Rectangle 27"/>
          <p:cNvSpPr/>
          <p:nvPr/>
        </p:nvSpPr>
        <p:spPr bwMode="auto">
          <a:xfrm>
            <a:off x="5299948" y="4299823"/>
            <a:ext cx="1693068" cy="293465"/>
          </a:xfrm>
          <a:prstGeom prst="roundRect">
            <a:avLst>
              <a:gd name="adj" fmla="val 14000"/>
            </a:avLst>
          </a:prstGeom>
          <a:solidFill>
            <a:srgbClr val="F7ECD9"/>
          </a:solidFill>
          <a:ln w="15240">
            <a:solidFill>
              <a:srgbClr val="B6720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/>
            </a:pPr>
            <a:r>
              <a:rPr sz="750" b="0" i="0">
                <a:solidFill>
                  <a:srgbClr val="101826"/>
                </a:solidFill>
                <a:latin typeface="Calibri"/>
              </a:rPr>
              <a:t>CRC32 doğrula → VTOR taşı → MSP ayarla</a:t>
            </a:r>
            <a:endParaRPr/>
          </a:p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alibri"/>
              </a:rPr>
              <a:t>yeni uygulamaya atla</a:t>
            </a:r>
            <a:endParaRPr/>
          </a:p>
        </p:txBody>
      </p:sp>
      <p:cxnSp>
        <p:nvCxnSpPr>
          <p:cNvPr id="2093303863" name="Connector 28"/>
          <p:cNvCxnSpPr/>
          <p:nvPr/>
        </p:nvCxnSpPr>
        <p:spPr bwMode="auto">
          <a:xfrm flipH="1">
            <a:off x="2083117" y="4751308"/>
            <a:ext cx="4063365" cy="0"/>
          </a:xfrm>
          <a:prstGeom prst="line">
            <a:avLst/>
          </a:prstGeom>
          <a:ln w="13970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777875" name="Isosceles Triangle 29"/>
          <p:cNvSpPr/>
          <p:nvPr/>
        </p:nvSpPr>
        <p:spPr bwMode="auto">
          <a:xfrm rot="16199999">
            <a:off x="2051113" y="4719303"/>
            <a:ext cx="64008" cy="64008"/>
          </a:xfrm>
          <a:prstGeom prst="triangle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1806019" name="TextBox 30"/>
          <p:cNvSpPr txBox="1"/>
          <p:nvPr/>
        </p:nvSpPr>
        <p:spPr bwMode="auto">
          <a:xfrm>
            <a:off x="2651760" y="45942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 i="0">
                <a:solidFill>
                  <a:srgbClr val="5B6B80"/>
                </a:solidFill>
                <a:latin typeface="Consolas"/>
              </a:rPr>
              <a:t>FLASH_SUCCESS | JUMP_OK</a:t>
            </a:r>
            <a:endParaRPr/>
          </a:p>
        </p:txBody>
      </p:sp>
      <p:pic>
        <p:nvPicPr>
          <p:cNvPr id="288144822" name="Picture 31" descr="08_eylul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223300" y="1349055"/>
            <a:ext cx="4792690" cy="3168048"/>
          </a:xfrm>
          <a:prstGeom prst="rect">
            <a:avLst/>
          </a:prstGeom>
          <a:ln w="12700">
            <a:solidFill>
              <a:srgbClr val="DBE1EA"/>
            </a:solidFill>
          </a:ln>
        </p:spPr>
      </p:pic>
      <p:sp>
        <p:nvSpPr>
          <p:cNvPr id="130197953" name="TextBox 32"/>
          <p:cNvSpPr txBox="1"/>
          <p:nvPr/>
        </p:nvSpPr>
        <p:spPr bwMode="auto">
          <a:xfrm>
            <a:off x="8081149" y="4751307"/>
            <a:ext cx="3687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5B6B80"/>
                </a:solidFill>
                <a:latin typeface="Calibri"/>
              </a:rPr>
              <a:t>GUI · Bootloader (IAP) — gerçek başarılı yükleme</a:t>
            </a:r>
            <a:endParaRPr/>
          </a:p>
        </p:txBody>
      </p:sp>
      <p:sp>
        <p:nvSpPr>
          <p:cNvPr id="2114456324" name="TextBox 33"/>
          <p:cNvSpPr txBox="1"/>
          <p:nvPr/>
        </p:nvSpPr>
        <p:spPr bwMode="auto">
          <a:xfrm>
            <a:off x="502920" y="5463539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50" b="0" i="1">
                <a:solidFill>
                  <a:srgbClr val="5B6B80"/>
                </a:solidFill>
                <a:latin typeface="Calibri"/>
              </a:rPr>
              <a:t>Tek banka, kimlik doğrulama yok — yalnızca CRC32 bütünlük kontrolü. Sadece izole/güvenilir ağlarda kullanılmalı.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3287974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90304088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09 · TEST ARAYÜZÜ</a:t>
            </a:r>
            <a:endParaRPr/>
          </a:p>
        </p:txBody>
      </p:sp>
      <p:sp>
        <p:nvSpPr>
          <p:cNvPr id="587056620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Geliştirdiğim arayüzle kart canlı olarak izlenip test edilir</a:t>
            </a:r>
            <a:endParaRPr/>
          </a:p>
        </p:txBody>
      </p:sp>
      <p:sp>
        <p:nvSpPr>
          <p:cNvPr id="301381822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Yedi ayrı sekme: kart verilerini izleme, bağlantı testi, performans ölçümü, arıza testi ve yazılım güncelleme.</a:t>
            </a:r>
            <a:endParaRPr/>
          </a:p>
        </p:txBody>
      </p:sp>
      <p:sp>
        <p:nvSpPr>
          <p:cNvPr id="1380382384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882545662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10 / 15</a:t>
            </a:r>
            <a:endParaRPr/>
          </a:p>
        </p:txBody>
      </p:sp>
      <p:pic>
        <p:nvPicPr>
          <p:cNvPr id="1888586474" name="Picture 7" descr="27_agustos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5825" y="1737173"/>
            <a:ext cx="7077074" cy="4243111"/>
          </a:xfrm>
          <a:prstGeom prst="rect">
            <a:avLst/>
          </a:prstGeom>
          <a:ln w="12700">
            <a:solidFill>
              <a:srgbClr val="DBE1EA"/>
            </a:solidFill>
          </a:ln>
        </p:spPr>
      </p:pic>
      <p:sp>
        <p:nvSpPr>
          <p:cNvPr id="276763006" name="TextBox 8"/>
          <p:cNvSpPr txBox="1"/>
          <p:nvPr/>
        </p:nvSpPr>
        <p:spPr bwMode="auto">
          <a:xfrm>
            <a:off x="1874520" y="6185153"/>
            <a:ext cx="60350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5B6B80"/>
                </a:solidFill>
                <a:latin typeface="Calibri"/>
              </a:rPr>
              <a:t>Kart G/Ç sekmesi — 5 değişken otomatik keşfedildi, canlı izleniyor (yanıt süresi 0.39 ms)</a:t>
            </a:r>
            <a:endParaRPr/>
          </a:p>
        </p:txBody>
      </p:sp>
      <p:graphicFrame>
        <p:nvGraphicFramePr>
          <p:cNvPr id="563224935" name="Table 9"/>
          <p:cNvGraphicFramePr>
            <a:graphicFrameLocks xmlns:a="http://schemas.openxmlformats.org/drawingml/2006/main" noGrp="1"/>
          </p:cNvGraphicFramePr>
          <p:nvPr/>
        </p:nvGraphicFramePr>
        <p:xfrm>
          <a:off x="8135324" y="2349499"/>
          <a:ext cx="3670923" cy="294576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6200"/>
                <a:gridCol w="2012023"/>
              </a:tblGrid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900" b="1" i="0">
                          <a:solidFill>
                            <a:srgbClr val="5B6B80"/>
                          </a:solidFill>
                          <a:latin typeface="Consolas"/>
                        </a:rPr>
                        <a:t>SEKME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900" b="1" i="0">
                          <a:solidFill>
                            <a:srgbClr val="5B6B80"/>
                          </a:solidFill>
                          <a:latin typeface="Consolas"/>
                        </a:rPr>
                        <a:t>İŞLEV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E7ECF5"/>
                    </a:solidFill>
                  </a:tcPr>
                </a:tc>
              </a:tr>
              <a:tr h="3857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Kart G/Ç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Otomatik değişken keşfi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Ping (ICMP)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Gecikme ölçümü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UDP Konsol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Serbest komut / log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PHY / DMA Teşhis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Register + istatistik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Performans &amp; Jitter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min / ort / p95 / max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Hata Enjeksiyonu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Fuzz + parçalanma testi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3909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Bootloader (IAP)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>
                          <a:solidFill>
                            <a:srgbClr val="101826"/>
                          </a:solidFill>
                          <a:latin typeface="Calibri"/>
                        </a:rPr>
                        <a:t>Ağdan firmware güncelleme</a:t>
                      </a:r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6621118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2506588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10 · SÜREÇ</a:t>
            </a:r>
            <a:endParaRPr/>
          </a:p>
        </p:txBody>
      </p:sp>
      <p:sp>
        <p:nvSpPr>
          <p:cNvPr id="627005041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Boş bir pencereden, ölçüm yapan bir araca</a:t>
            </a:r>
            <a:endParaRPr/>
          </a:p>
        </p:txBody>
      </p:sp>
      <p:sp>
        <p:nvSpPr>
          <p:cNvPr id="784964653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Arayüz de sürücü gibi gün gün, sekme sekme büyüdü — her yeni test yeteneği kartta çalışır hale geldikçe eklendi.</a:t>
            </a:r>
            <a:endParaRPr/>
          </a:p>
        </p:txBody>
      </p:sp>
      <p:sp>
        <p:nvSpPr>
          <p:cNvPr id="147473161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172641745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11 / 15</a:t>
            </a:r>
            <a:endParaRPr/>
          </a:p>
        </p:txBody>
      </p:sp>
      <p:pic>
        <p:nvPicPr>
          <p:cNvPr id="1878344112" name="Picture 7" descr="24_agustos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7446" y="1800224"/>
            <a:ext cx="5488400" cy="3758184"/>
          </a:xfrm>
          <a:prstGeom prst="rect">
            <a:avLst/>
          </a:prstGeom>
          <a:ln w="12700">
            <a:solidFill>
              <a:srgbClr val="DBE1EA"/>
            </a:solidFill>
          </a:ln>
        </p:spPr>
      </p:pic>
      <p:sp>
        <p:nvSpPr>
          <p:cNvPr id="1540227794" name="TextBox 8"/>
          <p:cNvSpPr txBox="1"/>
          <p:nvPr/>
        </p:nvSpPr>
        <p:spPr bwMode="auto">
          <a:xfrm>
            <a:off x="569594" y="571842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5B6B80"/>
                </a:solidFill>
                <a:latin typeface="Calibri"/>
              </a:rPr>
              <a:t>24 Ağustos · ilk iskelet</a:t>
            </a:r>
            <a:endParaRPr/>
          </a:p>
        </p:txBody>
      </p:sp>
      <p:pic>
        <p:nvPicPr>
          <p:cNvPr id="2007713929" name="Picture 9" descr="28_agustos_performans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264704" y="1778238"/>
            <a:ext cx="5718720" cy="3780170"/>
          </a:xfrm>
          <a:prstGeom prst="rect">
            <a:avLst/>
          </a:prstGeom>
          <a:ln w="12700">
            <a:solidFill>
              <a:srgbClr val="DBE1EA"/>
            </a:solidFill>
          </a:ln>
        </p:spPr>
      </p:pic>
      <p:sp>
        <p:nvSpPr>
          <p:cNvPr id="1664929203" name="TextBox 10"/>
          <p:cNvSpPr txBox="1"/>
          <p:nvPr/>
        </p:nvSpPr>
        <p:spPr bwMode="auto">
          <a:xfrm>
            <a:off x="6812280" y="555840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5B6B80"/>
                </a:solidFill>
                <a:latin typeface="Calibri"/>
              </a:rPr>
              <a:t>28 Ağustos · canlı performans testi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4234836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43331610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11 · DOĞRULAMA</a:t>
            </a:r>
            <a:endParaRPr/>
          </a:p>
        </p:txBody>
      </p:sp>
      <p:sp>
        <p:nvSpPr>
          <p:cNvPr id="652990379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Kartın üzerinde çalıştırıp gerçek verilerle ölçtüm</a:t>
            </a:r>
            <a:endParaRPr/>
          </a:p>
        </p:txBody>
      </p:sp>
      <p:sp>
        <p:nvSpPr>
          <p:cNvPr id="30786423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387978786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12 / 15</a:t>
            </a:r>
            <a:endParaRPr/>
          </a:p>
        </p:txBody>
      </p:sp>
      <p:sp>
        <p:nvSpPr>
          <p:cNvPr id="1994084179" name="TextBox 7"/>
          <p:cNvSpPr txBox="1"/>
          <p:nvPr/>
        </p:nvSpPr>
        <p:spPr bwMode="auto">
          <a:xfrm>
            <a:off x="502920" y="205740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/>
            </a:pPr>
            <a:r>
              <a:rPr sz="1300" b="1" i="0">
                <a:solidFill>
                  <a:srgbClr val="004694"/>
                </a:solidFill>
                <a:latin typeface="Consolas"/>
              </a:rPr>
              <a:t>1.  </a:t>
            </a:r>
            <a:r>
              <a:rPr sz="1300" b="1" i="0">
                <a:solidFill>
                  <a:srgbClr val="101826"/>
                </a:solidFill>
                <a:latin typeface="Calibri"/>
              </a:rPr>
              <a:t>MDIO alan yerleşimi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100" b="0" i="0">
                <a:solidFill>
                  <a:srgbClr val="5B6B80"/>
                </a:solidFill>
                <a:latin typeface="Calibri"/>
              </a:rPr>
              <a:t>     MACMDIOAR register'ı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300" b="1" i="0">
                <a:solidFill>
                  <a:srgbClr val="004694"/>
                </a:solidFill>
                <a:latin typeface="Consolas"/>
              </a:rPr>
              <a:t>2.  </a:t>
            </a:r>
            <a:r>
              <a:rPr sz="1300" b="1" i="0">
                <a:solidFill>
                  <a:srgbClr val="101826"/>
                </a:solidFill>
                <a:latin typeface="Calibri"/>
              </a:rPr>
              <a:t>RMII seçim kodu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100" b="0" i="0">
                <a:solidFill>
                  <a:srgbClr val="5B6B80"/>
                </a:solidFill>
                <a:latin typeface="Calibri"/>
              </a:rPr>
              <a:t>     SBS→PMCR ETH_SEL_PHY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300" b="1" i="0">
                <a:solidFill>
                  <a:srgbClr val="004694"/>
                </a:solidFill>
                <a:latin typeface="Consolas"/>
              </a:rPr>
              <a:t>3.  </a:t>
            </a:r>
            <a:r>
              <a:rPr sz="1300" b="1" i="0">
                <a:solidFill>
                  <a:srgbClr val="101826"/>
                </a:solidFill>
                <a:latin typeface="Calibri"/>
              </a:rPr>
              <a:t>DMA tail pointer semantiği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100" b="0" i="0">
                <a:solidFill>
                  <a:srgbClr val="5B6B80"/>
                </a:solidFill>
                <a:latin typeface="Calibri"/>
              </a:rPr>
              <a:t>     DMACRXDTPR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300" b="1" i="0">
                <a:solidFill>
                  <a:srgbClr val="004694"/>
                </a:solidFill>
                <a:latin typeface="Consolas"/>
              </a:rPr>
              <a:t>4.  </a:t>
            </a:r>
            <a:r>
              <a:rPr sz="1300" b="1" i="0">
                <a:solidFill>
                  <a:srgbClr val="101826"/>
                </a:solidFill>
                <a:latin typeface="Calibri"/>
              </a:rPr>
              <a:t>MPU alan yerleşimi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100" b="0" i="0">
                <a:solidFill>
                  <a:srgbClr val="5B6B80"/>
                </a:solidFill>
                <a:latin typeface="Calibri"/>
              </a:rPr>
              <a:t>     RBAR / RLAR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300" b="1" i="0">
                <a:solidFill>
                  <a:srgbClr val="004694"/>
                </a:solidFill>
                <a:latin typeface="Consolas"/>
              </a:rPr>
              <a:t>5.  </a:t>
            </a:r>
            <a:r>
              <a:rPr sz="1300" b="1" i="0">
                <a:solidFill>
                  <a:srgbClr val="101826"/>
                </a:solidFill>
                <a:latin typeface="Calibri"/>
              </a:rPr>
              <a:t>Flash sektör alanı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100" b="0" i="0">
                <a:solidFill>
                  <a:srgbClr val="5B6B80"/>
                </a:solidFill>
                <a:latin typeface="Calibri"/>
              </a:rPr>
              <a:t>     yalnızca IAP kullanılıyorsa</a:t>
            </a:r>
            <a:endParaRPr/>
          </a:p>
        </p:txBody>
      </p:sp>
      <p:pic>
        <p:nvPicPr>
          <p:cNvPr id="1451943262" name="Picture 8" descr="28_agustos_hata_enjeksiyonu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178804" y="1210055"/>
            <a:ext cx="6825490" cy="3976497"/>
          </a:xfrm>
          <a:prstGeom prst="rect">
            <a:avLst/>
          </a:prstGeom>
          <a:ln w="12700">
            <a:solidFill>
              <a:srgbClr val="DBE1EA"/>
            </a:solidFill>
          </a:ln>
        </p:spPr>
      </p:pic>
      <p:sp>
        <p:nvSpPr>
          <p:cNvPr id="1461197162" name="TextBox 9"/>
          <p:cNvSpPr txBox="1"/>
          <p:nvPr/>
        </p:nvSpPr>
        <p:spPr bwMode="auto">
          <a:xfrm>
            <a:off x="5989320" y="5186552"/>
            <a:ext cx="57908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50" b="0" i="1">
                <a:solidFill>
                  <a:srgbClr val="5B6B80"/>
                </a:solidFill>
                <a:latin typeface="Calibri"/>
              </a:rPr>
              <a:t>Kart bilerek bozuk/aşırı büyük veriyle yorulmaya çalışıldı — </a:t>
            </a:r>
            <a:r>
              <a:rPr sz="1150" b="1" i="1">
                <a:solidFill>
                  <a:srgbClr val="5B6B80"/>
                </a:solidFill>
                <a:latin typeface="Calibri"/>
              </a:rPr>
              <a:t>hiç çökmedi.</a:t>
            </a:r>
            <a:endParaRPr/>
          </a:p>
        </p:txBody>
      </p:sp>
      <p:sp>
        <p:nvSpPr>
          <p:cNvPr id="1332060608" name="Rounded Rectangle 10"/>
          <p:cNvSpPr/>
          <p:nvPr/>
        </p:nvSpPr>
        <p:spPr bwMode="auto">
          <a:xfrm>
            <a:off x="6278879" y="5488304"/>
            <a:ext cx="4892039" cy="310896"/>
          </a:xfrm>
          <a:prstGeom prst="roundRect">
            <a:avLst>
              <a:gd name="adj" fmla="val 50000"/>
            </a:avLst>
          </a:prstGeom>
          <a:solidFill>
            <a:srgbClr val="DFF2EA"/>
          </a:solidFill>
          <a:ln w="9525">
            <a:solidFill>
              <a:srgbClr val="179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50" b="1" i="0">
                <a:solidFill>
                  <a:srgbClr val="17936B"/>
                </a:solidFill>
                <a:latin typeface="Consolas"/>
              </a:rPr>
              <a:t>gecikme ort. 0.44 ms · kayıp %0 · FLASH_SUCCESS|JUMP_OK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6053260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99437857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12 · ENTEGRASYON</a:t>
            </a:r>
            <a:endParaRPr/>
          </a:p>
        </p:txBody>
      </p:sp>
      <p:sp>
        <p:nvSpPr>
          <p:cNvPr id="1595347055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Başka Bir Kullanıcı Bu Projeyi Nasıl Kullanır?</a:t>
            </a:r>
            <a:endParaRPr/>
          </a:p>
        </p:txBody>
      </p:sp>
      <p:sp>
        <p:nvSpPr>
          <p:cNvPr id="669804041" name="TextBox 4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92145965" name="TextBox 5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13 / 15</a:t>
            </a:r>
            <a:endParaRPr/>
          </a:p>
        </p:txBody>
      </p:sp>
      <p:sp>
        <p:nvSpPr>
          <p:cNvPr id="853892301" name="TextBox 6"/>
          <p:cNvSpPr txBox="1"/>
          <p:nvPr/>
        </p:nvSpPr>
        <p:spPr bwMode="auto">
          <a:xfrm>
            <a:off x="502920" y="1463040"/>
            <a:ext cx="54649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ETH_CONFIG.H  ·  SEÇIM</a:t>
            </a:r>
            <a:endParaRPr/>
          </a:p>
        </p:txBody>
      </p:sp>
      <p:sp>
        <p:nvSpPr>
          <p:cNvPr id="1467833390" name="Rounded Rectangle 7"/>
          <p:cNvSpPr/>
          <p:nvPr/>
        </p:nvSpPr>
        <p:spPr bwMode="auto">
          <a:xfrm>
            <a:off x="502920" y="1700784"/>
            <a:ext cx="5464910" cy="2080259"/>
          </a:xfrm>
          <a:prstGeom prst="roundRect">
            <a:avLst>
              <a:gd name="adj" fmla="val 35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4619113" name="TextBox 8"/>
          <p:cNvSpPr txBox="1"/>
          <p:nvPr/>
        </p:nvSpPr>
        <p:spPr bwMode="auto">
          <a:xfrm>
            <a:off x="704088" y="1901952"/>
            <a:ext cx="5062575" cy="1677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1) Hedef islemci (sadece birini birakin)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#define ETH_TARGET_STM32H563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#define ETH_TARGET_STM32H743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#define ETH_TARGET_STM32F407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2) PHY cipi (sadece birini birakin)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#define ETH_PHY_LAN8720A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#define ETH_PHY_LAN8742A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/* #define ETH_PHY_KSZ8081  */</a:t>
            </a:r>
            <a:endParaRPr/>
          </a:p>
        </p:txBody>
      </p:sp>
      <p:sp>
        <p:nvSpPr>
          <p:cNvPr id="2124583335" name="TextBox 9"/>
          <p:cNvSpPr txBox="1"/>
          <p:nvPr/>
        </p:nvSpPr>
        <p:spPr bwMode="auto">
          <a:xfrm>
            <a:off x="6223863" y="1463040"/>
            <a:ext cx="54649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MAIN.C  ·  BAŞLATMA</a:t>
            </a:r>
            <a:endParaRPr/>
          </a:p>
        </p:txBody>
      </p:sp>
      <p:sp>
        <p:nvSpPr>
          <p:cNvPr id="1194832747" name="Rounded Rectangle 10"/>
          <p:cNvSpPr/>
          <p:nvPr/>
        </p:nvSpPr>
        <p:spPr bwMode="auto">
          <a:xfrm>
            <a:off x="6223863" y="1700784"/>
            <a:ext cx="5464910" cy="2080259"/>
          </a:xfrm>
          <a:prstGeom prst="roundRect">
            <a:avLst>
              <a:gd name="adj" fmla="val 35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353646" name="TextBox 11"/>
          <p:cNvSpPr txBox="1"/>
          <p:nvPr/>
        </p:nvSpPr>
        <p:spPr bwMode="auto">
          <a:xfrm>
            <a:off x="6425031" y="1901952"/>
            <a:ext cx="5062575" cy="1677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#include "eth_app.h"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int main(void) {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HAL_Init();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SystemClock_Config();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ETH_BSP_Init();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while (1) {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    ETH_BSP_ProcessEvents();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}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}</a:t>
            </a:r>
            <a:endParaRPr/>
          </a:p>
        </p:txBody>
      </p:sp>
      <p:sp>
        <p:nvSpPr>
          <p:cNvPr id="151746204" name="TextBox 12"/>
          <p:cNvSpPr txBox="1"/>
          <p:nvPr/>
        </p:nvSpPr>
        <p:spPr bwMode="auto">
          <a:xfrm>
            <a:off x="502920" y="4037076"/>
            <a:ext cx="54649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ETH_DEVICE.H  ·  YENI MCU EKLEME</a:t>
            </a:r>
            <a:endParaRPr/>
          </a:p>
        </p:txBody>
      </p:sp>
      <p:sp>
        <p:nvSpPr>
          <p:cNvPr id="942211204" name="Rounded Rectangle 13"/>
          <p:cNvSpPr/>
          <p:nvPr/>
        </p:nvSpPr>
        <p:spPr bwMode="auto">
          <a:xfrm>
            <a:off x="502920" y="4274820"/>
            <a:ext cx="5464910" cy="2080259"/>
          </a:xfrm>
          <a:prstGeom prst="roundRect">
            <a:avLst>
              <a:gd name="adj" fmla="val 35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3587833" name="TextBox 14"/>
          <p:cNvSpPr txBox="1"/>
          <p:nvPr/>
        </p:nvSpPr>
        <p:spPr bwMode="auto">
          <a:xfrm>
            <a:off x="704088" y="4475988"/>
            <a:ext cx="5062575" cy="1677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#elif defined(ETH_TARGET_STM32F429)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#include "stm32f4xx.h"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#define ETH_PORT_EQOS          0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#define ETH_PORT_GMAC          1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#define ETH_HAS_DCACHE         0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#define ETH_RMII_VIA_SYSCFG_PMC 1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#define ETH_DEVICE_NAME        "STM32F429"</a:t>
            </a:r>
            <a:endParaRPr/>
          </a:p>
        </p:txBody>
      </p:sp>
      <p:sp>
        <p:nvSpPr>
          <p:cNvPr id="1153709157" name="TextBox 15"/>
          <p:cNvSpPr txBox="1"/>
          <p:nvPr/>
        </p:nvSpPr>
        <p:spPr bwMode="auto">
          <a:xfrm>
            <a:off x="6223863" y="4037076"/>
            <a:ext cx="54649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ETH_PHY_YENI.C  ·  YENI PHY EKLEME</a:t>
            </a:r>
            <a:endParaRPr/>
          </a:p>
        </p:txBody>
      </p:sp>
      <p:sp>
        <p:nvSpPr>
          <p:cNvPr id="943336946" name="Rounded Rectangle 16"/>
          <p:cNvSpPr/>
          <p:nvPr/>
        </p:nvSpPr>
        <p:spPr bwMode="auto">
          <a:xfrm>
            <a:off x="6223863" y="4274820"/>
            <a:ext cx="5464910" cy="2080259"/>
          </a:xfrm>
          <a:prstGeom prst="roundRect">
            <a:avLst>
              <a:gd name="adj" fmla="val 35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048464" name="TextBox 17"/>
          <p:cNvSpPr txBox="1"/>
          <p:nvPr/>
        </p:nvSpPr>
        <p:spPr bwMode="auto">
          <a:xfrm>
            <a:off x="6425031" y="4475988"/>
            <a:ext cx="5062575" cy="1677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ETH_Status_t ETH_PHY_Bringup(uint8_t addr) {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/* HW+SW reset, autoneg baslat */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}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ETH_Status_t ETH_PHY_GetSpeedDuplex(uint8_t addr,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    uint16_t *speed, bool *fd) { ... }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ETH_Status_t ETH_PHY_SetLoopback(uint8_t a, bool e) { ... }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const char *ETH_PHY_GetName(void) {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    return "YENI_PHY";</a:t>
            </a:r>
            <a:endParaRPr/>
          </a:p>
          <a:p>
            <a:pPr>
              <a:spcAft>
                <a:spcPts val="100"/>
              </a:spcAft>
              <a:defRPr/>
            </a:pPr>
            <a:r>
              <a:rPr sz="900" b="0" i="0">
                <a:solidFill>
                  <a:srgbClr val="DBE8FB"/>
                </a:solidFill>
                <a:latin typeface="Consola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8662110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00173400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13 · ARAÇLAR &amp; TEKNOLOJILER</a:t>
            </a:r>
            <a:endParaRPr/>
          </a:p>
        </p:txBody>
      </p:sp>
      <p:sp>
        <p:nvSpPr>
          <p:cNvPr id="243528117" name="TextBox 3"/>
          <p:cNvSpPr txBox="1"/>
          <p:nvPr/>
        </p:nvSpPr>
        <p:spPr bwMode="auto">
          <a:xfrm>
            <a:off x="502920" y="658368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Tek projede birçok farklı teknolojiyi bir araya getirdim</a:t>
            </a:r>
            <a:endParaRPr/>
          </a:p>
        </p:txBody>
      </p:sp>
      <p:sp>
        <p:nvSpPr>
          <p:cNvPr id="430604047" name="TextBox 4"/>
          <p:cNvSpPr txBox="1"/>
          <p:nvPr/>
        </p:nvSpPr>
        <p:spPr bwMode="auto"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Sadece C kodu yazmadım; geliştirme ortamından donanım protokollerine kadar birçok konuda uygulamalı pratik yaptım.</a:t>
            </a:r>
            <a:endParaRPr/>
          </a:p>
        </p:txBody>
      </p:sp>
      <p:sp>
        <p:nvSpPr>
          <p:cNvPr id="1470847572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1596322265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14 / 15</a:t>
            </a:r>
            <a:endParaRPr/>
          </a:p>
        </p:txBody>
      </p:sp>
      <p:sp>
        <p:nvSpPr>
          <p:cNvPr id="582964697" name="Rounded Rectangle 7"/>
          <p:cNvSpPr/>
          <p:nvPr/>
        </p:nvSpPr>
        <p:spPr bwMode="auto">
          <a:xfrm>
            <a:off x="502920" y="2103120"/>
            <a:ext cx="5455767" cy="283464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638271" name="TextBox 8"/>
          <p:cNvSpPr txBox="1"/>
          <p:nvPr/>
        </p:nvSpPr>
        <p:spPr bwMode="auto">
          <a:xfrm>
            <a:off x="704088" y="2304288"/>
            <a:ext cx="505343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GELIŞTIRME ORTAMI</a:t>
            </a:r>
            <a:endParaRPr/>
          </a:p>
        </p:txBody>
      </p:sp>
      <p:sp>
        <p:nvSpPr>
          <p:cNvPr id="250829749" name="TextBox 9"/>
          <p:cNvSpPr txBox="1"/>
          <p:nvPr/>
        </p:nvSpPr>
        <p:spPr bwMode="auto">
          <a:xfrm>
            <a:off x="704088" y="2578608"/>
            <a:ext cx="50534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Araçlar &amp; İş Akışı</a:t>
            </a:r>
            <a:endParaRPr/>
          </a:p>
        </p:txBody>
      </p:sp>
      <p:sp>
        <p:nvSpPr>
          <p:cNvPr id="1501676421" name="Rounded Rectangle 10"/>
          <p:cNvSpPr/>
          <p:nvPr/>
        </p:nvSpPr>
        <p:spPr bwMode="auto">
          <a:xfrm>
            <a:off x="704088" y="296265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CMake</a:t>
            </a:r>
            <a:endParaRPr/>
          </a:p>
        </p:txBody>
      </p:sp>
      <p:sp>
        <p:nvSpPr>
          <p:cNvPr id="465351234" name="Rounded Rectangle 11"/>
          <p:cNvSpPr/>
          <p:nvPr/>
        </p:nvSpPr>
        <p:spPr bwMode="auto">
          <a:xfrm>
            <a:off x="1728216" y="2962656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Git</a:t>
            </a:r>
            <a:endParaRPr/>
          </a:p>
        </p:txBody>
      </p:sp>
      <p:sp>
        <p:nvSpPr>
          <p:cNvPr id="950922934" name="Rounded Rectangle 12"/>
          <p:cNvSpPr/>
          <p:nvPr/>
        </p:nvSpPr>
        <p:spPr bwMode="auto">
          <a:xfrm>
            <a:off x="2514600" y="2962656"/>
            <a:ext cx="1627632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GCC &amp; Ninja</a:t>
            </a:r>
            <a:endParaRPr/>
          </a:p>
        </p:txBody>
      </p:sp>
      <p:sp>
        <p:nvSpPr>
          <p:cNvPr id="2083426888" name="Rounded Rectangle 13"/>
          <p:cNvSpPr/>
          <p:nvPr/>
        </p:nvSpPr>
        <p:spPr bwMode="auto">
          <a:xfrm>
            <a:off x="704087" y="3483864"/>
            <a:ext cx="1627632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STM32CubeMX</a:t>
            </a:r>
            <a:endParaRPr/>
          </a:p>
        </p:txBody>
      </p:sp>
      <p:sp>
        <p:nvSpPr>
          <p:cNvPr id="1344476403" name="Rounded Rectangle 15"/>
          <p:cNvSpPr/>
          <p:nvPr/>
        </p:nvSpPr>
        <p:spPr bwMode="auto">
          <a:xfrm>
            <a:off x="6233007" y="2103120"/>
            <a:ext cx="5455767" cy="283464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1665163" name="TextBox 16"/>
          <p:cNvSpPr txBox="1"/>
          <p:nvPr/>
        </p:nvSpPr>
        <p:spPr bwMode="auto">
          <a:xfrm>
            <a:off x="6434175" y="2304288"/>
            <a:ext cx="505343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50" b="1" i="0">
                <a:solidFill>
                  <a:srgbClr val="0E93B4"/>
                </a:solidFill>
                <a:latin typeface="Consolas"/>
              </a:rPr>
              <a:t>DONANIM &amp; PROTOKOLLER</a:t>
            </a:r>
            <a:endParaRPr/>
          </a:p>
        </p:txBody>
      </p:sp>
      <p:sp>
        <p:nvSpPr>
          <p:cNvPr id="1064573724" name="TextBox 17"/>
          <p:cNvSpPr txBox="1"/>
          <p:nvPr/>
        </p:nvSpPr>
        <p:spPr bwMode="auto">
          <a:xfrm>
            <a:off x="6434175" y="2578608"/>
            <a:ext cx="50534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Nasıl Çalıştığını Öğrendiğim Katmanlar</a:t>
            </a:r>
            <a:endParaRPr/>
          </a:p>
        </p:txBody>
      </p:sp>
      <p:sp>
        <p:nvSpPr>
          <p:cNvPr id="1906099317" name="Rounded Rectangle 18"/>
          <p:cNvSpPr/>
          <p:nvPr/>
        </p:nvSpPr>
        <p:spPr bwMode="auto">
          <a:xfrm>
            <a:off x="6434175" y="2962656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DMA</a:t>
            </a:r>
            <a:endParaRPr/>
          </a:p>
        </p:txBody>
      </p:sp>
      <p:sp>
        <p:nvSpPr>
          <p:cNvPr id="2021685249" name="Rounded Rectangle 19"/>
          <p:cNvSpPr/>
          <p:nvPr/>
        </p:nvSpPr>
        <p:spPr bwMode="auto">
          <a:xfrm>
            <a:off x="7220558" y="2962656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Ethernet (MAC/PHY/RMII)</a:t>
            </a:r>
            <a:endParaRPr/>
          </a:p>
        </p:txBody>
      </p:sp>
      <p:sp>
        <p:nvSpPr>
          <p:cNvPr id="85527557" name="Rounded Rectangle 20"/>
          <p:cNvSpPr/>
          <p:nvPr/>
        </p:nvSpPr>
        <p:spPr bwMode="auto">
          <a:xfrm>
            <a:off x="10384383" y="2962656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I2C</a:t>
            </a:r>
            <a:endParaRPr/>
          </a:p>
        </p:txBody>
      </p:sp>
      <p:sp>
        <p:nvSpPr>
          <p:cNvPr id="430561776" name="Rounded Rectangle 21"/>
          <p:cNvSpPr/>
          <p:nvPr/>
        </p:nvSpPr>
        <p:spPr bwMode="auto">
          <a:xfrm>
            <a:off x="6434175" y="3291840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SPI</a:t>
            </a:r>
            <a:endParaRPr/>
          </a:p>
        </p:txBody>
      </p:sp>
      <p:sp>
        <p:nvSpPr>
          <p:cNvPr id="756605441" name="Rounded Rectangle 22"/>
          <p:cNvSpPr/>
          <p:nvPr/>
        </p:nvSpPr>
        <p:spPr bwMode="auto">
          <a:xfrm>
            <a:off x="7220558" y="3291840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UART</a:t>
            </a:r>
            <a:endParaRPr/>
          </a:p>
        </p:txBody>
      </p:sp>
      <p:sp>
        <p:nvSpPr>
          <p:cNvPr id="1704227465" name="Rounded Rectangle 23"/>
          <p:cNvSpPr/>
          <p:nvPr/>
        </p:nvSpPr>
        <p:spPr bwMode="auto">
          <a:xfrm>
            <a:off x="8125815" y="3291840"/>
            <a:ext cx="2221992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Interrupt (NVIC)</a:t>
            </a:r>
            <a:endParaRPr/>
          </a:p>
        </p:txBody>
      </p:sp>
      <p:sp>
        <p:nvSpPr>
          <p:cNvPr id="773562703" name="Rounded Rectangle 24"/>
          <p:cNvSpPr/>
          <p:nvPr/>
        </p:nvSpPr>
        <p:spPr bwMode="auto">
          <a:xfrm>
            <a:off x="6434175" y="3621024"/>
            <a:ext cx="2459735" cy="27432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9525">
            <a:solidFill>
              <a:srgbClr val="004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004694"/>
                </a:solidFill>
                <a:latin typeface="Consolas"/>
              </a:rPr>
              <a:t>FreeRTOS temelleri</a:t>
            </a:r>
            <a:endParaRPr/>
          </a:p>
        </p:txBody>
      </p:sp>
      <p:sp>
        <p:nvSpPr>
          <p:cNvPr id="135661757" name="TextBox 25"/>
          <p:cNvSpPr txBox="1"/>
          <p:nvPr/>
        </p:nvSpPr>
        <p:spPr bwMode="auto">
          <a:xfrm>
            <a:off x="502920" y="512064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50" b="0" i="1">
                <a:solidFill>
                  <a:srgbClr val="5B6B80"/>
                </a:solidFill>
                <a:latin typeface="Calibri"/>
              </a:rPr>
              <a:t>Bare-metal kod yazma pratiği + farklı işlemci çekirdeklerini (Cortex-M4/M7/M33) ve farklı entegreleri tek bir projede bir araya getirme deneyimi.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5373016" name="Picture 1" descr="sunu_arka_pla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48867399" name="TextBox 2"/>
          <p:cNvSpPr txBox="1"/>
          <p:nvPr/>
        </p:nvSpPr>
        <p:spPr bwMode="auto">
          <a:xfrm>
            <a:off x="502920" y="34747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100" b="1" i="0">
                <a:solidFill>
                  <a:srgbClr val="0E93B4"/>
                </a:solidFill>
                <a:latin typeface="Consolas"/>
              </a:rPr>
              <a:t>14 · KAZANIMLAR</a:t>
            </a:r>
            <a:endParaRPr/>
          </a:p>
        </p:txBody>
      </p:sp>
      <p:sp>
        <p:nvSpPr>
          <p:cNvPr id="231577008" name="TextBox 3"/>
          <p:cNvSpPr txBox="1"/>
          <p:nvPr/>
        </p:nvSpPr>
        <p:spPr bwMode="auto">
          <a:xfrm>
            <a:off x="502920" y="1658492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2700" b="1" i="0">
                <a:solidFill>
                  <a:srgbClr val="101826"/>
                </a:solidFill>
                <a:latin typeface="Calibri"/>
              </a:rPr>
              <a:t>Bu stajın ve projenin bana kattıkları</a:t>
            </a:r>
            <a:endParaRPr/>
          </a:p>
        </p:txBody>
      </p:sp>
      <p:sp>
        <p:nvSpPr>
          <p:cNvPr id="2043093133" name="TextBox 4"/>
          <p:cNvSpPr txBox="1"/>
          <p:nvPr/>
        </p:nvSpPr>
        <p:spPr bwMode="auto">
          <a:xfrm>
            <a:off x="502920" y="241744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350" b="0" i="0">
                <a:solidFill>
                  <a:srgbClr val="5B6B80"/>
                </a:solidFill>
                <a:latin typeface="Calibri"/>
              </a:rPr>
              <a:t>Eğitimle başlayıp gereksinimden teste uzanan tam bir mühendislik döngüsünü, tek bir projede kendi ellerimle tamamladım — üç boyutta öğrenme ve somut bir çıktı.</a:t>
            </a:r>
            <a:endParaRPr/>
          </a:p>
        </p:txBody>
      </p:sp>
      <p:sp>
        <p:nvSpPr>
          <p:cNvPr id="1661834721" name="TextBox 5"/>
          <p:cNvSpPr txBox="1"/>
          <p:nvPr/>
        </p:nvSpPr>
        <p:spPr bwMode="auto"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E-AETIS · Staj Sunumu</a:t>
            </a:r>
            <a:endParaRPr/>
          </a:p>
        </p:txBody>
      </p:sp>
      <p:sp>
        <p:nvSpPr>
          <p:cNvPr id="53559631" name="TextBox 6"/>
          <p:cNvSpPr txBox="1"/>
          <p:nvPr/>
        </p:nvSpPr>
        <p:spPr bwMode="auto">
          <a:xfrm>
            <a:off x="100428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5B6B80"/>
                </a:solidFill>
                <a:latin typeface="Calibri"/>
              </a:rPr>
              <a:t>15 / 15</a:t>
            </a:r>
            <a:endParaRPr/>
          </a:p>
        </p:txBody>
      </p:sp>
      <p:sp>
        <p:nvSpPr>
          <p:cNvPr id="506266449" name="Rounded Rectangle 7"/>
          <p:cNvSpPr/>
          <p:nvPr/>
        </p:nvSpPr>
        <p:spPr bwMode="auto">
          <a:xfrm>
            <a:off x="502920" y="3075813"/>
            <a:ext cx="3545738" cy="173736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1988454" name="TextBox 8"/>
          <p:cNvSpPr txBox="1"/>
          <p:nvPr/>
        </p:nvSpPr>
        <p:spPr bwMode="auto">
          <a:xfrm>
            <a:off x="704088" y="3276981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Teknik</a:t>
            </a:r>
            <a:endParaRPr/>
          </a:p>
        </p:txBody>
      </p:sp>
      <p:sp>
        <p:nvSpPr>
          <p:cNvPr id="550357935" name="TextBox 9"/>
          <p:cNvSpPr txBox="1"/>
          <p:nvPr/>
        </p:nvSpPr>
        <p:spPr bwMode="auto">
          <a:xfrm>
            <a:off x="704088" y="3661029"/>
            <a:ext cx="314340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Gömülü sistemlerde donanım-yazılım ilişkisi, ağ protokollerinin temelleri, C ile düşük seviyeli programlama ve hata ayıklama disiplini.</a:t>
            </a:r>
            <a:endParaRPr/>
          </a:p>
        </p:txBody>
      </p:sp>
      <p:sp>
        <p:nvSpPr>
          <p:cNvPr id="1238424940" name="Rounded Rectangle 10"/>
          <p:cNvSpPr/>
          <p:nvPr/>
        </p:nvSpPr>
        <p:spPr bwMode="auto">
          <a:xfrm>
            <a:off x="4322977" y="3075813"/>
            <a:ext cx="3545738" cy="173736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1404488" name="TextBox 11"/>
          <p:cNvSpPr txBox="1"/>
          <p:nvPr/>
        </p:nvSpPr>
        <p:spPr bwMode="auto">
          <a:xfrm>
            <a:off x="4524145" y="3276981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Mühendislik Pratiği</a:t>
            </a:r>
            <a:endParaRPr/>
          </a:p>
        </p:txBody>
      </p:sp>
      <p:sp>
        <p:nvSpPr>
          <p:cNvPr id="1687529328" name="TextBox 12"/>
          <p:cNvSpPr txBox="1"/>
          <p:nvPr/>
        </p:nvSpPr>
        <p:spPr bwMode="auto">
          <a:xfrm>
            <a:off x="4524145" y="3661029"/>
            <a:ext cx="314340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Gereksinim yazma, mimariyi baştan tasarlama, "her girdi düşmanca olabilir" ilkesiyle savunmacı kod yazma, sistemli test ve dokümantasyon.</a:t>
            </a:r>
            <a:endParaRPr/>
          </a:p>
        </p:txBody>
      </p:sp>
      <p:sp>
        <p:nvSpPr>
          <p:cNvPr id="1942623622" name="Rounded Rectangle 13"/>
          <p:cNvSpPr/>
          <p:nvPr/>
        </p:nvSpPr>
        <p:spPr bwMode="auto">
          <a:xfrm>
            <a:off x="8143035" y="3075813"/>
            <a:ext cx="3545738" cy="1737360"/>
          </a:xfrm>
          <a:prstGeom prst="roundRect">
            <a:avLst>
              <a:gd name="adj" fmla="val 4500"/>
            </a:avLst>
          </a:prstGeom>
          <a:solidFill>
            <a:srgbClr val="F6F8FB"/>
          </a:solidFill>
          <a:ln w="12700">
            <a:solidFill>
              <a:srgbClr val="DB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108876" name="TextBox 14"/>
          <p:cNvSpPr txBox="1"/>
          <p:nvPr/>
        </p:nvSpPr>
        <p:spPr bwMode="auto">
          <a:xfrm>
            <a:off x="8344203" y="3276981"/>
            <a:ext cx="314340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101826"/>
                </a:solidFill>
                <a:latin typeface="Calibri"/>
              </a:rPr>
              <a:t>Kişisel</a:t>
            </a:r>
            <a:endParaRPr/>
          </a:p>
        </p:txBody>
      </p:sp>
      <p:sp>
        <p:nvSpPr>
          <p:cNvPr id="2001555456" name="TextBox 15"/>
          <p:cNvSpPr txBox="1"/>
          <p:nvPr/>
        </p:nvSpPr>
        <p:spPr bwMode="auto">
          <a:xfrm>
            <a:off x="8344203" y="3661029"/>
            <a:ext cx="314340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50" b="0" i="0">
                <a:solidFill>
                  <a:srgbClr val="5B6B80"/>
                </a:solidFill>
                <a:latin typeface="Calibri"/>
              </a:rPr>
              <a:t>Bağımsız çalışıp doğru zamanda geri bildirim alma, zaman/kapsam yönetimi, teknik bir konuyu sade anlatabilme.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2026-09-17T11:44:47Z</dcterms:modified>
  <cp:category/>
</cp:coreProperties>
</file>