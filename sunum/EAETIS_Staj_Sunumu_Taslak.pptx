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m_kap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01 ·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Her elektronik cihazın bir "ağ dili" konuşması gerekir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Bir kart ağa bağlanacaksa, veriyi doğru biçimde gönderip almasını sağlayan bir yazılım katmanına ihtiyacı vardır — buna **Ethernet sürücüsü** denir.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02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350008"/>
            <a:ext cx="11185855" cy="2148840"/>
          </a:xfrm>
          <a:prstGeom prst="roundRect">
            <a:avLst>
              <a:gd name="adj" fmla="val 3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8952" y="2532888"/>
            <a:ext cx="73152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1" i="0">
                <a:solidFill>
                  <a:srgbClr val="0E93B4"/>
                </a:solidFill>
                <a:latin typeface="Consolas"/>
              </a:rPr>
              <a:t>AĞ İLETİŞİM ZİNCİRİ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" y="2916936"/>
            <a:ext cx="3344570" cy="1325880"/>
          </a:xfrm>
          <a:prstGeom prst="roundRect">
            <a:avLst>
              <a:gd name="adj" fmla="val 8000"/>
            </a:avLst>
          </a:prstGeom>
          <a:solidFill>
            <a:srgbClr val="10233F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Mikrodenetleyici</a:t>
            </a:r>
          </a:p>
          <a:p>
            <a:pPr algn="ctr"/>
            <a:r>
              <a:rPr sz="950" b="0" i="0">
                <a:solidFill>
                  <a:srgbClr val="B9C6DE"/>
                </a:solidFill>
                <a:latin typeface="Calibri"/>
              </a:rPr>
              <a:t>sensör · motor · kamera…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130954" y="3497580"/>
            <a:ext cx="265176" cy="164592"/>
          </a:xfrm>
          <a:prstGeom prst="rightArrow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23562" y="2916936"/>
            <a:ext cx="3344570" cy="1325880"/>
          </a:xfrm>
          <a:prstGeom prst="roundRect">
            <a:avLst>
              <a:gd name="adj" fmla="val 8000"/>
            </a:avLst>
          </a:prstGeom>
          <a:solidFill>
            <a:srgbClr val="DFF1F5"/>
          </a:solidFill>
          <a:ln w="19050">
            <a:solidFill>
              <a:srgbClr val="0E9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50" b="1" i="0">
                <a:solidFill>
                  <a:srgbClr val="101826"/>
                </a:solidFill>
                <a:latin typeface="Calibri"/>
              </a:rPr>
              <a:t>Ethernet Sürücüsü</a:t>
            </a:r>
          </a:p>
          <a:p>
            <a:pPr algn="ctr"/>
            <a:r>
              <a:rPr sz="950" b="0" i="0">
                <a:solidFill>
                  <a:srgbClr val="5B6B80"/>
                </a:solidFill>
                <a:latin typeface="Calibri"/>
              </a:rPr>
              <a:t>"veriyi ağın anlayacağı pakete çeviren katman"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7795564" y="3497580"/>
            <a:ext cx="265176" cy="164592"/>
          </a:xfrm>
          <a:prstGeom prst="rightArrow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88172" y="2916936"/>
            <a:ext cx="3344570" cy="132588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50" b="1" i="0">
                <a:solidFill>
                  <a:srgbClr val="101826"/>
                </a:solidFill>
                <a:latin typeface="Calibri"/>
              </a:rPr>
              <a:t>Ağ / İnternet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4700016"/>
            <a:ext cx="45720" cy="566928"/>
          </a:xfrm>
          <a:prstGeom prst="rect">
            <a:avLst/>
          </a:prstGeom>
          <a:solidFill>
            <a:srgbClr val="0046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4700016"/>
            <a:ext cx="10984687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r>
              <a:rPr sz="1300" b="0" i="0">
                <a:solidFill>
                  <a:srgbClr val="5B6B80"/>
                </a:solidFill>
                <a:latin typeface="Calibri"/>
              </a:rPr>
              <a:t>Hazır çözümler (işletim sistemi + ağ kütüphanesi) genelde ağırdır ve her karta doğrudan taşınmaz. Görevim: hafif, taşınabilir bir sürücüyü </a:t>
            </a:r>
            <a:r>
              <a:rPr sz="1300" b="1" i="0">
                <a:solidFill>
                  <a:srgbClr val="5B6B80"/>
                </a:solidFill>
                <a:latin typeface="Calibri"/>
              </a:rPr>
              <a:t>sıfırdan</a:t>
            </a:r>
            <a:r>
              <a:rPr sz="1300" b="0" i="0">
                <a:solidFill>
                  <a:srgbClr val="5B6B80"/>
                </a:solidFill>
                <a:latin typeface="Calibri"/>
              </a:rPr>
              <a:t> yazmak.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02 · NE YAPTIM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İki parçadan oluşan bir sistem geliştirdim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Kartın içine gömülen bir kütüphane ve bilgisayardan o kartı test eden bir arayüz — ikisi aynı "dil" (E-AETIS protokolü) ile konuşuyor.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03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03120"/>
            <a:ext cx="5455767" cy="329184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304288"/>
            <a:ext cx="505343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 i="0">
                <a:solidFill>
                  <a:srgbClr val="0E93B4"/>
                </a:solidFill>
                <a:latin typeface="Consolas"/>
              </a:rPr>
              <a:t>GÖMÜLÜ TARAF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578608"/>
            <a:ext cx="5053431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Ethernet_BSP  (C)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962656"/>
            <a:ext cx="5053431" cy="22311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Register seviyesi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MAC / DMA / PHY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 erişimi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RTOS yok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 ·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LwIP yok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ARP / ICMP / UDP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elle yazılmış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İsteğe bağlı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IAP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 bootloader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103120"/>
            <a:ext cx="5455767" cy="329184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34175" y="2304288"/>
            <a:ext cx="505343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 i="0">
                <a:solidFill>
                  <a:srgbClr val="0E93B4"/>
                </a:solidFill>
                <a:latin typeface="Consolas"/>
              </a:rPr>
              <a:t>MASAÜSTÜ TARAF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34175" y="2578608"/>
            <a:ext cx="5053431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E-AETIS GUI  (Python / PyQt5)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4175" y="2962656"/>
            <a:ext cx="5053431" cy="22311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UDP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 üzerinden kartla konuşur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Telemetri, performans/jitter ölçümü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Hata enjeksiyonu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 (fuzz testi)</a:t>
            </a:r>
          </a:p>
          <a:p>
            <a:pPr>
              <a:spcAft>
                <a:spcPts val="500"/>
              </a:spcAft>
            </a:pPr>
            <a:r>
              <a:rPr sz="1250" b="0" i="0">
                <a:solidFill>
                  <a:srgbClr val="5B6B80"/>
                </a:solidFill>
                <a:latin typeface="Calibri"/>
              </a:rPr>
              <a:t>– 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Ağdan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firmware güncelleme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03 · TASARIM FELSEFESI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HAL_ETH, LwIP, FreeRTOS — bilinçli olarak yok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Amaç ürünü hızlıca çıkarmak değildi; MAC / PHY / DMA seviyesinde ne olup bittiğini görebileceğim, öngörülebilir bir sistem kurmaktı.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04 / 14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02920" y="2057400"/>
          <a:ext cx="11185853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3453"/>
                <a:gridCol w="4586200"/>
                <a:gridCol w="4586200"/>
              </a:tblGrid>
              <a:tr h="51816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/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>BU PROJE</a:t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>HAZIR YIĞIN (HAL + LWIP + FREERTOS)</a:t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Şeffaflık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7936B"/>
                          </a:solidFill>
                          <a:latin typeface="Calibri"/>
                        </a:rPr>
                        <a:t>Her register erişimi görünür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B6720F"/>
                          </a:solidFill>
                          <a:latin typeface="Calibri"/>
                        </a:rPr>
                        <a:t>Üç kütüphanenin içine inmeden bilinmez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Bellek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7936B"/>
                          </a:solidFill>
                          <a:latin typeface="Calibri"/>
                        </a:rPr>
                        <a:t>Statik, malloc yok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B6720F"/>
                          </a:solidFill>
                          <a:latin typeface="Calibri"/>
                        </a:rPr>
                        <a:t>Dinamik pbuf havuzu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Zamanlama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7936B"/>
                          </a:solidFill>
                          <a:latin typeface="Calibri"/>
                        </a:rPr>
                        <a:t>Tek bağlam, deterministik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B6720F"/>
                          </a:solidFill>
                          <a:latin typeface="Calibri"/>
                        </a:rPr>
                        <a:t>Context-switch jitter'ı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Taşınabilirlik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7936B"/>
                          </a:solidFill>
                          <a:latin typeface="Calibri"/>
                        </a:rPr>
                        <a:t>Tek config, 4 MCU × 3 PHY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B6720F"/>
                          </a:solidFill>
                          <a:latin typeface="Calibri"/>
                        </a:rPr>
                        <a:t>HAL ailelerde farklı API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Kapsam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B6720F"/>
                          </a:solidFill>
                          <a:latin typeface="Calibri"/>
                        </a:rPr>
                        <a:t>Yalnızca ARP/ICMP/UDP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17936B"/>
                          </a:solidFill>
                          <a:latin typeface="Calibri"/>
                        </a:rPr>
                        <a:t>TCP/DHCP/DNS hazır gelir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04 · MIMARI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 i="0">
                <a:solidFill>
                  <a:srgbClr val="101826"/>
                </a:solidFill>
                <a:latin typeface="Calibri"/>
              </a:rPr>
              <a:t>Üç bağımsız eksen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Bir eksende yapılan değişiklik diğerlerini etkilemez — bu, yeni bir karta geçişi tek dosyalık bir işe indirir.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05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11830" y="2022395"/>
            <a:ext cx="1805940" cy="248316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eth_config.h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114800" y="2270712"/>
            <a:ext cx="0" cy="169307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Isosceles Triangle 9"/>
          <p:cNvSpPr/>
          <p:nvPr/>
        </p:nvSpPr>
        <p:spPr>
          <a:xfrm rot="10800000">
            <a:off x="4082796" y="2408015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211830" y="2451306"/>
            <a:ext cx="1805940" cy="282178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eth_device.h</a:t>
            </a:r>
          </a:p>
          <a:p>
            <a:pPr algn="ctr"/>
            <a:r>
              <a:rPr sz="750" b="0" i="0">
                <a:solidFill>
                  <a:srgbClr val="5B6B80"/>
                </a:solidFill>
                <a:latin typeface="Calibri"/>
              </a:rPr>
              <a:t>MCU → yetenek eşlemesi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2320147" y="2733484"/>
            <a:ext cx="1794653" cy="180594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Isosceles Triangle 12"/>
          <p:cNvSpPr/>
          <p:nvPr/>
        </p:nvSpPr>
        <p:spPr>
          <a:xfrm rot="15855224">
            <a:off x="2288143" y="2882074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onnector 13"/>
          <p:cNvCxnSpPr/>
          <p:nvPr/>
        </p:nvCxnSpPr>
        <p:spPr>
          <a:xfrm>
            <a:off x="4114800" y="2733484"/>
            <a:ext cx="1794652" cy="180594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5744776">
            <a:off x="5877448" y="2882074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88807" y="2700623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5B6B80"/>
                </a:solidFill>
                <a:latin typeface="Consolas"/>
              </a:rPr>
              <a:t>MAC seçimi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46232" y="2700623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5B6B80"/>
                </a:solidFill>
                <a:latin typeface="Consolas"/>
              </a:rPr>
              <a:t>PHY seçimi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28662" y="2925365"/>
            <a:ext cx="3160395" cy="1072276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102" y="2961941"/>
            <a:ext cx="297751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0E93B4"/>
                </a:solidFill>
                <a:latin typeface="Consolas"/>
              </a:rPr>
              <a:t>MAC PORT EKSENI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0102" y="3108245"/>
            <a:ext cx="2977515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 i="1">
                <a:solidFill>
                  <a:srgbClr val="5B6B80"/>
                </a:solidFill>
                <a:latin typeface="Calibri"/>
              </a:rPr>
              <a:t>yalnızca biri derlenir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40542" y="2925365"/>
            <a:ext cx="3160395" cy="1072276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1982" y="2961941"/>
            <a:ext cx="297751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0E93B4"/>
                </a:solidFill>
                <a:latin typeface="Consolas"/>
              </a:rPr>
              <a:t>PHY EKSENI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1982" y="3108245"/>
            <a:ext cx="2977515" cy="1645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700" b="0" i="1">
                <a:solidFill>
                  <a:srgbClr val="5B6B80"/>
                </a:solidFill>
                <a:latin typeface="Calibri"/>
              </a:rPr>
              <a:t>yalnızca biri derlenir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969" y="3173682"/>
            <a:ext cx="1185148" cy="304752"/>
          </a:xfrm>
          <a:prstGeom prst="roundRect">
            <a:avLst>
              <a:gd name="adj" fmla="val 14000"/>
            </a:avLst>
          </a:prstGeom>
          <a:solidFill>
            <a:srgbClr val="DFF1F5"/>
          </a:solidFill>
          <a:ln w="19050">
            <a:solidFill>
              <a:srgbClr val="0E9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eth_port_eqos.c</a:t>
            </a:r>
          </a:p>
          <a:p>
            <a:pPr algn="ctr"/>
            <a:r>
              <a:rPr sz="750" b="0" i="0">
                <a:solidFill>
                  <a:srgbClr val="5B6B80"/>
                </a:solidFill>
                <a:latin typeface="Calibri"/>
              </a:rPr>
              <a:t>H5 / H7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534602" y="3173682"/>
            <a:ext cx="1185148" cy="304752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eth_port_gmac.c</a:t>
            </a:r>
          </a:p>
          <a:p>
            <a:pPr algn="ctr"/>
            <a:r>
              <a:rPr sz="750" b="0" i="0">
                <a:solidFill>
                  <a:srgbClr val="5B6B80"/>
                </a:solidFill>
                <a:latin typeface="Calibri"/>
              </a:rPr>
              <a:t>F4 / F7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11580" y="3248048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1">
                <a:solidFill>
                  <a:srgbClr val="5B6B80"/>
                </a:solidFill>
                <a:latin typeface="Calibri"/>
              </a:rPr>
              <a:t>veya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09849" y="3173682"/>
            <a:ext cx="1185148" cy="304752"/>
          </a:xfrm>
          <a:prstGeom prst="roundRect">
            <a:avLst>
              <a:gd name="adj" fmla="val 14000"/>
            </a:avLst>
          </a:prstGeom>
          <a:solidFill>
            <a:srgbClr val="DFF1F5"/>
          </a:solidFill>
          <a:ln w="19050">
            <a:solidFill>
              <a:srgbClr val="0E9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eth_phy_lan87xx.c</a:t>
            </a:r>
          </a:p>
          <a:p>
            <a:pPr algn="ctr"/>
            <a:r>
              <a:rPr sz="750" b="0" i="0">
                <a:solidFill>
                  <a:srgbClr val="5B6B80"/>
                </a:solidFill>
                <a:latin typeface="Calibri"/>
              </a:rPr>
              <a:t>LAN8720A / 8742A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46482" y="3173682"/>
            <a:ext cx="1185148" cy="304752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eth_phy_ksz80xx.c</a:t>
            </a:r>
          </a:p>
          <a:p>
            <a:pPr algn="ctr"/>
            <a:r>
              <a:rPr sz="750" b="0" i="0">
                <a:solidFill>
                  <a:srgbClr val="5B6B80"/>
                </a:solidFill>
                <a:latin typeface="Calibri"/>
              </a:rPr>
              <a:t>KSZ8081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23460" y="3248048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1">
                <a:solidFill>
                  <a:srgbClr val="5B6B80"/>
                </a:solidFill>
                <a:latin typeface="Calibri"/>
              </a:rPr>
              <a:t>veya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490543" y="3478434"/>
            <a:ext cx="479703" cy="191881"/>
          </a:xfrm>
          <a:prstGeom prst="line">
            <a:avLst/>
          </a:prstGeom>
          <a:ln w="13970">
            <a:solidFill>
              <a:srgbClr val="5B6B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6708085">
            <a:off x="1938242" y="3638311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onnector 31"/>
          <p:cNvCxnSpPr/>
          <p:nvPr/>
        </p:nvCxnSpPr>
        <p:spPr>
          <a:xfrm flipH="1">
            <a:off x="2647473" y="3478434"/>
            <a:ext cx="479703" cy="191881"/>
          </a:xfrm>
          <a:prstGeom prst="line">
            <a:avLst/>
          </a:prstGeom>
          <a:ln w="13970">
            <a:solidFill>
              <a:srgbClr val="5B6B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Isosceles Triangle 32"/>
          <p:cNvSpPr/>
          <p:nvPr/>
        </p:nvSpPr>
        <p:spPr>
          <a:xfrm rot="14891915">
            <a:off x="2615469" y="3638311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5102423" y="3478434"/>
            <a:ext cx="479703" cy="191881"/>
          </a:xfrm>
          <a:prstGeom prst="line">
            <a:avLst/>
          </a:prstGeom>
          <a:ln w="13970">
            <a:solidFill>
              <a:srgbClr val="5B6B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Isosceles Triangle 34"/>
          <p:cNvSpPr/>
          <p:nvPr/>
        </p:nvSpPr>
        <p:spPr>
          <a:xfrm rot="6708085">
            <a:off x="5550122" y="3638311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H="1">
            <a:off x="6259353" y="3478434"/>
            <a:ext cx="479703" cy="191881"/>
          </a:xfrm>
          <a:prstGeom prst="line">
            <a:avLst/>
          </a:prstGeom>
          <a:ln w="13970">
            <a:solidFill>
              <a:srgbClr val="5B6B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14891915">
            <a:off x="6227349" y="3638311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1744503" y="3670315"/>
            <a:ext cx="1128712" cy="270891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eth_port.h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356383" y="3670315"/>
            <a:ext cx="1128712" cy="270891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eth_phy.h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308860" y="3941206"/>
            <a:ext cx="0" cy="225743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5920740" y="3941206"/>
            <a:ext cx="0" cy="225743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2195988" y="4166949"/>
            <a:ext cx="3724752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2195988" y="4166949"/>
            <a:ext cx="0" cy="225742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10800000">
            <a:off x="2163984" y="4360687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28662" y="4336256"/>
            <a:ext cx="6772275" cy="1467326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0102" y="4372832"/>
            <a:ext cx="6589395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0E93B4"/>
                </a:solidFill>
                <a:latin typeface="Consolas"/>
              </a:rPr>
              <a:t>ÇEKIRDEK — DONANIMDAN BAĞIMSIZ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123711" y="4505563"/>
            <a:ext cx="2144553" cy="361188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 i="0">
                <a:solidFill>
                  <a:srgbClr val="101826"/>
                </a:solidFill>
                <a:latin typeface="Calibri"/>
              </a:rPr>
              <a:t>eth_driver.c</a:t>
            </a:r>
          </a:p>
          <a:p>
            <a:pPr algn="ctr"/>
            <a:r>
              <a:rPr sz="800" b="0" i="0">
                <a:solidFill>
                  <a:srgbClr val="5B6B80"/>
                </a:solidFill>
                <a:latin typeface="Calibri"/>
              </a:rPr>
              <a:t>ring + sahiplik protokolü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268265" y="4686157"/>
            <a:ext cx="395050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/>
          <p:cNvSpPr/>
          <p:nvPr/>
        </p:nvSpPr>
        <p:spPr>
          <a:xfrm rot="5400000">
            <a:off x="3631311" y="4654153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663315" y="4505563"/>
            <a:ext cx="2144553" cy="361188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 i="0">
                <a:solidFill>
                  <a:srgbClr val="101826"/>
                </a:solidFill>
                <a:latin typeface="Calibri"/>
              </a:rPr>
              <a:t>eth_app.c</a:t>
            </a:r>
          </a:p>
          <a:p>
            <a:pPr algn="ctr"/>
            <a:r>
              <a:rPr sz="800" b="0" i="0">
                <a:solidFill>
                  <a:srgbClr val="5B6B80"/>
                </a:solidFill>
                <a:latin typeface="Calibri"/>
              </a:rPr>
              <a:t>ARP / ICMP / UDP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5807868" y="4686157"/>
            <a:ext cx="395050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Isosceles Triangle 51"/>
          <p:cNvSpPr/>
          <p:nvPr/>
        </p:nvSpPr>
        <p:spPr>
          <a:xfrm rot="5400000">
            <a:off x="6170914" y="4654153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6202918" y="4505563"/>
            <a:ext cx="1185148" cy="361188"/>
          </a:xfrm>
          <a:prstGeom prst="roundRect">
            <a:avLst>
              <a:gd name="adj" fmla="val 14000"/>
            </a:avLst>
          </a:prstGeom>
          <a:solidFill>
            <a:srgbClr val="F7ECD9"/>
          </a:solidFill>
          <a:ln w="15240">
            <a:solidFill>
              <a:srgbClr val="B6720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000" b="1" i="0">
                <a:solidFill>
                  <a:srgbClr val="101826"/>
                </a:solidFill>
                <a:latin typeface="Calibri"/>
              </a:rPr>
              <a:t>eth_iap.c</a:t>
            </a:r>
          </a:p>
          <a:p>
            <a:pPr algn="ctr"/>
            <a:r>
              <a:rPr sz="800" b="0" i="0">
                <a:solidFill>
                  <a:srgbClr val="5B6B80"/>
                </a:solidFill>
                <a:latin typeface="Calibri"/>
              </a:rPr>
              <a:t>opsiyonel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02920" y="5989605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B6B80"/>
                </a:solidFill>
                <a:latin typeface="Calibri"/>
              </a:rPr>
              <a:t>Kesikli ok = derleme zamanı seçimi · düz ok = çalışma zamanı kullanımı.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05 · TAŞINABILIRLIK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Tek config dosyası, dört farklı işlemci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06 / 14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508760"/>
          <a:ext cx="11185853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89318"/>
                <a:gridCol w="2589318"/>
                <a:gridCol w="2900036"/>
                <a:gridCol w="3107181"/>
              </a:tblGrid>
              <a:tr h="438912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>MCU</a:t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>ÇEKIRDEK</a:t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>MAC AILESI</a:t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5B6B80"/>
                          </a:solidFill>
                          <a:latin typeface="Consolas"/>
                        </a:rPr>
                        <a:t>PORT DOSYASI</a:t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STM32H563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Cortex-M33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Synopsys EQOS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eth_port_eqos.c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STM32H743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Cortex-M7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Synopsys EQOS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eth_port_eqos.c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STM32F407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Cortex-M4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Klasik GMAC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eth_port_gmac.c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STM32F767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Cortex-M7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Klasik GMAC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101826"/>
                          </a:solidFill>
                          <a:latin typeface="Calibri"/>
                        </a:rPr>
                        <a:t>eth_port_gmac.c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3931920"/>
            <a:ext cx="1435607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7936B"/>
                </a:solidFill>
                <a:latin typeface="Consolas"/>
              </a:rPr>
              <a:t>PHY: LAN8720A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066543" y="3931920"/>
            <a:ext cx="1435607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7936B"/>
                </a:solidFill>
                <a:latin typeface="Consolas"/>
              </a:rPr>
              <a:t>PHY: LAN8742A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30166" y="3931920"/>
            <a:ext cx="1353312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7936B"/>
                </a:solidFill>
                <a:latin typeface="Consolas"/>
              </a:rPr>
              <a:t>PHY: KSZ8081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48056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B6B80"/>
                </a:solidFill>
                <a:latin typeface="Calibri"/>
              </a:rPr>
              <a:t>Yeni bir MCU eklemek = </a:t>
            </a:r>
            <a:r>
              <a:rPr sz="1150" b="1" i="1">
                <a:solidFill>
                  <a:srgbClr val="5B6B80"/>
                </a:solidFill>
                <a:latin typeface="Calibri"/>
              </a:rPr>
              <a:t>eth_device.h</a:t>
            </a:r>
            <a:r>
              <a:rPr sz="1150" b="0" i="1">
                <a:solidFill>
                  <a:srgbClr val="5B6B80"/>
                </a:solidFill>
                <a:latin typeface="Calibri"/>
              </a:rPr>
              <a:t> içine birkaç satır. Port ve PHY dosyalarına </a:t>
            </a:r>
            <a:r>
              <a:rPr sz="1150" b="1" i="1">
                <a:solidFill>
                  <a:srgbClr val="5B6B80"/>
                </a:solidFill>
                <a:latin typeface="Calibri"/>
              </a:rPr>
              <a:t>hiç dokunulmaz.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06 · ÇEKIRDEK SÜRÜCÜ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Paylaşılan halka, net kurallar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8 elemanlı RX descriptor halkası (ring) — her eleman ya DMA'nın ya CPU'nun sahipliğindedir, ikisi asla aynı anda değil.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07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48840"/>
            <a:ext cx="3545738" cy="320040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350008"/>
            <a:ext cx="314340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01  Zero-copy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734056"/>
            <a:ext cx="3143402" cy="2414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 i="0">
                <a:solidFill>
                  <a:srgbClr val="5B6B80"/>
                </a:solidFill>
                <a:latin typeface="Calibri"/>
              </a:rPr>
              <a:t>DMA'nın tamponuna doğrudan yazılır — aradan </a:t>
            </a:r>
            <a:r>
              <a:rPr sz="1250" b="1" i="0">
                <a:solidFill>
                  <a:srgbClr val="5B6B80"/>
                </a:solidFill>
                <a:latin typeface="Calibri"/>
              </a:rPr>
              <a:t>memcpy</a:t>
            </a:r>
            <a:r>
              <a:rPr sz="1250" b="0" i="0">
                <a:solidFill>
                  <a:srgbClr val="5B6B80"/>
                </a:solidFill>
                <a:latin typeface="Calibri"/>
              </a:rPr>
              <a:t> geçmez.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2148840"/>
            <a:ext cx="3545738" cy="320040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4146" y="2350008"/>
            <a:ext cx="314340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02  OWN biti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4146" y="2734056"/>
            <a:ext cx="3143402" cy="2414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 i="0">
                <a:solidFill>
                  <a:srgbClr val="5B6B80"/>
                </a:solidFill>
                <a:latin typeface="Calibri"/>
              </a:rPr>
              <a:t>CPU ve DMA aynı descriptor dizisini tek bir sahiplik bitiyle paylaşır — kesme olmadan bile veri yarışı oluşmaz.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3036" y="2148840"/>
            <a:ext cx="3545738" cy="320040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4204" y="2350008"/>
            <a:ext cx="314340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03  MPU + non-cacheable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4204" y="2734056"/>
            <a:ext cx="3143402" cy="24140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 i="0">
                <a:solidFill>
                  <a:srgbClr val="5B6B80"/>
                </a:solidFill>
                <a:latin typeface="Calibri"/>
              </a:rPr>
              <a:t>DMA'nın yazdığı veri CPU cache'ten değil, doğrudan bellekten okunur.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07 · UYGULAMA KATMANI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Paket işleme akışı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08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5791" y="3762613"/>
            <a:ext cx="1015841" cy="316039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Gelen çerçeve</a:t>
            </a:r>
          </a:p>
          <a:p>
            <a:pPr algn="ctr"/>
            <a:r>
              <a:rPr sz="750" b="0" i="0">
                <a:solidFill>
                  <a:srgbClr val="5B6B80"/>
                </a:solidFill>
                <a:latin typeface="Calibri"/>
              </a:rPr>
              <a:t>zero-copy (DMA)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31632" y="3920632"/>
            <a:ext cx="225743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Isosceles Triangle 8"/>
          <p:cNvSpPr/>
          <p:nvPr/>
        </p:nvSpPr>
        <p:spPr>
          <a:xfrm rot="5400000">
            <a:off x="1825371" y="3888628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857375" y="3762613"/>
            <a:ext cx="846534" cy="316039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EtherType?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703909" y="3028950"/>
            <a:ext cx="620792" cy="801385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Isosceles Triangle 11"/>
          <p:cNvSpPr/>
          <p:nvPr/>
        </p:nvSpPr>
        <p:spPr>
          <a:xfrm rot="2265785">
            <a:off x="3292697" y="2996946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775936" y="3238761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B6B80"/>
                </a:solidFill>
                <a:latin typeface="Consolas"/>
              </a:rPr>
              <a:t>ARP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24701" y="2859643"/>
            <a:ext cx="1467326" cy="327326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arp_handle</a:t>
            </a:r>
          </a:p>
          <a:p>
            <a:pPr algn="ctr"/>
            <a:r>
              <a:rPr sz="750" b="0" i="0">
                <a:solidFill>
                  <a:srgbClr val="5B6B80"/>
                </a:solidFill>
                <a:latin typeface="Calibri"/>
              </a:rPr>
              <a:t>cache güncelle + yanıt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703909" y="4010929"/>
            <a:ext cx="620792" cy="598218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Isosceles Triangle 15"/>
          <p:cNvSpPr/>
          <p:nvPr/>
        </p:nvSpPr>
        <p:spPr>
          <a:xfrm rot="8036345">
            <a:off x="3292697" y="4577143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04154" y="4282821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B6B80"/>
                </a:solidFill>
                <a:latin typeface="Consolas"/>
              </a:rPr>
              <a:t>IPv4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24701" y="4439840"/>
            <a:ext cx="846534" cy="316039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IP proto?</a:t>
            </a:r>
          </a:p>
        </p:txBody>
      </p:sp>
      <p:cxnSp>
        <p:nvCxnSpPr>
          <p:cNvPr id="19" name="Connector 18"/>
          <p:cNvCxnSpPr/>
          <p:nvPr/>
        </p:nvCxnSpPr>
        <p:spPr>
          <a:xfrm flipV="1">
            <a:off x="3747968" y="4101226"/>
            <a:ext cx="0" cy="338614"/>
          </a:xfrm>
          <a:prstGeom prst="line">
            <a:avLst/>
          </a:prstGeom>
          <a:ln w="13970">
            <a:solidFill>
              <a:srgbClr val="5B6B8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>
            <a:off x="3715964" y="4069222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89814" y="4141731"/>
            <a:ext cx="14630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650" b="0" i="0">
                <a:solidFill>
                  <a:srgbClr val="5B6B80"/>
                </a:solidFill>
                <a:latin typeface="Consolas"/>
              </a:rPr>
              <a:t>MF=1 / offset≠0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986087" y="3819048"/>
            <a:ext cx="1523761" cy="259603"/>
          </a:xfrm>
          <a:prstGeom prst="roundRect">
            <a:avLst>
              <a:gd name="adj" fmla="val 14000"/>
            </a:avLst>
          </a:prstGeom>
          <a:solidFill>
            <a:srgbClr val="F7ECD9"/>
          </a:solidFill>
          <a:ln w="15240">
            <a:solidFill>
              <a:srgbClr val="B6720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800" b="1" i="0">
                <a:solidFill>
                  <a:srgbClr val="101826"/>
                </a:solidFill>
                <a:latin typeface="Calibri"/>
              </a:rPr>
              <a:t>sessizce düşür</a:t>
            </a:r>
          </a:p>
          <a:p>
            <a:pPr algn="ctr"/>
            <a:r>
              <a:rPr sz="650" b="0" i="0">
                <a:solidFill>
                  <a:srgbClr val="5B6B80"/>
                </a:solidFill>
                <a:latin typeface="Calibri"/>
              </a:rPr>
              <a:t>reassembly yok — bilinçli kısıt</a:t>
            </a:r>
          </a:p>
        </p:txBody>
      </p:sp>
      <p:cxnSp>
        <p:nvCxnSpPr>
          <p:cNvPr id="23" name="Connector 22"/>
          <p:cNvCxnSpPr/>
          <p:nvPr/>
        </p:nvCxnSpPr>
        <p:spPr>
          <a:xfrm flipV="1">
            <a:off x="4171235" y="3762613"/>
            <a:ext cx="846535" cy="74495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2919133">
            <a:off x="4985766" y="3730609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53658" y="3972425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B6B80"/>
                </a:solidFill>
                <a:latin typeface="Consolas"/>
              </a:rPr>
              <a:t>ICMP echo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17770" y="3593306"/>
            <a:ext cx="1354455" cy="316039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icmp_handle</a:t>
            </a:r>
          </a:p>
          <a:p>
            <a:pPr algn="ctr"/>
            <a:r>
              <a:rPr sz="750" b="0" i="0">
                <a:solidFill>
                  <a:srgbClr val="5B6B80"/>
                </a:solidFill>
                <a:latin typeface="Calibri"/>
              </a:rPr>
              <a:t>yanıt hesapla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171235" y="4699444"/>
            <a:ext cx="846535" cy="248317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6380890">
            <a:off x="4985766" y="4915757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553658" y="4790741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B6B80"/>
                </a:solidFill>
                <a:latin typeface="Consolas"/>
              </a:rPr>
              <a:t>UDP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17770" y="4778454"/>
            <a:ext cx="846534" cy="316039"/>
          </a:xfrm>
          <a:prstGeom prst="roundRect">
            <a:avLst>
              <a:gd name="adj" fmla="val 50000"/>
            </a:avLst>
          </a:prstGeom>
          <a:solidFill>
            <a:srgbClr val="F6F8FB"/>
          </a:solidFill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hedef port?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5864304" y="4439840"/>
            <a:ext cx="620792" cy="417624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Isosceles Triangle 31"/>
          <p:cNvSpPr/>
          <p:nvPr/>
        </p:nvSpPr>
        <p:spPr>
          <a:xfrm rot="3364212">
            <a:off x="6453092" y="4407836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45718" y="4536781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5B6B80"/>
                </a:solidFill>
                <a:latin typeface="Consolas"/>
              </a:rPr>
              <a:t>5000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85096" y="4270533"/>
            <a:ext cx="1128712" cy="316039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eaetis_handle</a:t>
            </a:r>
          </a:p>
          <a:p>
            <a:pPr algn="ctr"/>
            <a:r>
              <a:rPr sz="750" b="0" i="0">
                <a:solidFill>
                  <a:srgbClr val="5B6B80"/>
                </a:solidFill>
                <a:latin typeface="Calibri"/>
              </a:rPr>
              <a:t>komut dağıtımı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5864304" y="5015484"/>
            <a:ext cx="620792" cy="327326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Isosceles Triangle 35"/>
          <p:cNvSpPr/>
          <p:nvPr/>
        </p:nvSpPr>
        <p:spPr>
          <a:xfrm rot="7068088">
            <a:off x="6453092" y="5310806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45718" y="5157573"/>
            <a:ext cx="91440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00" b="0" i="0">
                <a:solidFill>
                  <a:srgbClr val="5B6B80"/>
                </a:solidFill>
                <a:latin typeface="Consolas"/>
              </a:rPr>
              <a:t>diğer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485096" y="5173503"/>
            <a:ext cx="1128712" cy="316039"/>
          </a:xfrm>
          <a:prstGeom prst="roundRect">
            <a:avLst>
              <a:gd name="adj" fmla="val 14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900" b="1" i="0">
                <a:solidFill>
                  <a:srgbClr val="101826"/>
                </a:solidFill>
                <a:latin typeface="Calibri"/>
              </a:rPr>
              <a:t>kullanıcı callback</a:t>
            </a:r>
          </a:p>
          <a:p>
            <a:pPr algn="ctr"/>
            <a:r>
              <a:rPr sz="750" b="0" i="0">
                <a:solidFill>
                  <a:srgbClr val="5B6B80"/>
                </a:solidFill>
                <a:latin typeface="Calibri"/>
              </a:rPr>
              <a:t>RegisterUDPCallback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08 · IAP BOOTLOADER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Ağ üzerinden firmware güncelleme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09 / 14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2325" y="2042398"/>
            <a:ext cx="1241583" cy="282178"/>
          </a:xfrm>
          <a:prstGeom prst="roundRect">
            <a:avLst>
              <a:gd name="adj" fmla="val 14000"/>
            </a:avLst>
          </a:prstGeom>
          <a:solidFill>
            <a:srgbClr val="DFF1F5"/>
          </a:solidFill>
          <a:ln w="19050">
            <a:solidFill>
              <a:srgbClr val="0E9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100" b="1" i="0">
                <a:solidFill>
                  <a:srgbClr val="101826"/>
                </a:solidFill>
                <a:latin typeface="Calibri"/>
              </a:rPr>
              <a:t>E-AETIS GUI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083117" y="2324576"/>
            <a:ext cx="0" cy="2821781"/>
          </a:xfrm>
          <a:prstGeom prst="line">
            <a:avLst/>
          </a:prstGeom>
          <a:ln w="15240">
            <a:solidFill>
              <a:srgbClr val="DBE1E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525690" y="2042398"/>
            <a:ext cx="1241583" cy="282178"/>
          </a:xfrm>
          <a:prstGeom prst="roundRect">
            <a:avLst>
              <a:gd name="adj" fmla="val 14000"/>
            </a:avLst>
          </a:prstGeom>
          <a:solidFill>
            <a:srgbClr val="DFF1F5"/>
          </a:solidFill>
          <a:ln w="19050">
            <a:solidFill>
              <a:srgbClr val="0E93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1100" b="1" i="0">
                <a:solidFill>
                  <a:srgbClr val="101826"/>
                </a:solidFill>
                <a:latin typeface="Calibri"/>
              </a:rPr>
              <a:t>STM32 Kart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146482" y="2324576"/>
            <a:ext cx="0" cy="2821781"/>
          </a:xfrm>
          <a:prstGeom prst="line">
            <a:avLst/>
          </a:prstGeom>
          <a:ln w="15240">
            <a:solidFill>
              <a:srgbClr val="DBE1E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83117" y="2606754"/>
            <a:ext cx="4063365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Isosceles Triangle 11"/>
          <p:cNvSpPr/>
          <p:nvPr/>
        </p:nvSpPr>
        <p:spPr>
          <a:xfrm rot="5400000">
            <a:off x="6114478" y="2574750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103120" y="2449734"/>
            <a:ext cx="40233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B6B80"/>
                </a:solidFill>
                <a:latin typeface="Consolas"/>
              </a:rPr>
              <a:t>START_IAP | SIZE:n | CRC:0x..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2083117" y="2888932"/>
            <a:ext cx="4063365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Isosceles Triangle 14"/>
          <p:cNvSpPr/>
          <p:nvPr/>
        </p:nvSpPr>
        <p:spPr>
          <a:xfrm rot="16200000">
            <a:off x="2051113" y="2856928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7520" y="273191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B6B80"/>
                </a:solidFill>
                <a:latin typeface="Consolas"/>
              </a:rPr>
              <a:t>IAP_READY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800939" y="3058239"/>
            <a:ext cx="4627721" cy="846534"/>
          </a:xfrm>
          <a:prstGeom prst="roundRect">
            <a:avLst>
              <a:gd name="adj" fmla="val 2000"/>
            </a:avLst>
          </a:prstGeom>
          <a:noFill/>
          <a:ln w="12700">
            <a:solidFill>
              <a:srgbClr val="DBE1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92379" y="3094815"/>
            <a:ext cx="4444841" cy="1828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1" i="0">
                <a:solidFill>
                  <a:srgbClr val="0E93B4"/>
                </a:solidFill>
                <a:latin typeface="Consolas"/>
              </a:rPr>
              <a:t>DÖNGÜ · 512B PARÇA · EN FAZLA 3 DENEME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83117" y="3453288"/>
            <a:ext cx="4063365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Isosceles Triangle 19"/>
          <p:cNvSpPr/>
          <p:nvPr/>
        </p:nvSpPr>
        <p:spPr>
          <a:xfrm rot="5400000">
            <a:off x="6114478" y="3421284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011680" y="3296269"/>
            <a:ext cx="420624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B6B80"/>
                </a:solidFill>
                <a:latin typeface="Consolas"/>
              </a:rPr>
              <a:t>FW_DATA | SEQ:i | LEN:n | &lt;binary&gt;</a:t>
            </a:r>
          </a:p>
        </p:txBody>
      </p:sp>
      <p:cxnSp>
        <p:nvCxnSpPr>
          <p:cNvPr id="22" name="Connector 21"/>
          <p:cNvCxnSpPr/>
          <p:nvPr/>
        </p:nvCxnSpPr>
        <p:spPr>
          <a:xfrm flipH="1">
            <a:off x="2083117" y="3735466"/>
            <a:ext cx="4063365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6200000">
            <a:off x="2051113" y="3703462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17520" y="3578447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B6B80"/>
                </a:solidFill>
                <a:latin typeface="Consolas"/>
              </a:rPr>
              <a:t>ACK:i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2083117" y="4186951"/>
            <a:ext cx="4063365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Isosceles Triangle 25"/>
          <p:cNvSpPr/>
          <p:nvPr/>
        </p:nvSpPr>
        <p:spPr>
          <a:xfrm rot="5400000">
            <a:off x="6114478" y="4154947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17520" y="4029932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B6B80"/>
                </a:solidFill>
                <a:latin typeface="Consolas"/>
              </a:rPr>
              <a:t>END_IAP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299948" y="4299823"/>
            <a:ext cx="1693068" cy="293465"/>
          </a:xfrm>
          <a:prstGeom prst="roundRect">
            <a:avLst>
              <a:gd name="adj" fmla="val 14000"/>
            </a:avLst>
          </a:prstGeom>
          <a:solidFill>
            <a:srgbClr val="F7ECD9"/>
          </a:solidFill>
          <a:ln w="15240">
            <a:solidFill>
              <a:srgbClr val="B6720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9144" bIns="9144"/>
          <a:lstStyle/>
          <a:p>
            <a:pPr algn="ctr"/>
            <a:r>
              <a:rPr sz="750" b="0" i="0">
                <a:solidFill>
                  <a:srgbClr val="101826"/>
                </a:solidFill>
                <a:latin typeface="Calibri"/>
              </a:rPr>
              <a:t>CRC32 doğrula → VTOR taşı → MSP ayarla</a:t>
            </a:r>
          </a:p>
          <a:p>
            <a:pPr algn="ctr"/>
            <a:r>
              <a:rPr sz="750" b="0" i="0">
                <a:solidFill>
                  <a:srgbClr val="5B6B80"/>
                </a:solidFill>
                <a:latin typeface="Calibri"/>
              </a:rPr>
              <a:t>yeni uygulamaya atla</a:t>
            </a:r>
          </a:p>
        </p:txBody>
      </p:sp>
      <p:cxnSp>
        <p:nvCxnSpPr>
          <p:cNvPr id="29" name="Connector 28"/>
          <p:cNvCxnSpPr/>
          <p:nvPr/>
        </p:nvCxnSpPr>
        <p:spPr>
          <a:xfrm flipH="1">
            <a:off x="2083117" y="4751308"/>
            <a:ext cx="4063365" cy="0"/>
          </a:xfrm>
          <a:prstGeom prst="line">
            <a:avLst/>
          </a:prstGeom>
          <a:ln w="13970">
            <a:solidFill>
              <a:srgbClr val="5B6B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6200000">
            <a:off x="2051113" y="4719304"/>
            <a:ext cx="64008" cy="64008"/>
          </a:xfrm>
          <a:prstGeom prst="triangle">
            <a:avLst/>
          </a:prstGeom>
          <a:solidFill>
            <a:srgbClr val="5B6B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51760" y="4594288"/>
            <a:ext cx="29260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 i="0">
                <a:solidFill>
                  <a:srgbClr val="5B6B80"/>
                </a:solidFill>
                <a:latin typeface="Consolas"/>
              </a:rPr>
              <a:t>FLASH_SUCCESS | JUMP_OK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546354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B6B80"/>
                </a:solidFill>
                <a:latin typeface="Calibri"/>
              </a:rPr>
              <a:t>Tek banka, kimlik doğrulama yok — yalnızca CRC32 bütünlük kontrolü. Sadece izole/güvenilir ağlarda kullanılmalı.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09 · TEST ARAYÜZÜ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Geliştirdiğim arayüzle kart canlı olarak izlenip test edilir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Yedi ayrı sekme: kart verilerini izleme, bağlantı testi, performans ölçümü, arıza testi ve yazılım güncelleme.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10 / 14</a:t>
            </a:r>
          </a:p>
        </p:txBody>
      </p:sp>
      <p:pic>
        <p:nvPicPr>
          <p:cNvPr id="8" name="Picture 7" descr="gui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8010" y="2057400"/>
            <a:ext cx="4804860" cy="3291840"/>
          </a:xfrm>
          <a:prstGeom prst="rect">
            <a:avLst/>
          </a:prstGeom>
          <a:ln w="12700">
            <a:solidFill>
              <a:srgbClr val="DBE1EA"/>
            </a:solidFill>
          </a:ln>
        </p:spPr>
      </p:pic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812280" y="2057400"/>
          <a:ext cx="4876494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422"/>
                <a:gridCol w="2682072"/>
              </a:tblGrid>
              <a:tr h="411480">
                <a:tc>
                  <a:txBody>
                    <a:bodyPr/>
                    <a:lstStyle/>
                    <a:p>
                      <a:r>
                        <a:rPr sz="900" b="1" i="0">
                          <a:solidFill>
                            <a:srgbClr val="5B6B80"/>
                          </a:solidFill>
                          <a:latin typeface="Consolas"/>
                        </a:rPr>
                        <a:t>SEKME</a:t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 i="0">
                          <a:solidFill>
                            <a:srgbClr val="5B6B80"/>
                          </a:solidFill>
                          <a:latin typeface="Consolas"/>
                        </a:rPr>
                        <a:t>İŞLEV</a:t>
                      </a:r>
                    </a:p>
                  </a:txBody>
                  <a:tcPr marL="73152" marR="73152" marT="27432" marB="27432" anchor="ctr">
                    <a:solidFill>
                      <a:srgbClr val="E7ECF5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Kart G/Ç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Otomatik değişken keşfi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Ping (ICMP)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Gecikme ölçümü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UDP Konsol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Serbest komut / log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PHY / DMA Teşhis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Register + istatistik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Performans &amp; Jitter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min / ort / p95 / max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Hata Enjeksiyonu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Fuzz + parçalanma testi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Bootloader (IAP)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101826"/>
                          </a:solidFill>
                          <a:latin typeface="Calibri"/>
                        </a:rPr>
                        <a:t>Ağdan firmware güncelleme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10 · SÜREÇ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Boş bir pencereden, ölçüm yapan bir araca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Arayüz de sürücü gibi gün gün, sekme sekme büyüdü — her yeni test yeteneği kartta çalışır hale geldikçe eklendi.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11 / 14</a:t>
            </a:r>
          </a:p>
        </p:txBody>
      </p:sp>
      <p:pic>
        <p:nvPicPr>
          <p:cNvPr id="8" name="Picture 7" descr="24_agust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49" y="2057400"/>
            <a:ext cx="4288302" cy="2834640"/>
          </a:xfrm>
          <a:prstGeom prst="rect">
            <a:avLst/>
          </a:prstGeom>
          <a:ln w="12700">
            <a:solidFill>
              <a:srgbClr val="DBE1EA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02920" y="494690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6B80"/>
                </a:solidFill>
                <a:latin typeface="Calibri"/>
              </a:rPr>
              <a:t>24 Ağustos · ilk iskelet</a:t>
            </a:r>
          </a:p>
        </p:txBody>
      </p:sp>
      <p:pic>
        <p:nvPicPr>
          <p:cNvPr id="10" name="Picture 9" descr="28_agustos_performa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5744" y="2057400"/>
            <a:ext cx="4288302" cy="2834640"/>
          </a:xfrm>
          <a:prstGeom prst="rect">
            <a:avLst/>
          </a:prstGeom>
          <a:ln w="12700">
            <a:solidFill>
              <a:srgbClr val="DBE1EA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6751015" y="494690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5B6B80"/>
                </a:solidFill>
                <a:latin typeface="Calibri"/>
              </a:rPr>
              <a:t>28 Ağustos · canlı performans testi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11 · DOĞRULAMA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Kartın üzerinde çalıştırıp gerçek verilerle ölçtüm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"Çalışıyor gibi görünüyor" yeterli değildi — her iddiayı donanımda ölçüp kaydettim.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12 /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057400"/>
            <a:ext cx="512064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1.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MDIO alan yerleşimi</a:t>
            </a:r>
          </a:p>
          <a:p>
            <a:pPr>
              <a:spcAft>
                <a:spcPts val="900"/>
              </a:spcAft>
            </a:pPr>
            <a:r>
              <a:rPr sz="1100" b="0" i="0">
                <a:solidFill>
                  <a:srgbClr val="5B6B80"/>
                </a:solidFill>
                <a:latin typeface="Calibri"/>
              </a:rPr>
              <a:t>     MACMDIOAR register'ı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2.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RMII seçim kodu</a:t>
            </a:r>
          </a:p>
          <a:p>
            <a:pPr>
              <a:spcAft>
                <a:spcPts val="900"/>
              </a:spcAft>
            </a:pPr>
            <a:r>
              <a:rPr sz="1100" b="0" i="0">
                <a:solidFill>
                  <a:srgbClr val="5B6B80"/>
                </a:solidFill>
                <a:latin typeface="Calibri"/>
              </a:rPr>
              <a:t>     SBS→PMCR ETH_SEL_PHY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3.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DMA tail pointer semantiği</a:t>
            </a:r>
          </a:p>
          <a:p>
            <a:pPr>
              <a:spcAft>
                <a:spcPts val="900"/>
              </a:spcAft>
            </a:pPr>
            <a:r>
              <a:rPr sz="1100" b="0" i="0">
                <a:solidFill>
                  <a:srgbClr val="5B6B80"/>
                </a:solidFill>
                <a:latin typeface="Calibri"/>
              </a:rPr>
              <a:t>     DMACRXDTPR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4.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MPU alan yerleşimi</a:t>
            </a:r>
          </a:p>
          <a:p>
            <a:pPr>
              <a:spcAft>
                <a:spcPts val="900"/>
              </a:spcAft>
            </a:pPr>
            <a:r>
              <a:rPr sz="1100" b="0" i="0">
                <a:solidFill>
                  <a:srgbClr val="5B6B80"/>
                </a:solidFill>
                <a:latin typeface="Calibri"/>
              </a:rPr>
              <a:t>     RBAR / RLAR</a:t>
            </a:r>
          </a:p>
          <a:p>
            <a:pPr>
              <a:spcAft>
                <a:spcPts val="900"/>
              </a:spcAft>
            </a:pPr>
            <a:r>
              <a:rPr sz="1300" b="1" i="0">
                <a:solidFill>
                  <a:srgbClr val="004694"/>
                </a:solidFill>
                <a:latin typeface="Consolas"/>
              </a:rPr>
              <a:t>5.  </a:t>
            </a:r>
            <a:r>
              <a:rPr sz="1300" b="1" i="0">
                <a:solidFill>
                  <a:srgbClr val="101826"/>
                </a:solidFill>
                <a:latin typeface="Calibri"/>
              </a:rPr>
              <a:t>Flash sektör alanı</a:t>
            </a:r>
          </a:p>
          <a:p>
            <a:pPr>
              <a:spcAft>
                <a:spcPts val="900"/>
              </a:spcAft>
            </a:pPr>
            <a:r>
              <a:rPr sz="1100" b="0" i="0">
                <a:solidFill>
                  <a:srgbClr val="5B6B80"/>
                </a:solidFill>
                <a:latin typeface="Calibri"/>
              </a:rPr>
              <a:t>     yalnızca IAP kullanılıyorsa</a:t>
            </a:r>
          </a:p>
        </p:txBody>
      </p:sp>
      <p:pic>
        <p:nvPicPr>
          <p:cNvPr id="9" name="Picture 8" descr="28_agustos_hata_enjeksiyon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2506" y="2057400"/>
            <a:ext cx="3181643" cy="2103120"/>
          </a:xfrm>
          <a:prstGeom prst="rect">
            <a:avLst/>
          </a:prstGeom>
          <a:ln w="12700">
            <a:solidFill>
              <a:srgbClr val="DBE1EA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897880" y="4297680"/>
            <a:ext cx="579089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B6B80"/>
                </a:solidFill>
                <a:latin typeface="Calibri"/>
              </a:rPr>
              <a:t>Kart bilerek bozuk/aşırı büyük veriyle yorulmaya çalışıldı — </a:t>
            </a:r>
            <a:r>
              <a:rPr sz="1150" b="1" i="1">
                <a:solidFill>
                  <a:srgbClr val="5B6B80"/>
                </a:solidFill>
                <a:latin typeface="Calibri"/>
              </a:rPr>
              <a:t>hiç çökmedi.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897880" y="4754880"/>
            <a:ext cx="4892040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7936B"/>
                </a:solidFill>
                <a:latin typeface="Consolas"/>
              </a:rPr>
              <a:t>gecikme ort. 0.44 ms · kayıp %0 · FLASH_SUCCESS|JUMP_OK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12 · ARAÇLAR &amp; TEKNOLOJILER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Tek projede birçok farklı teknolojiyi bir araya getirdim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Sadece C kodu yazmadım; geliştirme ortamından donanım protokollerine kadar birçok konuda uygulamalı pratik yaptım.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13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03120"/>
            <a:ext cx="5455767" cy="283464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304288"/>
            <a:ext cx="505343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 i="0">
                <a:solidFill>
                  <a:srgbClr val="0E93B4"/>
                </a:solidFill>
                <a:latin typeface="Consolas"/>
              </a:rPr>
              <a:t>GELIŞTIRME ORTAMI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578608"/>
            <a:ext cx="5053431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Araçlar &amp; İş Akışı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" y="2962656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CMake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728216" y="2962656"/>
            <a:ext cx="676656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Git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14600" y="2962656"/>
            <a:ext cx="1627632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GCC &amp; Ninja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04088" y="3291840"/>
            <a:ext cx="1627632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STM32CubeMX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41448" y="3291840"/>
            <a:ext cx="1152144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VS Code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5455767" cy="283464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4175" y="2304288"/>
            <a:ext cx="5053431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1" i="0">
                <a:solidFill>
                  <a:srgbClr val="0E93B4"/>
                </a:solidFill>
                <a:latin typeface="Consolas"/>
              </a:rPr>
              <a:t>DONANIM &amp; PROTOKOLLER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4175" y="2578608"/>
            <a:ext cx="5053431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Nasıl Çalıştığını Öğrendiğim Katmanlar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34175" y="2962656"/>
            <a:ext cx="676656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DMA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220559" y="2962656"/>
            <a:ext cx="3054096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Ethernet (MAC/PHY/RMII)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384383" y="2962656"/>
            <a:ext cx="676656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I2C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34175" y="3291840"/>
            <a:ext cx="676656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SPI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220559" y="3291840"/>
            <a:ext cx="795528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UART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5815" y="3291840"/>
            <a:ext cx="2221992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Interrupt (NVIC)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34175" y="3621024"/>
            <a:ext cx="2459736" cy="274320"/>
          </a:xfrm>
          <a:prstGeom prst="roundRect">
            <a:avLst>
              <a:gd name="adj" fmla="val 50000"/>
            </a:avLst>
          </a:prstGeom>
          <a:solidFill>
            <a:srgbClr val="E7ECF5"/>
          </a:solidFill>
          <a:ln w="9525">
            <a:solidFill>
              <a:srgbClr val="0046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i="0">
                <a:solidFill>
                  <a:srgbClr val="004694"/>
                </a:solidFill>
                <a:latin typeface="Consolas"/>
              </a:rPr>
              <a:t>FreeRTOS temelleri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120640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B6B80"/>
                </a:solidFill>
                <a:latin typeface="Calibri"/>
              </a:rPr>
              <a:t>Bare-metal kod yazma pratiği + farklı işlemci çekirdeklerini (Cortex-M4/M7/M33) ve farklı entegreleri tek bir projede bir araya getirme deneyimi.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unu_arka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" y="347472"/>
            <a:ext cx="877824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 i="0">
                <a:solidFill>
                  <a:srgbClr val="0E93B4"/>
                </a:solidFill>
                <a:latin typeface="Consolas"/>
              </a:rPr>
              <a:t>13 · KAZANIMLAR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58368"/>
            <a:ext cx="987552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700" b="1" i="0">
                <a:solidFill>
                  <a:srgbClr val="101826"/>
                </a:solidFill>
                <a:latin typeface="Calibri"/>
              </a:rPr>
              <a:t>Bu stajın ve projenin bana kattıkları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10241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50" b="0" i="0">
                <a:solidFill>
                  <a:srgbClr val="5B6B80"/>
                </a:solidFill>
                <a:latin typeface="Calibri"/>
              </a:rPr>
              <a:t>Eğitimle başlayıp gereksinimden teste uzanan tam bir mühendislik döngüsünü, tek bir projede kendi ellerimle tamamladım — üç boyutta öğrenme ve somut bir çıktı.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 i="0">
                <a:solidFill>
                  <a:srgbClr val="5B6B80"/>
                </a:solidFill>
                <a:latin typeface="Calibri"/>
              </a:rPr>
              <a:t>E-AETIS · Staj Sunumu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42855" y="6446520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5B6B80"/>
                </a:solidFill>
                <a:latin typeface="Calibri"/>
              </a:rPr>
              <a:t>14 / 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075688"/>
            <a:ext cx="3545738" cy="173736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" y="2276856"/>
            <a:ext cx="314340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Teknik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" y="2660904"/>
            <a:ext cx="3143402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 i="0">
                <a:solidFill>
                  <a:srgbClr val="5B6B80"/>
                </a:solidFill>
                <a:latin typeface="Calibri"/>
              </a:rPr>
              <a:t>Gömülü sistemlerde donanım-yazılım ilişkisi, ağ protokollerinin temelleri, C ile düşük seviyeli programlama ve hata ayıklama disiplini.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2978" y="2075688"/>
            <a:ext cx="3545738" cy="173736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4146" y="2276856"/>
            <a:ext cx="314340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Mühendislik Pratiği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4146" y="2660904"/>
            <a:ext cx="3143402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 i="0">
                <a:solidFill>
                  <a:srgbClr val="5B6B80"/>
                </a:solidFill>
                <a:latin typeface="Calibri"/>
              </a:rPr>
              <a:t>Gereksinim yazma, mimariyi baştan tasarlama, "her girdi düşmanca olabilir" ilkesiyle savunmacı kod yazma, sistemli test ve dokümantasyon.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43036" y="2075688"/>
            <a:ext cx="3545738" cy="1737360"/>
          </a:xfrm>
          <a:prstGeom prst="roundRect">
            <a:avLst>
              <a:gd name="adj" fmla="val 45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44204" y="2276856"/>
            <a:ext cx="3143402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500" b="1" i="0">
                <a:solidFill>
                  <a:srgbClr val="101826"/>
                </a:solidFill>
                <a:latin typeface="Calibri"/>
              </a:rPr>
              <a:t>Kişisel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4204" y="2660904"/>
            <a:ext cx="3143402" cy="9509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50" b="0" i="0">
                <a:solidFill>
                  <a:srgbClr val="5B6B80"/>
                </a:solidFill>
                <a:latin typeface="Calibri"/>
              </a:rPr>
              <a:t>Bağımsız çalışıp doğru zamanda geri bildirim alma, zaman/kapsam yönetimi, teknik bir konuyu sade anlatabilme.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3977640"/>
            <a:ext cx="2686735" cy="9601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004694"/>
                </a:solidFill>
                <a:latin typeface="Calibri"/>
              </a:rPr>
              <a:t>40</a:t>
            </a:r>
          </a:p>
          <a:p>
            <a:pPr algn="ctr"/>
            <a:r>
              <a:rPr sz="1000" b="0" i="0">
                <a:solidFill>
                  <a:srgbClr val="5B6B80"/>
                </a:solidFill>
                <a:latin typeface="Calibri"/>
              </a:rPr>
              <a:t>staj günü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5959" y="3977640"/>
            <a:ext cx="2686735" cy="9601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004694"/>
                </a:solidFill>
                <a:latin typeface="Calibri"/>
              </a:rPr>
              <a:t>4</a:t>
            </a:r>
          </a:p>
          <a:p>
            <a:pPr algn="ctr"/>
            <a:r>
              <a:rPr sz="1000" b="0" i="0">
                <a:solidFill>
                  <a:srgbClr val="5B6B80"/>
                </a:solidFill>
                <a:latin typeface="Calibri"/>
              </a:rPr>
              <a:t>desteklenen MCU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8999" y="3977640"/>
            <a:ext cx="2686735" cy="9601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004694"/>
                </a:solidFill>
                <a:latin typeface="Calibri"/>
              </a:rPr>
              <a:t>21</a:t>
            </a:r>
          </a:p>
          <a:p>
            <a:pPr algn="ctr"/>
            <a:r>
              <a:rPr sz="1000" b="0" i="0">
                <a:solidFill>
                  <a:srgbClr val="5B6B80"/>
                </a:solidFill>
                <a:latin typeface="Calibri"/>
              </a:rPr>
              <a:t>port sözleşmesi fonksiyonu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002039" y="3977640"/>
            <a:ext cx="2686735" cy="960120"/>
          </a:xfrm>
          <a:prstGeom prst="roundRect">
            <a:avLst>
              <a:gd name="adj" fmla="val 8000"/>
            </a:avLst>
          </a:prstGeom>
          <a:solidFill>
            <a:srgbClr val="F6F8FB"/>
          </a:solidFill>
          <a:ln w="12700">
            <a:solidFill>
              <a:srgbClr val="DBE1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600" b="1" i="0">
                <a:solidFill>
                  <a:srgbClr val="004694"/>
                </a:solidFill>
                <a:latin typeface="Calibri"/>
              </a:rPr>
              <a:t>0</a:t>
            </a:r>
          </a:p>
          <a:p>
            <a:pPr algn="ctr"/>
            <a:r>
              <a:rPr sz="1000" b="0" i="0">
                <a:solidFill>
                  <a:srgbClr val="5B6B80"/>
                </a:solidFill>
                <a:latin typeface="Calibri"/>
              </a:rPr>
              <a:t>malloc çağrısı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084064"/>
            <a:ext cx="3081527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7936B"/>
                </a:solidFill>
                <a:latin typeface="Consolas"/>
              </a:rPr>
              <a:t>Savunma sanayiini yakından tanıma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712463" y="5084064"/>
            <a:ext cx="2752344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7936B"/>
                </a:solidFill>
                <a:latin typeface="Consolas"/>
              </a:rPr>
              <a:t>Uçtan uca doğrulama disiplini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92823" y="5084064"/>
            <a:ext cx="3410712" cy="310896"/>
          </a:xfrm>
          <a:prstGeom prst="roundRect">
            <a:avLst>
              <a:gd name="adj" fmla="val 50000"/>
            </a:avLst>
          </a:prstGeom>
          <a:solidFill>
            <a:srgbClr val="DFF2EA"/>
          </a:solidFill>
          <a:ln w="9525">
            <a:solidFill>
              <a:srgbClr val="1793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50" b="1" i="0">
                <a:solidFill>
                  <a:srgbClr val="17936B"/>
                </a:solidFill>
                <a:latin typeface="Consolas"/>
              </a:rPr>
              <a:t>Sıfırdan bir kütüphane yazma özgüveni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5586984"/>
            <a:ext cx="1118585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5B6B80"/>
                </a:solidFill>
                <a:latin typeface="Calibri"/>
              </a:rPr>
              <a:t>Bir mühendislik sürecini baştan sona yaşadım: gereksinimden mimariye, uygulamadan donanımda doğrulamaya.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